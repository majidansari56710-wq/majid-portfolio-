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p:bgPr>
    </p:bg>
    <p:spTree>
      <p:nvGrpSpPr>
        <p:cNvPr id="1" name=""/>
        <p:cNvGrpSpPr/>
        <p:nvPr/>
      </p:nvGrpSpPr>
      <p:grpSpPr>
        <a:xfrm>
          <a:off x="0" y="0"/>
          <a:ext cx="0" cy="0"/>
          <a:chOff x="0" y="0"/>
          <a:chExt cx="0" cy="0"/>
        </a:xfrm>
      </p:grpSpPr>
      <p:sp>
        <p:nvSpPr>
          <p:cNvPr id="2" name="Text 0"/>
          <p:cNvSpPr txBox="1"/>
          <p:nvPr/>
        </p:nvSpPr>
        <p:spPr>
          <a:xfrm>
            <a:off x="640080" y="1737360"/>
            <a:ext cx="8229600" cy="64008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GENERATIONS</a:t>
            </a:r>
            <a:endParaRPr lang="en-US" sz="4000" dirty="0"/>
          </a:p>
        </p:txBody>
      </p:sp>
      <p:sp>
        <p:nvSpPr>
          <p:cNvPr id="3" name="Text 1"/>
          <p:cNvSpPr txBox="1"/>
          <p:nvPr/>
        </p:nvSpPr>
        <p:spPr>
          <a:xfrm>
            <a:off x="640080" y="2331720"/>
            <a:ext cx="8229600" cy="64008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OF COMPUTERS</a:t>
            </a:r>
            <a:endParaRPr lang="en-US" sz="4000" dirty="0"/>
          </a:p>
        </p:txBody>
      </p:sp>
      <p:sp>
        <p:nvSpPr>
          <p:cNvPr id="4" name="Text 2"/>
          <p:cNvSpPr txBox="1"/>
          <p:nvPr/>
        </p:nvSpPr>
        <p:spPr>
          <a:xfrm>
            <a:off x="640080" y="3063240"/>
            <a:ext cx="8229600" cy="365760"/>
          </a:xfrm>
          <a:prstGeom prst="rect">
            <a:avLst/>
          </a:prstGeom>
          <a:noFill/>
          <a:ln/>
        </p:spPr>
        <p:txBody>
          <a:bodyPr wrap="square" rtlCol="0" anchor="ctr"/>
          <a:lstStyle/>
          <a:p>
            <a:pPr indent="0" marL="0">
              <a:buNone/>
            </a:pPr>
            <a:r>
              <a:rPr lang="en-US" sz="1500" dirty="0">
                <a:solidFill>
                  <a:srgbClr val="9FC0DE"/>
                </a:solidFill>
                <a:latin typeface="Arial" pitchFamily="34" charset="0"/>
                <a:ea typeface="Arial" pitchFamily="34" charset="-122"/>
                <a:cs typeface="Arial" pitchFamily="34" charset="-120"/>
              </a:rPr>
              <a:t>Class 11  •  Computer Science</a:t>
            </a:r>
            <a:endParaRPr lang="en-US" sz="1500" dirty="0"/>
          </a:p>
        </p:txBody>
      </p:sp>
      <p:sp>
        <p:nvSpPr>
          <p:cNvPr id="5" name="Shape 3"/>
          <p:cNvSpPr/>
          <p:nvPr/>
        </p:nvSpPr>
        <p:spPr>
          <a:xfrm>
            <a:off x="640080" y="4572000"/>
            <a:ext cx="914400" cy="502920"/>
          </a:xfrm>
          <a:prstGeom prst="roundRect">
            <a:avLst>
              <a:gd name="adj" fmla="val 21818"/>
            </a:avLst>
          </a:prstGeom>
          <a:solidFill>
            <a:srgbClr val="D9534F"/>
          </a:solidFill>
          <a:ln/>
        </p:spPr>
      </p:sp>
      <p:sp>
        <p:nvSpPr>
          <p:cNvPr id="6" name="Text 4"/>
          <p:cNvSpPr txBox="1"/>
          <p:nvPr/>
        </p:nvSpPr>
        <p:spPr>
          <a:xfrm>
            <a:off x="640080" y="4572000"/>
            <a:ext cx="914400" cy="5029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TUBE</a:t>
            </a:r>
            <a:endParaRPr lang="en-US" sz="1100" dirty="0"/>
          </a:p>
        </p:txBody>
      </p:sp>
      <p:sp>
        <p:nvSpPr>
          <p:cNvPr id="7" name="Shape 5"/>
          <p:cNvSpPr/>
          <p:nvPr/>
        </p:nvSpPr>
        <p:spPr>
          <a:xfrm>
            <a:off x="1783080" y="4572000"/>
            <a:ext cx="1371600" cy="502920"/>
          </a:xfrm>
          <a:prstGeom prst="roundRect">
            <a:avLst>
              <a:gd name="adj" fmla="val 21818"/>
            </a:avLst>
          </a:prstGeom>
          <a:solidFill>
            <a:srgbClr val="E8963C"/>
          </a:solidFill>
          <a:ln/>
        </p:spPr>
      </p:sp>
      <p:sp>
        <p:nvSpPr>
          <p:cNvPr id="8" name="Text 6"/>
          <p:cNvSpPr txBox="1"/>
          <p:nvPr/>
        </p:nvSpPr>
        <p:spPr>
          <a:xfrm>
            <a:off x="1783080" y="4572000"/>
            <a:ext cx="1371600" cy="5029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TRANSISTOR</a:t>
            </a:r>
            <a:endParaRPr lang="en-US" sz="1100" dirty="0"/>
          </a:p>
        </p:txBody>
      </p:sp>
      <p:sp>
        <p:nvSpPr>
          <p:cNvPr id="9" name="Shape 7"/>
          <p:cNvSpPr/>
          <p:nvPr/>
        </p:nvSpPr>
        <p:spPr>
          <a:xfrm>
            <a:off x="3383280" y="4572000"/>
            <a:ext cx="685800" cy="502920"/>
          </a:xfrm>
          <a:prstGeom prst="roundRect">
            <a:avLst>
              <a:gd name="adj" fmla="val 21818"/>
            </a:avLst>
          </a:prstGeom>
          <a:solidFill>
            <a:srgbClr val="4A9E6C"/>
          </a:solidFill>
          <a:ln/>
        </p:spPr>
      </p:sp>
      <p:sp>
        <p:nvSpPr>
          <p:cNvPr id="10" name="Text 8"/>
          <p:cNvSpPr txBox="1"/>
          <p:nvPr/>
        </p:nvSpPr>
        <p:spPr>
          <a:xfrm>
            <a:off x="3383280" y="4572000"/>
            <a:ext cx="685800" cy="5029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IC</a:t>
            </a:r>
            <a:endParaRPr lang="en-US" sz="1100" dirty="0"/>
          </a:p>
        </p:txBody>
      </p:sp>
      <p:sp>
        <p:nvSpPr>
          <p:cNvPr id="11" name="Shape 9"/>
          <p:cNvSpPr/>
          <p:nvPr/>
        </p:nvSpPr>
        <p:spPr>
          <a:xfrm>
            <a:off x="4297680" y="4572000"/>
            <a:ext cx="685800" cy="502920"/>
          </a:xfrm>
          <a:prstGeom prst="roundRect">
            <a:avLst>
              <a:gd name="adj" fmla="val 21818"/>
            </a:avLst>
          </a:prstGeom>
          <a:solidFill>
            <a:srgbClr val="3D6EBD"/>
          </a:solidFill>
          <a:ln/>
        </p:spPr>
      </p:sp>
      <p:sp>
        <p:nvSpPr>
          <p:cNvPr id="12" name="Text 10"/>
          <p:cNvSpPr txBox="1"/>
          <p:nvPr/>
        </p:nvSpPr>
        <p:spPr>
          <a:xfrm>
            <a:off x="4297680" y="4572000"/>
            <a:ext cx="685800" cy="5029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CPU</a:t>
            </a:r>
            <a:endParaRPr lang="en-US" sz="1100" dirty="0"/>
          </a:p>
        </p:txBody>
      </p:sp>
      <p:sp>
        <p:nvSpPr>
          <p:cNvPr id="13" name="Shape 11"/>
          <p:cNvSpPr/>
          <p:nvPr/>
        </p:nvSpPr>
        <p:spPr>
          <a:xfrm>
            <a:off x="5212080" y="4572000"/>
            <a:ext cx="640080" cy="502920"/>
          </a:xfrm>
          <a:prstGeom prst="roundRect">
            <a:avLst>
              <a:gd name="adj" fmla="val 21818"/>
            </a:avLst>
          </a:prstGeom>
          <a:solidFill>
            <a:srgbClr val="7C5CA0"/>
          </a:solidFill>
          <a:ln/>
        </p:spPr>
      </p:sp>
      <p:sp>
        <p:nvSpPr>
          <p:cNvPr id="14" name="Text 12"/>
          <p:cNvSpPr txBox="1"/>
          <p:nvPr/>
        </p:nvSpPr>
        <p:spPr>
          <a:xfrm>
            <a:off x="5212080" y="4572000"/>
            <a:ext cx="640080" cy="5029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AI</a:t>
            </a:r>
            <a:endParaRPr lang="en-US" sz="1100" dirty="0"/>
          </a:p>
        </p:txBody>
      </p:sp>
      <p:sp>
        <p:nvSpPr>
          <p:cNvPr id="15" name="Shape 13"/>
          <p:cNvSpPr/>
          <p:nvPr/>
        </p:nvSpPr>
        <p:spPr>
          <a:xfrm>
            <a:off x="6080760" y="4572000"/>
            <a:ext cx="1234440" cy="502920"/>
          </a:xfrm>
          <a:prstGeom prst="roundRect">
            <a:avLst>
              <a:gd name="adj" fmla="val 21818"/>
            </a:avLst>
          </a:prstGeom>
          <a:solidFill>
            <a:srgbClr val="3A968E"/>
          </a:solidFill>
          <a:ln/>
        </p:spPr>
      </p:sp>
      <p:sp>
        <p:nvSpPr>
          <p:cNvPr id="16" name="Text 14"/>
          <p:cNvSpPr txBox="1"/>
          <p:nvPr/>
        </p:nvSpPr>
        <p:spPr>
          <a:xfrm>
            <a:off x="6080760" y="4572000"/>
            <a:ext cx="1234440" cy="5029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PARALLEL</a:t>
            </a:r>
            <a:endParaRPr lang="en-US" sz="1100" dirty="0"/>
          </a:p>
        </p:txBody>
      </p:sp>
      <p:sp>
        <p:nvSpPr>
          <p:cNvPr id="17" name="Text 15"/>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8FA0C0"/>
                </a:solidFill>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What to Study in EVERY Generation</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For each generation, remember these 9 points</a:t>
            </a:r>
            <a:endParaRPr lang="en-US" sz="1300" dirty="0"/>
          </a:p>
        </p:txBody>
      </p:sp>
      <p:sp>
        <p:nvSpPr>
          <p:cNvPr id="4" name="Shape 2"/>
          <p:cNvSpPr/>
          <p:nvPr/>
        </p:nvSpPr>
        <p:spPr>
          <a:xfrm>
            <a:off x="548640" y="1508760"/>
            <a:ext cx="3520440" cy="1234440"/>
          </a:xfrm>
          <a:prstGeom prst="roundRect">
            <a:avLst>
              <a:gd name="adj" fmla="val 5926"/>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5" name="Shape 3"/>
          <p:cNvSpPr/>
          <p:nvPr/>
        </p:nvSpPr>
        <p:spPr>
          <a:xfrm>
            <a:off x="548640" y="1581912"/>
            <a:ext cx="54864" cy="1088136"/>
          </a:xfrm>
          <a:prstGeom prst="rect">
            <a:avLst/>
          </a:prstGeom>
          <a:solidFill>
            <a:srgbClr val="D9534F"/>
          </a:solidFill>
          <a:ln/>
        </p:spPr>
      </p:sp>
      <p:sp>
        <p:nvSpPr>
          <p:cNvPr id="6" name="Text 4"/>
          <p:cNvSpPr txBox="1"/>
          <p:nvPr/>
        </p:nvSpPr>
        <p:spPr>
          <a:xfrm>
            <a:off x="804672" y="1636776"/>
            <a:ext cx="3063240" cy="320040"/>
          </a:xfrm>
          <a:prstGeom prst="rect">
            <a:avLst/>
          </a:prstGeom>
          <a:noFill/>
          <a:ln/>
        </p:spPr>
        <p:txBody>
          <a:bodyPr wrap="square" rtlCol="0" anchor="ctr"/>
          <a:lstStyle/>
          <a:p>
            <a:pPr indent="0" marL="0">
              <a:buNone/>
            </a:pPr>
            <a:r>
              <a:rPr lang="en-US" sz="1400" b="1" dirty="0">
                <a:solidFill>
                  <a:srgbClr val="16223D"/>
                </a:solidFill>
                <a:latin typeface="Arial" pitchFamily="34" charset="0"/>
                <a:ea typeface="Arial" pitchFamily="34" charset="-122"/>
                <a:cs typeface="Arial" pitchFamily="34" charset="-120"/>
              </a:rPr>
              <a:t>1  Period</a:t>
            </a:r>
            <a:endParaRPr lang="en-US" sz="1400" dirty="0"/>
          </a:p>
        </p:txBody>
      </p:sp>
      <p:sp>
        <p:nvSpPr>
          <p:cNvPr id="7" name="Text 5"/>
          <p:cNvSpPr txBox="1"/>
          <p:nvPr/>
        </p:nvSpPr>
        <p:spPr>
          <a:xfrm>
            <a:off x="804672" y="1956816"/>
            <a:ext cx="3063240" cy="731520"/>
          </a:xfrm>
          <a:prstGeom prst="rect">
            <a:avLst/>
          </a:prstGeom>
          <a:noFill/>
          <a:ln/>
        </p:spPr>
        <p:txBody>
          <a:bodyPr wrap="square" lIns="0" tIns="0" rIns="0" bIns="0" rtlCol="0" anchor="t"/>
          <a:lstStyle/>
          <a:p>
            <a:pPr indent="0" marL="0">
              <a:lnSpc>
                <a:spcPct val="115000"/>
              </a:lnSpc>
              <a:buNone/>
            </a:pPr>
            <a:r>
              <a:rPr lang="en-US" sz="1100" dirty="0">
                <a:solidFill>
                  <a:srgbClr val="444C5C"/>
                </a:solidFill>
                <a:latin typeface="Arial" pitchFamily="34" charset="0"/>
                <a:ea typeface="Arial" pitchFamily="34" charset="-122"/>
                <a:cs typeface="Arial" pitchFamily="34" charset="-120"/>
              </a:rPr>
              <a:t>When it started and ended</a:t>
            </a:r>
            <a:endParaRPr lang="en-US" sz="1100" dirty="0"/>
          </a:p>
        </p:txBody>
      </p:sp>
      <p:sp>
        <p:nvSpPr>
          <p:cNvPr id="8" name="Shape 6"/>
          <p:cNvSpPr/>
          <p:nvPr/>
        </p:nvSpPr>
        <p:spPr>
          <a:xfrm>
            <a:off x="4389120" y="1508760"/>
            <a:ext cx="3520440" cy="1234440"/>
          </a:xfrm>
          <a:prstGeom prst="roundRect">
            <a:avLst>
              <a:gd name="adj" fmla="val 5926"/>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9" name="Shape 7"/>
          <p:cNvSpPr/>
          <p:nvPr/>
        </p:nvSpPr>
        <p:spPr>
          <a:xfrm>
            <a:off x="4389120" y="1581912"/>
            <a:ext cx="54864" cy="1088136"/>
          </a:xfrm>
          <a:prstGeom prst="rect">
            <a:avLst/>
          </a:prstGeom>
          <a:solidFill>
            <a:srgbClr val="E8963C"/>
          </a:solidFill>
          <a:ln/>
        </p:spPr>
      </p:sp>
      <p:sp>
        <p:nvSpPr>
          <p:cNvPr id="10" name="Text 8"/>
          <p:cNvSpPr txBox="1"/>
          <p:nvPr/>
        </p:nvSpPr>
        <p:spPr>
          <a:xfrm>
            <a:off x="4645152" y="1636776"/>
            <a:ext cx="3063240" cy="320040"/>
          </a:xfrm>
          <a:prstGeom prst="rect">
            <a:avLst/>
          </a:prstGeom>
          <a:noFill/>
          <a:ln/>
        </p:spPr>
        <p:txBody>
          <a:bodyPr wrap="square" rtlCol="0" anchor="ctr"/>
          <a:lstStyle/>
          <a:p>
            <a:pPr indent="0" marL="0">
              <a:buNone/>
            </a:pPr>
            <a:r>
              <a:rPr lang="en-US" sz="1400" b="1" dirty="0">
                <a:solidFill>
                  <a:srgbClr val="16223D"/>
                </a:solidFill>
                <a:latin typeface="Arial" pitchFamily="34" charset="0"/>
                <a:ea typeface="Arial" pitchFamily="34" charset="-122"/>
                <a:cs typeface="Arial" pitchFamily="34" charset="-120"/>
              </a:rPr>
              <a:t>2  Main technology</a:t>
            </a:r>
            <a:endParaRPr lang="en-US" sz="1400" dirty="0"/>
          </a:p>
        </p:txBody>
      </p:sp>
      <p:sp>
        <p:nvSpPr>
          <p:cNvPr id="11" name="Text 9"/>
          <p:cNvSpPr txBox="1"/>
          <p:nvPr/>
        </p:nvSpPr>
        <p:spPr>
          <a:xfrm>
            <a:off x="4645152" y="1956816"/>
            <a:ext cx="3063240" cy="731520"/>
          </a:xfrm>
          <a:prstGeom prst="rect">
            <a:avLst/>
          </a:prstGeom>
          <a:noFill/>
          <a:ln/>
        </p:spPr>
        <p:txBody>
          <a:bodyPr wrap="square" lIns="0" tIns="0" rIns="0" bIns="0" rtlCol="0" anchor="t"/>
          <a:lstStyle/>
          <a:p>
            <a:pPr indent="0" marL="0">
              <a:lnSpc>
                <a:spcPct val="115000"/>
              </a:lnSpc>
              <a:buNone/>
            </a:pPr>
            <a:r>
              <a:rPr lang="en-US" sz="1100" dirty="0">
                <a:solidFill>
                  <a:srgbClr val="444C5C"/>
                </a:solidFill>
                <a:latin typeface="Arial" pitchFamily="34" charset="0"/>
                <a:ea typeface="Arial" pitchFamily="34" charset="-122"/>
                <a:cs typeface="Arial" pitchFamily="34" charset="-120"/>
              </a:rPr>
              <a:t>Vacuum tube / transistor / IC / microprocessor / AI etc.</a:t>
            </a:r>
            <a:endParaRPr lang="en-US" sz="1100" dirty="0"/>
          </a:p>
        </p:txBody>
      </p:sp>
      <p:sp>
        <p:nvSpPr>
          <p:cNvPr id="12" name="Shape 10"/>
          <p:cNvSpPr/>
          <p:nvPr/>
        </p:nvSpPr>
        <p:spPr>
          <a:xfrm>
            <a:off x="8229600" y="1508760"/>
            <a:ext cx="3520440" cy="1234440"/>
          </a:xfrm>
          <a:prstGeom prst="roundRect">
            <a:avLst>
              <a:gd name="adj" fmla="val 5926"/>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3" name="Shape 11"/>
          <p:cNvSpPr/>
          <p:nvPr/>
        </p:nvSpPr>
        <p:spPr>
          <a:xfrm>
            <a:off x="8229600" y="1581912"/>
            <a:ext cx="54864" cy="1088136"/>
          </a:xfrm>
          <a:prstGeom prst="rect">
            <a:avLst/>
          </a:prstGeom>
          <a:solidFill>
            <a:srgbClr val="4A9E6C"/>
          </a:solidFill>
          <a:ln/>
        </p:spPr>
      </p:sp>
      <p:sp>
        <p:nvSpPr>
          <p:cNvPr id="14" name="Text 12"/>
          <p:cNvSpPr txBox="1"/>
          <p:nvPr/>
        </p:nvSpPr>
        <p:spPr>
          <a:xfrm>
            <a:off x="8485632" y="1636776"/>
            <a:ext cx="3063240" cy="320040"/>
          </a:xfrm>
          <a:prstGeom prst="rect">
            <a:avLst/>
          </a:prstGeom>
          <a:noFill/>
          <a:ln/>
        </p:spPr>
        <p:txBody>
          <a:bodyPr wrap="square" rtlCol="0" anchor="ctr"/>
          <a:lstStyle/>
          <a:p>
            <a:pPr indent="0" marL="0">
              <a:buNone/>
            </a:pPr>
            <a:r>
              <a:rPr lang="en-US" sz="1400" b="1" dirty="0">
                <a:solidFill>
                  <a:srgbClr val="16223D"/>
                </a:solidFill>
                <a:latin typeface="Arial" pitchFamily="34" charset="0"/>
                <a:ea typeface="Arial" pitchFamily="34" charset="-122"/>
                <a:cs typeface="Arial" pitchFamily="34" charset="-120"/>
              </a:rPr>
              <a:t>3  Examples</a:t>
            </a:r>
            <a:endParaRPr lang="en-US" sz="1400" dirty="0"/>
          </a:p>
        </p:txBody>
      </p:sp>
      <p:sp>
        <p:nvSpPr>
          <p:cNvPr id="15" name="Text 13"/>
          <p:cNvSpPr txBox="1"/>
          <p:nvPr/>
        </p:nvSpPr>
        <p:spPr>
          <a:xfrm>
            <a:off x="8485632" y="1956816"/>
            <a:ext cx="3063240" cy="731520"/>
          </a:xfrm>
          <a:prstGeom prst="rect">
            <a:avLst/>
          </a:prstGeom>
          <a:noFill/>
          <a:ln/>
        </p:spPr>
        <p:txBody>
          <a:bodyPr wrap="square" lIns="0" tIns="0" rIns="0" bIns="0" rtlCol="0" anchor="t"/>
          <a:lstStyle/>
          <a:p>
            <a:pPr indent="0" marL="0">
              <a:lnSpc>
                <a:spcPct val="115000"/>
              </a:lnSpc>
              <a:buNone/>
            </a:pPr>
            <a:r>
              <a:rPr lang="en-US" sz="1100" dirty="0">
                <a:solidFill>
                  <a:srgbClr val="444C5C"/>
                </a:solidFill>
                <a:latin typeface="Arial" pitchFamily="34" charset="0"/>
                <a:ea typeface="Arial" pitchFamily="34" charset="-122"/>
                <a:cs typeface="Arial" pitchFamily="34" charset="-120"/>
              </a:rPr>
              <a:t>Important computer models</a:t>
            </a:r>
            <a:endParaRPr lang="en-US" sz="1100" dirty="0"/>
          </a:p>
        </p:txBody>
      </p:sp>
      <p:sp>
        <p:nvSpPr>
          <p:cNvPr id="16" name="Shape 14"/>
          <p:cNvSpPr/>
          <p:nvPr/>
        </p:nvSpPr>
        <p:spPr>
          <a:xfrm>
            <a:off x="548640" y="3017520"/>
            <a:ext cx="3520440" cy="1234440"/>
          </a:xfrm>
          <a:prstGeom prst="roundRect">
            <a:avLst>
              <a:gd name="adj" fmla="val 5926"/>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7" name="Shape 15"/>
          <p:cNvSpPr/>
          <p:nvPr/>
        </p:nvSpPr>
        <p:spPr>
          <a:xfrm>
            <a:off x="548640" y="3090672"/>
            <a:ext cx="54864" cy="1088136"/>
          </a:xfrm>
          <a:prstGeom prst="rect">
            <a:avLst/>
          </a:prstGeom>
          <a:solidFill>
            <a:srgbClr val="3D6EBD"/>
          </a:solidFill>
          <a:ln/>
        </p:spPr>
      </p:sp>
      <p:sp>
        <p:nvSpPr>
          <p:cNvPr id="18" name="Text 16"/>
          <p:cNvSpPr txBox="1"/>
          <p:nvPr/>
        </p:nvSpPr>
        <p:spPr>
          <a:xfrm>
            <a:off x="804672" y="3145536"/>
            <a:ext cx="3063240" cy="320040"/>
          </a:xfrm>
          <a:prstGeom prst="rect">
            <a:avLst/>
          </a:prstGeom>
          <a:noFill/>
          <a:ln/>
        </p:spPr>
        <p:txBody>
          <a:bodyPr wrap="square" rtlCol="0" anchor="ctr"/>
          <a:lstStyle/>
          <a:p>
            <a:pPr indent="0" marL="0">
              <a:buNone/>
            </a:pPr>
            <a:r>
              <a:rPr lang="en-US" sz="1400" b="1" dirty="0">
                <a:solidFill>
                  <a:srgbClr val="16223D"/>
                </a:solidFill>
                <a:latin typeface="Arial" pitchFamily="34" charset="0"/>
                <a:ea typeface="Arial" pitchFamily="34" charset="-122"/>
                <a:cs typeface="Arial" pitchFamily="34" charset="-120"/>
              </a:rPr>
              <a:t>4  Size &amp; speed</a:t>
            </a:r>
            <a:endParaRPr lang="en-US" sz="1400" dirty="0"/>
          </a:p>
        </p:txBody>
      </p:sp>
      <p:sp>
        <p:nvSpPr>
          <p:cNvPr id="19" name="Text 17"/>
          <p:cNvSpPr txBox="1"/>
          <p:nvPr/>
        </p:nvSpPr>
        <p:spPr>
          <a:xfrm>
            <a:off x="804672" y="3465576"/>
            <a:ext cx="3063240" cy="731520"/>
          </a:xfrm>
          <a:prstGeom prst="rect">
            <a:avLst/>
          </a:prstGeom>
          <a:noFill/>
          <a:ln/>
        </p:spPr>
        <p:txBody>
          <a:bodyPr wrap="square" lIns="0" tIns="0" rIns="0" bIns="0" rtlCol="0" anchor="t"/>
          <a:lstStyle/>
          <a:p>
            <a:pPr indent="0" marL="0">
              <a:lnSpc>
                <a:spcPct val="115000"/>
              </a:lnSpc>
              <a:buNone/>
            </a:pPr>
            <a:r>
              <a:rPr lang="en-US" sz="1100" dirty="0">
                <a:solidFill>
                  <a:srgbClr val="444C5C"/>
                </a:solidFill>
                <a:latin typeface="Arial" pitchFamily="34" charset="0"/>
                <a:ea typeface="Arial" pitchFamily="34" charset="-122"/>
                <a:cs typeface="Arial" pitchFamily="34" charset="-120"/>
              </a:rPr>
              <a:t>How size and processing speed changed</a:t>
            </a:r>
            <a:endParaRPr lang="en-US" sz="1100" dirty="0"/>
          </a:p>
        </p:txBody>
      </p:sp>
      <p:sp>
        <p:nvSpPr>
          <p:cNvPr id="20" name="Shape 18"/>
          <p:cNvSpPr/>
          <p:nvPr/>
        </p:nvSpPr>
        <p:spPr>
          <a:xfrm>
            <a:off x="4389120" y="3017520"/>
            <a:ext cx="3520440" cy="1234440"/>
          </a:xfrm>
          <a:prstGeom prst="roundRect">
            <a:avLst>
              <a:gd name="adj" fmla="val 5926"/>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1" name="Shape 19"/>
          <p:cNvSpPr/>
          <p:nvPr/>
        </p:nvSpPr>
        <p:spPr>
          <a:xfrm>
            <a:off x="4389120" y="3090672"/>
            <a:ext cx="54864" cy="1088136"/>
          </a:xfrm>
          <a:prstGeom prst="rect">
            <a:avLst/>
          </a:prstGeom>
          <a:solidFill>
            <a:srgbClr val="7C5CA0"/>
          </a:solidFill>
          <a:ln/>
        </p:spPr>
      </p:sp>
      <p:sp>
        <p:nvSpPr>
          <p:cNvPr id="22" name="Text 20"/>
          <p:cNvSpPr txBox="1"/>
          <p:nvPr/>
        </p:nvSpPr>
        <p:spPr>
          <a:xfrm>
            <a:off x="4645152" y="3145536"/>
            <a:ext cx="3063240" cy="320040"/>
          </a:xfrm>
          <a:prstGeom prst="rect">
            <a:avLst/>
          </a:prstGeom>
          <a:noFill/>
          <a:ln/>
        </p:spPr>
        <p:txBody>
          <a:bodyPr wrap="square" rtlCol="0" anchor="ctr"/>
          <a:lstStyle/>
          <a:p>
            <a:pPr indent="0" marL="0">
              <a:buNone/>
            </a:pPr>
            <a:r>
              <a:rPr lang="en-US" sz="1400" b="1" dirty="0">
                <a:solidFill>
                  <a:srgbClr val="16223D"/>
                </a:solidFill>
                <a:latin typeface="Arial" pitchFamily="34" charset="0"/>
                <a:ea typeface="Arial" pitchFamily="34" charset="-122"/>
                <a:cs typeface="Arial" pitchFamily="34" charset="-120"/>
              </a:rPr>
              <a:t>5  Power &amp; heat</a:t>
            </a:r>
            <a:endParaRPr lang="en-US" sz="1400" dirty="0"/>
          </a:p>
        </p:txBody>
      </p:sp>
      <p:sp>
        <p:nvSpPr>
          <p:cNvPr id="23" name="Text 21"/>
          <p:cNvSpPr txBox="1"/>
          <p:nvPr/>
        </p:nvSpPr>
        <p:spPr>
          <a:xfrm>
            <a:off x="4645152" y="3465576"/>
            <a:ext cx="3063240" cy="731520"/>
          </a:xfrm>
          <a:prstGeom prst="rect">
            <a:avLst/>
          </a:prstGeom>
          <a:noFill/>
          <a:ln/>
        </p:spPr>
        <p:txBody>
          <a:bodyPr wrap="square" lIns="0" tIns="0" rIns="0" bIns="0" rtlCol="0" anchor="t"/>
          <a:lstStyle/>
          <a:p>
            <a:pPr indent="0" marL="0">
              <a:lnSpc>
                <a:spcPct val="115000"/>
              </a:lnSpc>
              <a:buNone/>
            </a:pPr>
            <a:r>
              <a:rPr lang="en-US" sz="1100" dirty="0">
                <a:solidFill>
                  <a:srgbClr val="444C5C"/>
                </a:solidFill>
                <a:latin typeface="Arial" pitchFamily="34" charset="0"/>
                <a:ea typeface="Arial" pitchFamily="34" charset="-122"/>
                <a:cs typeface="Arial" pitchFamily="34" charset="-120"/>
              </a:rPr>
              <a:t>Power consumption and heat generation</a:t>
            </a:r>
            <a:endParaRPr lang="en-US" sz="1100" dirty="0"/>
          </a:p>
        </p:txBody>
      </p:sp>
      <p:sp>
        <p:nvSpPr>
          <p:cNvPr id="24" name="Shape 22"/>
          <p:cNvSpPr/>
          <p:nvPr/>
        </p:nvSpPr>
        <p:spPr>
          <a:xfrm>
            <a:off x="8229600" y="3017520"/>
            <a:ext cx="3520440" cy="1234440"/>
          </a:xfrm>
          <a:prstGeom prst="roundRect">
            <a:avLst>
              <a:gd name="adj" fmla="val 5926"/>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5" name="Shape 23"/>
          <p:cNvSpPr/>
          <p:nvPr/>
        </p:nvSpPr>
        <p:spPr>
          <a:xfrm>
            <a:off x="8229600" y="3090672"/>
            <a:ext cx="54864" cy="1088136"/>
          </a:xfrm>
          <a:prstGeom prst="rect">
            <a:avLst/>
          </a:prstGeom>
          <a:solidFill>
            <a:srgbClr val="3A968E"/>
          </a:solidFill>
          <a:ln/>
        </p:spPr>
      </p:sp>
      <p:sp>
        <p:nvSpPr>
          <p:cNvPr id="26" name="Text 24"/>
          <p:cNvSpPr txBox="1"/>
          <p:nvPr/>
        </p:nvSpPr>
        <p:spPr>
          <a:xfrm>
            <a:off x="8485632" y="3145536"/>
            <a:ext cx="3063240" cy="320040"/>
          </a:xfrm>
          <a:prstGeom prst="rect">
            <a:avLst/>
          </a:prstGeom>
          <a:noFill/>
          <a:ln/>
        </p:spPr>
        <p:txBody>
          <a:bodyPr wrap="square" rtlCol="0" anchor="ctr"/>
          <a:lstStyle/>
          <a:p>
            <a:pPr indent="0" marL="0">
              <a:buNone/>
            </a:pPr>
            <a:r>
              <a:rPr lang="en-US" sz="1400" b="1" dirty="0">
                <a:solidFill>
                  <a:srgbClr val="16223D"/>
                </a:solidFill>
                <a:latin typeface="Arial" pitchFamily="34" charset="0"/>
                <a:ea typeface="Arial" pitchFamily="34" charset="-122"/>
                <a:cs typeface="Arial" pitchFamily="34" charset="-120"/>
              </a:rPr>
              <a:t>6  Languages</a:t>
            </a:r>
            <a:endParaRPr lang="en-US" sz="1400" dirty="0"/>
          </a:p>
        </p:txBody>
      </p:sp>
      <p:sp>
        <p:nvSpPr>
          <p:cNvPr id="27" name="Text 25"/>
          <p:cNvSpPr txBox="1"/>
          <p:nvPr/>
        </p:nvSpPr>
        <p:spPr>
          <a:xfrm>
            <a:off x="8485632" y="3465576"/>
            <a:ext cx="3063240" cy="731520"/>
          </a:xfrm>
          <a:prstGeom prst="rect">
            <a:avLst/>
          </a:prstGeom>
          <a:noFill/>
          <a:ln/>
        </p:spPr>
        <p:txBody>
          <a:bodyPr wrap="square" lIns="0" tIns="0" rIns="0" bIns="0" rtlCol="0" anchor="t"/>
          <a:lstStyle/>
          <a:p>
            <a:pPr indent="0" marL="0">
              <a:lnSpc>
                <a:spcPct val="115000"/>
              </a:lnSpc>
              <a:buNone/>
            </a:pPr>
            <a:r>
              <a:rPr lang="en-US" sz="1100" dirty="0">
                <a:solidFill>
                  <a:srgbClr val="444C5C"/>
                </a:solidFill>
                <a:latin typeface="Arial" pitchFamily="34" charset="0"/>
                <a:ea typeface="Arial" pitchFamily="34" charset="-122"/>
                <a:cs typeface="Arial" pitchFamily="34" charset="-120"/>
              </a:rPr>
              <a:t>Machine, assembly or high-level languages</a:t>
            </a:r>
            <a:endParaRPr lang="en-US" sz="1100" dirty="0"/>
          </a:p>
        </p:txBody>
      </p:sp>
      <p:sp>
        <p:nvSpPr>
          <p:cNvPr id="28" name="Shape 26"/>
          <p:cNvSpPr/>
          <p:nvPr/>
        </p:nvSpPr>
        <p:spPr>
          <a:xfrm>
            <a:off x="548640" y="4526280"/>
            <a:ext cx="3520440" cy="1234440"/>
          </a:xfrm>
          <a:prstGeom prst="roundRect">
            <a:avLst>
              <a:gd name="adj" fmla="val 5926"/>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9" name="Shape 27"/>
          <p:cNvSpPr/>
          <p:nvPr/>
        </p:nvSpPr>
        <p:spPr>
          <a:xfrm>
            <a:off x="548640" y="4599432"/>
            <a:ext cx="54864" cy="1088136"/>
          </a:xfrm>
          <a:prstGeom prst="rect">
            <a:avLst/>
          </a:prstGeom>
          <a:solidFill>
            <a:srgbClr val="3A968E"/>
          </a:solidFill>
          <a:ln/>
        </p:spPr>
      </p:sp>
      <p:sp>
        <p:nvSpPr>
          <p:cNvPr id="30" name="Text 28"/>
          <p:cNvSpPr txBox="1"/>
          <p:nvPr/>
        </p:nvSpPr>
        <p:spPr>
          <a:xfrm>
            <a:off x="804672" y="4654296"/>
            <a:ext cx="3063240" cy="320040"/>
          </a:xfrm>
          <a:prstGeom prst="rect">
            <a:avLst/>
          </a:prstGeom>
          <a:noFill/>
          <a:ln/>
        </p:spPr>
        <p:txBody>
          <a:bodyPr wrap="square" rtlCol="0" anchor="ctr"/>
          <a:lstStyle/>
          <a:p>
            <a:pPr indent="0" marL="0">
              <a:buNone/>
            </a:pPr>
            <a:r>
              <a:rPr lang="en-US" sz="1400" b="1" dirty="0">
                <a:solidFill>
                  <a:srgbClr val="16223D"/>
                </a:solidFill>
                <a:latin typeface="Arial" pitchFamily="34" charset="0"/>
                <a:ea typeface="Arial" pitchFamily="34" charset="-122"/>
                <a:cs typeface="Arial" pitchFamily="34" charset="-120"/>
              </a:rPr>
              <a:t>7  Features</a:t>
            </a:r>
            <a:endParaRPr lang="en-US" sz="1400" dirty="0"/>
          </a:p>
        </p:txBody>
      </p:sp>
      <p:sp>
        <p:nvSpPr>
          <p:cNvPr id="31" name="Text 29"/>
          <p:cNvSpPr txBox="1"/>
          <p:nvPr/>
        </p:nvSpPr>
        <p:spPr>
          <a:xfrm>
            <a:off x="804672" y="4974336"/>
            <a:ext cx="3063240" cy="731520"/>
          </a:xfrm>
          <a:prstGeom prst="rect">
            <a:avLst/>
          </a:prstGeom>
          <a:noFill/>
          <a:ln/>
        </p:spPr>
        <p:txBody>
          <a:bodyPr wrap="square" lIns="0" tIns="0" rIns="0" bIns="0" rtlCol="0" anchor="t"/>
          <a:lstStyle/>
          <a:p>
            <a:pPr indent="0" marL="0">
              <a:lnSpc>
                <a:spcPct val="115000"/>
              </a:lnSpc>
              <a:buNone/>
            </a:pPr>
            <a:r>
              <a:rPr lang="en-US" sz="1100" dirty="0">
                <a:solidFill>
                  <a:srgbClr val="444C5C"/>
                </a:solidFill>
                <a:latin typeface="Arial" pitchFamily="34" charset="0"/>
                <a:ea typeface="Arial" pitchFamily="34" charset="-122"/>
                <a:cs typeface="Arial" pitchFamily="34" charset="-120"/>
              </a:rPr>
              <a:t>Major characteristics</a:t>
            </a:r>
            <a:endParaRPr lang="en-US" sz="1100" dirty="0"/>
          </a:p>
        </p:txBody>
      </p:sp>
      <p:sp>
        <p:nvSpPr>
          <p:cNvPr id="32" name="Shape 30"/>
          <p:cNvSpPr/>
          <p:nvPr/>
        </p:nvSpPr>
        <p:spPr>
          <a:xfrm>
            <a:off x="4389120" y="4526280"/>
            <a:ext cx="3520440" cy="1234440"/>
          </a:xfrm>
          <a:prstGeom prst="roundRect">
            <a:avLst>
              <a:gd name="adj" fmla="val 5926"/>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33" name="Shape 31"/>
          <p:cNvSpPr/>
          <p:nvPr/>
        </p:nvSpPr>
        <p:spPr>
          <a:xfrm>
            <a:off x="4389120" y="4599432"/>
            <a:ext cx="54864" cy="1088136"/>
          </a:xfrm>
          <a:prstGeom prst="rect">
            <a:avLst/>
          </a:prstGeom>
          <a:solidFill>
            <a:srgbClr val="D9534F"/>
          </a:solidFill>
          <a:ln/>
        </p:spPr>
      </p:sp>
      <p:sp>
        <p:nvSpPr>
          <p:cNvPr id="34" name="Text 32"/>
          <p:cNvSpPr txBox="1"/>
          <p:nvPr/>
        </p:nvSpPr>
        <p:spPr>
          <a:xfrm>
            <a:off x="4645152" y="4654296"/>
            <a:ext cx="3063240" cy="320040"/>
          </a:xfrm>
          <a:prstGeom prst="rect">
            <a:avLst/>
          </a:prstGeom>
          <a:noFill/>
          <a:ln/>
        </p:spPr>
        <p:txBody>
          <a:bodyPr wrap="square" rtlCol="0" anchor="ctr"/>
          <a:lstStyle/>
          <a:p>
            <a:pPr indent="0" marL="0">
              <a:buNone/>
            </a:pPr>
            <a:r>
              <a:rPr lang="en-US" sz="1400" b="1" dirty="0">
                <a:solidFill>
                  <a:srgbClr val="16223D"/>
                </a:solidFill>
                <a:latin typeface="Arial" pitchFamily="34" charset="0"/>
                <a:ea typeface="Arial" pitchFamily="34" charset="-122"/>
                <a:cs typeface="Arial" pitchFamily="34" charset="-120"/>
              </a:rPr>
              <a:t>8  Advantages / limits</a:t>
            </a:r>
            <a:endParaRPr lang="en-US" sz="1400" dirty="0"/>
          </a:p>
        </p:txBody>
      </p:sp>
      <p:sp>
        <p:nvSpPr>
          <p:cNvPr id="35" name="Text 33"/>
          <p:cNvSpPr txBox="1"/>
          <p:nvPr/>
        </p:nvSpPr>
        <p:spPr>
          <a:xfrm>
            <a:off x="4645152" y="4974336"/>
            <a:ext cx="3063240" cy="731520"/>
          </a:xfrm>
          <a:prstGeom prst="rect">
            <a:avLst/>
          </a:prstGeom>
          <a:noFill/>
          <a:ln/>
        </p:spPr>
        <p:txBody>
          <a:bodyPr wrap="square" lIns="0" tIns="0" rIns="0" bIns="0" rtlCol="0" anchor="t"/>
          <a:lstStyle/>
          <a:p>
            <a:pPr indent="0" marL="0">
              <a:lnSpc>
                <a:spcPct val="115000"/>
              </a:lnSpc>
              <a:buNone/>
            </a:pPr>
            <a:r>
              <a:rPr lang="en-US" sz="1100" dirty="0">
                <a:solidFill>
                  <a:srgbClr val="444C5C"/>
                </a:solidFill>
                <a:latin typeface="Arial" pitchFamily="34" charset="0"/>
                <a:ea typeface="Arial" pitchFamily="34" charset="-122"/>
                <a:cs typeface="Arial" pitchFamily="34" charset="-120"/>
              </a:rPr>
              <a:t>Why it was better and what problems remained</a:t>
            </a:r>
            <a:endParaRPr lang="en-US" sz="1100" dirty="0"/>
          </a:p>
        </p:txBody>
      </p:sp>
      <p:sp>
        <p:nvSpPr>
          <p:cNvPr id="36" name="Shape 34"/>
          <p:cNvSpPr/>
          <p:nvPr/>
        </p:nvSpPr>
        <p:spPr>
          <a:xfrm>
            <a:off x="8229600" y="4526280"/>
            <a:ext cx="3520440" cy="1234440"/>
          </a:xfrm>
          <a:prstGeom prst="roundRect">
            <a:avLst>
              <a:gd name="adj" fmla="val 5926"/>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37" name="Shape 35"/>
          <p:cNvSpPr/>
          <p:nvPr/>
        </p:nvSpPr>
        <p:spPr>
          <a:xfrm>
            <a:off x="8229600" y="4599432"/>
            <a:ext cx="54864" cy="1088136"/>
          </a:xfrm>
          <a:prstGeom prst="rect">
            <a:avLst/>
          </a:prstGeom>
          <a:solidFill>
            <a:srgbClr val="E8963C"/>
          </a:solidFill>
          <a:ln/>
        </p:spPr>
      </p:sp>
      <p:sp>
        <p:nvSpPr>
          <p:cNvPr id="38" name="Text 36"/>
          <p:cNvSpPr txBox="1"/>
          <p:nvPr/>
        </p:nvSpPr>
        <p:spPr>
          <a:xfrm>
            <a:off x="8485632" y="4654296"/>
            <a:ext cx="3063240" cy="320040"/>
          </a:xfrm>
          <a:prstGeom prst="rect">
            <a:avLst/>
          </a:prstGeom>
          <a:noFill/>
          <a:ln/>
        </p:spPr>
        <p:txBody>
          <a:bodyPr wrap="square" rtlCol="0" anchor="ctr"/>
          <a:lstStyle/>
          <a:p>
            <a:pPr indent="0" marL="0">
              <a:buNone/>
            </a:pPr>
            <a:r>
              <a:rPr lang="en-US" sz="1400" b="1" dirty="0">
                <a:solidFill>
                  <a:srgbClr val="16223D"/>
                </a:solidFill>
                <a:latin typeface="Arial" pitchFamily="34" charset="0"/>
                <a:ea typeface="Arial" pitchFamily="34" charset="-122"/>
                <a:cs typeface="Arial" pitchFamily="34" charset="-120"/>
              </a:rPr>
              <a:t>9  Applications</a:t>
            </a:r>
            <a:endParaRPr lang="en-US" sz="1400" dirty="0"/>
          </a:p>
        </p:txBody>
      </p:sp>
      <p:sp>
        <p:nvSpPr>
          <p:cNvPr id="39" name="Text 37"/>
          <p:cNvSpPr txBox="1"/>
          <p:nvPr/>
        </p:nvSpPr>
        <p:spPr>
          <a:xfrm>
            <a:off x="8485632" y="4974336"/>
            <a:ext cx="3063240" cy="731520"/>
          </a:xfrm>
          <a:prstGeom prst="rect">
            <a:avLst/>
          </a:prstGeom>
          <a:noFill/>
          <a:ln/>
        </p:spPr>
        <p:txBody>
          <a:bodyPr wrap="square" lIns="0" tIns="0" rIns="0" bIns="0" rtlCol="0" anchor="t"/>
          <a:lstStyle/>
          <a:p>
            <a:pPr indent="0" marL="0">
              <a:lnSpc>
                <a:spcPct val="115000"/>
              </a:lnSpc>
              <a:buNone/>
            </a:pPr>
            <a:r>
              <a:rPr lang="en-US" sz="1100" dirty="0">
                <a:solidFill>
                  <a:srgbClr val="444C5C"/>
                </a:solidFill>
                <a:latin typeface="Arial" pitchFamily="34" charset="0"/>
                <a:ea typeface="Arial" pitchFamily="34" charset="-122"/>
                <a:cs typeface="Arial" pitchFamily="34" charset="-120"/>
              </a:rPr>
              <a:t>Where computers of that era were used</a:t>
            </a:r>
            <a:endParaRPr lang="en-US" sz="1100" dirty="0"/>
          </a:p>
        </p:txBody>
      </p:sp>
      <p:sp>
        <p:nvSpPr>
          <p:cNvPr id="40" name="Text 38"/>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Meaning of Computer Generation</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A generation represents a major stage of technological development.</a:t>
            </a:r>
            <a:endParaRPr lang="en-US" sz="1300" dirty="0"/>
          </a:p>
        </p:txBody>
      </p:sp>
      <p:sp>
        <p:nvSpPr>
          <p:cNvPr id="4" name="Shape 2"/>
          <p:cNvSpPr/>
          <p:nvPr/>
        </p:nvSpPr>
        <p:spPr>
          <a:xfrm>
            <a:off x="548640" y="1463040"/>
            <a:ext cx="64008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5" name="Shape 3"/>
          <p:cNvSpPr/>
          <p:nvPr/>
        </p:nvSpPr>
        <p:spPr>
          <a:xfrm>
            <a:off x="548640" y="1536192"/>
            <a:ext cx="54864" cy="1362456"/>
          </a:xfrm>
          <a:prstGeom prst="rect">
            <a:avLst/>
          </a:prstGeom>
          <a:solidFill>
            <a:srgbClr val="3D6EBD"/>
          </a:solidFill>
          <a:ln/>
        </p:spPr>
      </p:sp>
      <p:sp>
        <p:nvSpPr>
          <p:cNvPr id="6" name="Text 4"/>
          <p:cNvSpPr txBox="1"/>
          <p:nvPr/>
        </p:nvSpPr>
        <p:spPr>
          <a:xfrm>
            <a:off x="804672" y="1572768"/>
            <a:ext cx="5943600" cy="320040"/>
          </a:xfrm>
          <a:prstGeom prst="rect">
            <a:avLst/>
          </a:prstGeom>
          <a:noFill/>
          <a:ln/>
        </p:spPr>
        <p:txBody>
          <a:bodyPr wrap="square" rtlCol="0" anchor="ctr"/>
          <a:lstStyle/>
          <a:p>
            <a:pPr indent="0" marL="0">
              <a:buNone/>
            </a:pPr>
            <a:r>
              <a:rPr lang="en-US" sz="1500" b="1" dirty="0">
                <a:solidFill>
                  <a:srgbClr val="16223D"/>
                </a:solidFill>
                <a:latin typeface="Arial" pitchFamily="34" charset="0"/>
                <a:ea typeface="Arial" pitchFamily="34" charset="-122"/>
                <a:cs typeface="Arial" pitchFamily="34" charset="-120"/>
              </a:rPr>
              <a:t>Definition</a:t>
            </a:r>
            <a:endParaRPr lang="en-US" sz="1500" dirty="0"/>
          </a:p>
        </p:txBody>
      </p:sp>
      <p:sp>
        <p:nvSpPr>
          <p:cNvPr id="7" name="Text 5"/>
          <p:cNvSpPr txBox="1"/>
          <p:nvPr/>
        </p:nvSpPr>
        <p:spPr>
          <a:xfrm>
            <a:off x="804672" y="1920240"/>
            <a:ext cx="5943600" cy="1005840"/>
          </a:xfrm>
          <a:prstGeom prst="rect">
            <a:avLst/>
          </a:prstGeom>
          <a:noFill/>
          <a:ln/>
        </p:spPr>
        <p:txBody>
          <a:bodyPr wrap="square" rtlCol="0" anchor="t"/>
          <a:lstStyle/>
          <a:p>
            <a:pPr indent="0" marL="0">
              <a:lnSpc>
                <a:spcPct val="120000"/>
              </a:lnSpc>
              <a:buNone/>
            </a:pPr>
            <a:r>
              <a:rPr lang="en-US" sz="1200" dirty="0">
                <a:solidFill>
                  <a:srgbClr val="444C5C"/>
                </a:solidFill>
                <a:latin typeface="Arial" pitchFamily="34" charset="0"/>
                <a:ea typeface="Arial" pitchFamily="34" charset="-122"/>
                <a:cs typeface="Arial" pitchFamily="34" charset="-120"/>
              </a:rPr>
              <a:t>Computer generations are stages in the evolution of computers, identified mainly by major changes in electronic components and technology.</a:t>
            </a:r>
            <a:endParaRPr lang="en-US" sz="1200" dirty="0"/>
          </a:p>
        </p:txBody>
      </p:sp>
      <p:sp>
        <p:nvSpPr>
          <p:cNvPr id="8" name="Text 6"/>
          <p:cNvSpPr txBox="1"/>
          <p:nvPr/>
        </p:nvSpPr>
        <p:spPr>
          <a:xfrm>
            <a:off x="7315200" y="1463040"/>
            <a:ext cx="4297680" cy="320040"/>
          </a:xfrm>
          <a:prstGeom prst="rect">
            <a:avLst/>
          </a:prstGeom>
          <a:noFill/>
          <a:ln/>
        </p:spPr>
        <p:txBody>
          <a:bodyPr wrap="square" rtlCol="0" anchor="ctr"/>
          <a:lstStyle/>
          <a:p>
            <a:pPr indent="0" marL="0">
              <a:buNone/>
            </a:pPr>
            <a:r>
              <a:rPr lang="en-US" sz="1300" b="1" dirty="0">
                <a:solidFill>
                  <a:srgbClr val="3A968E"/>
                </a:solidFill>
                <a:latin typeface="Arial" pitchFamily="34" charset="0"/>
                <a:ea typeface="Arial" pitchFamily="34" charset="-122"/>
                <a:cs typeface="Arial" pitchFamily="34" charset="-120"/>
              </a:rPr>
              <a:t>Note on 6th generation</a:t>
            </a:r>
            <a:endParaRPr lang="en-US" sz="1300" dirty="0"/>
          </a:p>
        </p:txBody>
      </p:sp>
      <p:sp>
        <p:nvSpPr>
          <p:cNvPr id="9" name="Text 7"/>
          <p:cNvSpPr txBox="1"/>
          <p:nvPr/>
        </p:nvSpPr>
        <p:spPr>
          <a:xfrm>
            <a:off x="7315200" y="1783080"/>
            <a:ext cx="4297680" cy="1097280"/>
          </a:xfrm>
          <a:prstGeom prst="rect">
            <a:avLst/>
          </a:prstGeom>
          <a:noFill/>
          <a:ln/>
        </p:spPr>
        <p:txBody>
          <a:bodyPr wrap="square" rtlCol="0" anchor="t"/>
          <a:lstStyle/>
          <a:p>
            <a:pPr indent="0" marL="0">
              <a:lnSpc>
                <a:spcPct val="120000"/>
              </a:lnSpc>
              <a:buNone/>
            </a:pPr>
            <a:r>
              <a:rPr lang="en-US" sz="1100" dirty="0">
                <a:solidFill>
                  <a:srgbClr val="444C5C"/>
                </a:solidFill>
                <a:latin typeface="Arial" pitchFamily="34" charset="0"/>
                <a:ea typeface="Arial" pitchFamily="34" charset="-122"/>
                <a:cs typeface="Arial" pitchFamily="34" charset="-120"/>
              </a:rPr>
              <a:t>Some textbooks/notes describe modern AI, parallel and distributed systems as a sixth generation. If your school textbook includes it, study it separately.</a:t>
            </a:r>
            <a:endParaRPr lang="en-US" sz="1100" dirty="0"/>
          </a:p>
        </p:txBody>
      </p:sp>
      <p:sp>
        <p:nvSpPr>
          <p:cNvPr id="10" name="Shape 8"/>
          <p:cNvSpPr/>
          <p:nvPr/>
        </p:nvSpPr>
        <p:spPr>
          <a:xfrm>
            <a:off x="548640" y="3246120"/>
            <a:ext cx="3520440" cy="868680"/>
          </a:xfrm>
          <a:prstGeom prst="roundRect">
            <a:avLst>
              <a:gd name="adj" fmla="val 8421"/>
            </a:avLst>
          </a:prstGeom>
          <a:solidFill>
            <a:srgbClr val="FFFFFF"/>
          </a:solidFill>
          <a:ln w="15875">
            <a:solidFill>
              <a:srgbClr val="D9534F"/>
            </a:solidFill>
            <a:prstDash val="solid"/>
          </a:ln>
        </p:spPr>
      </p:sp>
      <p:sp>
        <p:nvSpPr>
          <p:cNvPr id="11" name="Text 9"/>
          <p:cNvSpPr txBox="1"/>
          <p:nvPr/>
        </p:nvSpPr>
        <p:spPr>
          <a:xfrm>
            <a:off x="777240" y="3355848"/>
            <a:ext cx="3063240" cy="320040"/>
          </a:xfrm>
          <a:prstGeom prst="rect">
            <a:avLst/>
          </a:prstGeom>
          <a:noFill/>
          <a:ln/>
        </p:spPr>
        <p:txBody>
          <a:bodyPr wrap="square" rtlCol="0" anchor="ctr"/>
          <a:lstStyle/>
          <a:p>
            <a:pPr indent="0" marL="0">
              <a:buNone/>
            </a:pPr>
            <a:r>
              <a:rPr lang="en-US" sz="1500" b="1" dirty="0">
                <a:solidFill>
                  <a:srgbClr val="D9534F"/>
                </a:solidFill>
                <a:latin typeface="Arial" pitchFamily="34" charset="0"/>
                <a:ea typeface="Arial" pitchFamily="34" charset="-122"/>
                <a:cs typeface="Arial" pitchFamily="34" charset="-120"/>
              </a:rPr>
              <a:t>1st</a:t>
            </a:r>
            <a:endParaRPr lang="en-US" sz="1500" dirty="0"/>
          </a:p>
        </p:txBody>
      </p:sp>
      <p:sp>
        <p:nvSpPr>
          <p:cNvPr id="12" name="Text 10"/>
          <p:cNvSpPr txBox="1"/>
          <p:nvPr/>
        </p:nvSpPr>
        <p:spPr>
          <a:xfrm>
            <a:off x="777240" y="3703320"/>
            <a:ext cx="3063240" cy="32004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Vacuum Tubes</a:t>
            </a:r>
            <a:endParaRPr lang="en-US" sz="1100" dirty="0"/>
          </a:p>
        </p:txBody>
      </p:sp>
      <p:sp>
        <p:nvSpPr>
          <p:cNvPr id="13" name="Shape 11"/>
          <p:cNvSpPr/>
          <p:nvPr/>
        </p:nvSpPr>
        <p:spPr>
          <a:xfrm>
            <a:off x="4389120" y="3246120"/>
            <a:ext cx="3520440" cy="868680"/>
          </a:xfrm>
          <a:prstGeom prst="roundRect">
            <a:avLst>
              <a:gd name="adj" fmla="val 8421"/>
            </a:avLst>
          </a:prstGeom>
          <a:solidFill>
            <a:srgbClr val="FFFFFF"/>
          </a:solidFill>
          <a:ln w="15875">
            <a:solidFill>
              <a:srgbClr val="E8963C"/>
            </a:solidFill>
            <a:prstDash val="solid"/>
          </a:ln>
        </p:spPr>
      </p:sp>
      <p:sp>
        <p:nvSpPr>
          <p:cNvPr id="14" name="Text 12"/>
          <p:cNvSpPr txBox="1"/>
          <p:nvPr/>
        </p:nvSpPr>
        <p:spPr>
          <a:xfrm>
            <a:off x="4617720" y="3355848"/>
            <a:ext cx="3063240" cy="320040"/>
          </a:xfrm>
          <a:prstGeom prst="rect">
            <a:avLst/>
          </a:prstGeom>
          <a:noFill/>
          <a:ln/>
        </p:spPr>
        <p:txBody>
          <a:bodyPr wrap="square" rtlCol="0" anchor="ctr"/>
          <a:lstStyle/>
          <a:p>
            <a:pPr indent="0" marL="0">
              <a:buNone/>
            </a:pPr>
            <a:r>
              <a:rPr lang="en-US" sz="1500" b="1" dirty="0">
                <a:solidFill>
                  <a:srgbClr val="E8963C"/>
                </a:solidFill>
                <a:latin typeface="Arial" pitchFamily="34" charset="0"/>
                <a:ea typeface="Arial" pitchFamily="34" charset="-122"/>
                <a:cs typeface="Arial" pitchFamily="34" charset="-120"/>
              </a:rPr>
              <a:t>2nd</a:t>
            </a:r>
            <a:endParaRPr lang="en-US" sz="1500" dirty="0"/>
          </a:p>
        </p:txBody>
      </p:sp>
      <p:sp>
        <p:nvSpPr>
          <p:cNvPr id="15" name="Text 13"/>
          <p:cNvSpPr txBox="1"/>
          <p:nvPr/>
        </p:nvSpPr>
        <p:spPr>
          <a:xfrm>
            <a:off x="4617720" y="3703320"/>
            <a:ext cx="3063240" cy="32004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Transistors</a:t>
            </a:r>
            <a:endParaRPr lang="en-US" sz="1100" dirty="0"/>
          </a:p>
        </p:txBody>
      </p:sp>
      <p:sp>
        <p:nvSpPr>
          <p:cNvPr id="16" name="Shape 14"/>
          <p:cNvSpPr/>
          <p:nvPr/>
        </p:nvSpPr>
        <p:spPr>
          <a:xfrm>
            <a:off x="8229600" y="3246120"/>
            <a:ext cx="3520440" cy="868680"/>
          </a:xfrm>
          <a:prstGeom prst="roundRect">
            <a:avLst>
              <a:gd name="adj" fmla="val 8421"/>
            </a:avLst>
          </a:prstGeom>
          <a:solidFill>
            <a:srgbClr val="FFFFFF"/>
          </a:solidFill>
          <a:ln w="15875">
            <a:solidFill>
              <a:srgbClr val="4A9E6C"/>
            </a:solidFill>
            <a:prstDash val="solid"/>
          </a:ln>
        </p:spPr>
      </p:sp>
      <p:sp>
        <p:nvSpPr>
          <p:cNvPr id="17" name="Text 15"/>
          <p:cNvSpPr txBox="1"/>
          <p:nvPr/>
        </p:nvSpPr>
        <p:spPr>
          <a:xfrm>
            <a:off x="8458200" y="3355848"/>
            <a:ext cx="3063240" cy="320040"/>
          </a:xfrm>
          <a:prstGeom prst="rect">
            <a:avLst/>
          </a:prstGeom>
          <a:noFill/>
          <a:ln/>
        </p:spPr>
        <p:txBody>
          <a:bodyPr wrap="square" rtlCol="0" anchor="ctr"/>
          <a:lstStyle/>
          <a:p>
            <a:pPr indent="0" marL="0">
              <a:buNone/>
            </a:pPr>
            <a:r>
              <a:rPr lang="en-US" sz="1500" b="1" dirty="0">
                <a:solidFill>
                  <a:srgbClr val="4A9E6C"/>
                </a:solidFill>
                <a:latin typeface="Arial" pitchFamily="34" charset="0"/>
                <a:ea typeface="Arial" pitchFamily="34" charset="-122"/>
                <a:cs typeface="Arial" pitchFamily="34" charset="-120"/>
              </a:rPr>
              <a:t>3rd</a:t>
            </a:r>
            <a:endParaRPr lang="en-US" sz="1500" dirty="0"/>
          </a:p>
        </p:txBody>
      </p:sp>
      <p:sp>
        <p:nvSpPr>
          <p:cNvPr id="18" name="Text 16"/>
          <p:cNvSpPr txBox="1"/>
          <p:nvPr/>
        </p:nvSpPr>
        <p:spPr>
          <a:xfrm>
            <a:off x="8458200" y="3703320"/>
            <a:ext cx="3063240" cy="32004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ICs</a:t>
            </a:r>
            <a:endParaRPr lang="en-US" sz="1100" dirty="0"/>
          </a:p>
        </p:txBody>
      </p:sp>
      <p:sp>
        <p:nvSpPr>
          <p:cNvPr id="19" name="Shape 17"/>
          <p:cNvSpPr/>
          <p:nvPr/>
        </p:nvSpPr>
        <p:spPr>
          <a:xfrm>
            <a:off x="548640" y="4389120"/>
            <a:ext cx="3520440" cy="868680"/>
          </a:xfrm>
          <a:prstGeom prst="roundRect">
            <a:avLst>
              <a:gd name="adj" fmla="val 8421"/>
            </a:avLst>
          </a:prstGeom>
          <a:solidFill>
            <a:srgbClr val="FFFFFF"/>
          </a:solidFill>
          <a:ln w="15875">
            <a:solidFill>
              <a:srgbClr val="3D6EBD"/>
            </a:solidFill>
            <a:prstDash val="solid"/>
          </a:ln>
        </p:spPr>
      </p:sp>
      <p:sp>
        <p:nvSpPr>
          <p:cNvPr id="20" name="Text 18"/>
          <p:cNvSpPr txBox="1"/>
          <p:nvPr/>
        </p:nvSpPr>
        <p:spPr>
          <a:xfrm>
            <a:off x="777240" y="4498848"/>
            <a:ext cx="3063240" cy="320040"/>
          </a:xfrm>
          <a:prstGeom prst="rect">
            <a:avLst/>
          </a:prstGeom>
          <a:noFill/>
          <a:ln/>
        </p:spPr>
        <p:txBody>
          <a:bodyPr wrap="square" rtlCol="0" anchor="ctr"/>
          <a:lstStyle/>
          <a:p>
            <a:pPr indent="0" marL="0">
              <a:buNone/>
            </a:pPr>
            <a:r>
              <a:rPr lang="en-US" sz="1500" b="1" dirty="0">
                <a:solidFill>
                  <a:srgbClr val="3D6EBD"/>
                </a:solidFill>
                <a:latin typeface="Arial" pitchFamily="34" charset="0"/>
                <a:ea typeface="Arial" pitchFamily="34" charset="-122"/>
                <a:cs typeface="Arial" pitchFamily="34" charset="-120"/>
              </a:rPr>
              <a:t>4th</a:t>
            </a:r>
            <a:endParaRPr lang="en-US" sz="1500" dirty="0"/>
          </a:p>
        </p:txBody>
      </p:sp>
      <p:sp>
        <p:nvSpPr>
          <p:cNvPr id="21" name="Text 19"/>
          <p:cNvSpPr txBox="1"/>
          <p:nvPr/>
        </p:nvSpPr>
        <p:spPr>
          <a:xfrm>
            <a:off x="777240" y="4846320"/>
            <a:ext cx="3063240" cy="32004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Microprocessors</a:t>
            </a:r>
            <a:endParaRPr lang="en-US" sz="1100" dirty="0"/>
          </a:p>
        </p:txBody>
      </p:sp>
      <p:sp>
        <p:nvSpPr>
          <p:cNvPr id="22" name="Shape 20"/>
          <p:cNvSpPr/>
          <p:nvPr/>
        </p:nvSpPr>
        <p:spPr>
          <a:xfrm>
            <a:off x="4389120" y="4389120"/>
            <a:ext cx="3520440" cy="868680"/>
          </a:xfrm>
          <a:prstGeom prst="roundRect">
            <a:avLst>
              <a:gd name="adj" fmla="val 8421"/>
            </a:avLst>
          </a:prstGeom>
          <a:solidFill>
            <a:srgbClr val="FFFFFF"/>
          </a:solidFill>
          <a:ln w="15875">
            <a:solidFill>
              <a:srgbClr val="7C5CA0"/>
            </a:solidFill>
            <a:prstDash val="solid"/>
          </a:ln>
        </p:spPr>
      </p:sp>
      <p:sp>
        <p:nvSpPr>
          <p:cNvPr id="23" name="Text 21"/>
          <p:cNvSpPr txBox="1"/>
          <p:nvPr/>
        </p:nvSpPr>
        <p:spPr>
          <a:xfrm>
            <a:off x="4617720" y="4498848"/>
            <a:ext cx="3063240" cy="320040"/>
          </a:xfrm>
          <a:prstGeom prst="rect">
            <a:avLst/>
          </a:prstGeom>
          <a:noFill/>
          <a:ln/>
        </p:spPr>
        <p:txBody>
          <a:bodyPr wrap="square" rtlCol="0" anchor="ctr"/>
          <a:lstStyle/>
          <a:p>
            <a:pPr indent="0" marL="0">
              <a:buNone/>
            </a:pPr>
            <a:r>
              <a:rPr lang="en-US" sz="1500" b="1" dirty="0">
                <a:solidFill>
                  <a:srgbClr val="7C5CA0"/>
                </a:solidFill>
                <a:latin typeface="Arial" pitchFamily="34" charset="0"/>
                <a:ea typeface="Arial" pitchFamily="34" charset="-122"/>
                <a:cs typeface="Arial" pitchFamily="34" charset="-120"/>
              </a:rPr>
              <a:t>5th</a:t>
            </a:r>
            <a:endParaRPr lang="en-US" sz="1500" dirty="0"/>
          </a:p>
        </p:txBody>
      </p:sp>
      <p:sp>
        <p:nvSpPr>
          <p:cNvPr id="24" name="Text 22"/>
          <p:cNvSpPr txBox="1"/>
          <p:nvPr/>
        </p:nvSpPr>
        <p:spPr>
          <a:xfrm>
            <a:off x="4617720" y="4846320"/>
            <a:ext cx="3063240" cy="32004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AI / ULSI</a:t>
            </a:r>
            <a:endParaRPr lang="en-US" sz="1100" dirty="0"/>
          </a:p>
        </p:txBody>
      </p:sp>
      <p:sp>
        <p:nvSpPr>
          <p:cNvPr id="25" name="Shape 23"/>
          <p:cNvSpPr/>
          <p:nvPr/>
        </p:nvSpPr>
        <p:spPr>
          <a:xfrm>
            <a:off x="8229600" y="4389120"/>
            <a:ext cx="3520440" cy="868680"/>
          </a:xfrm>
          <a:prstGeom prst="roundRect">
            <a:avLst>
              <a:gd name="adj" fmla="val 8421"/>
            </a:avLst>
          </a:prstGeom>
          <a:solidFill>
            <a:srgbClr val="FFFFFF"/>
          </a:solidFill>
          <a:ln w="15875">
            <a:solidFill>
              <a:srgbClr val="3A968E"/>
            </a:solidFill>
            <a:prstDash val="solid"/>
          </a:ln>
        </p:spPr>
      </p:sp>
      <p:sp>
        <p:nvSpPr>
          <p:cNvPr id="26" name="Text 24"/>
          <p:cNvSpPr txBox="1"/>
          <p:nvPr/>
        </p:nvSpPr>
        <p:spPr>
          <a:xfrm>
            <a:off x="8458200" y="4498848"/>
            <a:ext cx="3063240" cy="320040"/>
          </a:xfrm>
          <a:prstGeom prst="rect">
            <a:avLst/>
          </a:prstGeom>
          <a:noFill/>
          <a:ln/>
        </p:spPr>
        <p:txBody>
          <a:bodyPr wrap="square" rtlCol="0" anchor="ctr"/>
          <a:lstStyle/>
          <a:p>
            <a:pPr indent="0" marL="0">
              <a:buNone/>
            </a:pPr>
            <a:r>
              <a:rPr lang="en-US" sz="1500" b="1" dirty="0">
                <a:solidFill>
                  <a:srgbClr val="3A968E"/>
                </a:solidFill>
                <a:latin typeface="Arial" pitchFamily="34" charset="0"/>
                <a:ea typeface="Arial" pitchFamily="34" charset="-122"/>
                <a:cs typeface="Arial" pitchFamily="34" charset="-120"/>
              </a:rPr>
              <a:t>6th*</a:t>
            </a:r>
            <a:endParaRPr lang="en-US" sz="1500" dirty="0"/>
          </a:p>
        </p:txBody>
      </p:sp>
      <p:sp>
        <p:nvSpPr>
          <p:cNvPr id="27" name="Text 25"/>
          <p:cNvSpPr txBox="1"/>
          <p:nvPr/>
        </p:nvSpPr>
        <p:spPr>
          <a:xfrm>
            <a:off x="8458200" y="4846320"/>
            <a:ext cx="3063240" cy="32004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Advanced AI</a:t>
            </a:r>
            <a:endParaRPr lang="en-US" sz="1100" dirty="0"/>
          </a:p>
        </p:txBody>
      </p:sp>
      <p:sp>
        <p:nvSpPr>
          <p:cNvPr id="28" name="Text 26"/>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1 Generation: First Generation</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Period • 1942–1955    |    Main technology • Vacuum Tubes</a:t>
            </a:r>
            <a:endParaRPr lang="en-US" sz="1300" dirty="0"/>
          </a:p>
        </p:txBody>
      </p:sp>
      <p:sp>
        <p:nvSpPr>
          <p:cNvPr id="4" name="Shape 2"/>
          <p:cNvSpPr/>
          <p:nvPr/>
        </p:nvSpPr>
        <p:spPr>
          <a:xfrm>
            <a:off x="548640" y="1463040"/>
            <a:ext cx="2331720" cy="3246120"/>
          </a:xfrm>
          <a:prstGeom prst="roundRect">
            <a:avLst>
              <a:gd name="adj" fmla="val 3922"/>
            </a:avLst>
          </a:prstGeom>
          <a:solidFill>
            <a:srgbClr val="FFFFFF"/>
          </a:solidFill>
          <a:ln w="9525">
            <a:solidFill>
              <a:srgbClr val="E3E7F0"/>
            </a:solidFill>
            <a:prstDash val="solid"/>
          </a:ln>
          <a:effectLst>
            <a:outerShdw sx="100000" sy="100000" kx="0" ky="0" algn="bl" rotWithShape="0" blurRad="76200" dist="25400" dir="5400000">
              <a:srgbClr val="1B2B4A">
                <a:alpha val="15000"/>
              </a:srgbClr>
            </a:outerShdw>
          </a:effectLst>
        </p:spPr>
      </p:sp>
      <p:sp>
        <p:nvSpPr>
          <p:cNvPr id="5" name="Shape 3"/>
          <p:cNvSpPr/>
          <p:nvPr/>
        </p:nvSpPr>
        <p:spPr>
          <a:xfrm>
            <a:off x="1234440" y="2194560"/>
            <a:ext cx="914400" cy="914400"/>
          </a:xfrm>
          <a:prstGeom prst="roundRect">
            <a:avLst>
              <a:gd name="adj" fmla="val 12000"/>
            </a:avLst>
          </a:prstGeom>
          <a:solidFill>
            <a:srgbClr val="D9534F"/>
          </a:solidFill>
          <a:ln/>
        </p:spPr>
      </p:sp>
      <p:sp>
        <p:nvSpPr>
          <p:cNvPr id="6" name="Text 4"/>
          <p:cNvSpPr txBox="1"/>
          <p:nvPr/>
        </p:nvSpPr>
        <p:spPr>
          <a:xfrm>
            <a:off x="685800" y="3246120"/>
            <a:ext cx="2057400" cy="457200"/>
          </a:xfrm>
          <a:prstGeom prst="rect">
            <a:avLst/>
          </a:prstGeom>
          <a:noFill/>
          <a:ln/>
        </p:spPr>
        <p:txBody>
          <a:bodyPr wrap="square" rtlCol="0" anchor="ctr"/>
          <a:lstStyle/>
          <a:p>
            <a:pPr algn="ctr" indent="0" marL="0">
              <a:buNone/>
            </a:pPr>
            <a:r>
              <a:rPr lang="en-US" sz="1050" b="1" dirty="0">
                <a:solidFill>
                  <a:srgbClr val="16223D"/>
                </a:solidFill>
                <a:latin typeface="Arial" pitchFamily="34" charset="0"/>
                <a:ea typeface="Arial" pitchFamily="34" charset="-122"/>
                <a:cs typeface="Arial" pitchFamily="34" charset="-120"/>
              </a:rPr>
              <a:t>VACUUM TUBE</a:t>
            </a:r>
            <a:endParaRPr lang="en-US" sz="1050" dirty="0"/>
          </a:p>
        </p:txBody>
      </p:sp>
      <p:sp>
        <p:nvSpPr>
          <p:cNvPr id="7" name="Shape 5"/>
          <p:cNvSpPr/>
          <p:nvPr/>
        </p:nvSpPr>
        <p:spPr>
          <a:xfrm>
            <a:off x="3063240" y="1463040"/>
            <a:ext cx="3977640" cy="1417320"/>
          </a:xfrm>
          <a:prstGeom prst="roundRect">
            <a:avLst>
              <a:gd name="adj" fmla="val 5161"/>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8" name="Shape 6"/>
          <p:cNvSpPr/>
          <p:nvPr/>
        </p:nvSpPr>
        <p:spPr>
          <a:xfrm>
            <a:off x="3063240" y="1536192"/>
            <a:ext cx="54864" cy="1271016"/>
          </a:xfrm>
          <a:prstGeom prst="rect">
            <a:avLst/>
          </a:prstGeom>
          <a:solidFill>
            <a:srgbClr val="D9534F"/>
          </a:solidFill>
          <a:ln/>
        </p:spPr>
      </p:sp>
      <p:sp>
        <p:nvSpPr>
          <p:cNvPr id="9" name="Text 7"/>
          <p:cNvSpPr txBox="1"/>
          <p:nvPr/>
        </p:nvSpPr>
        <p:spPr>
          <a:xfrm>
            <a:off x="3319272" y="159105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Examples</a:t>
            </a:r>
            <a:endParaRPr lang="en-US" sz="1300" dirty="0"/>
          </a:p>
        </p:txBody>
      </p:sp>
      <p:sp>
        <p:nvSpPr>
          <p:cNvPr id="10" name="Text 8"/>
          <p:cNvSpPr txBox="1"/>
          <p:nvPr/>
        </p:nvSpPr>
        <p:spPr>
          <a:xfrm>
            <a:off x="3319272" y="1911096"/>
            <a:ext cx="3520440" cy="914400"/>
          </a:xfrm>
          <a:prstGeom prst="rect">
            <a:avLst/>
          </a:prstGeom>
          <a:noFill/>
          <a:ln/>
        </p:spPr>
        <p:txBody>
          <a:bodyPr wrap="square" lIns="0" tIns="0" rIns="0" bIns="0" rtlCol="0" anchor="t"/>
          <a:lstStyle/>
          <a:p>
            <a:pPr indent="0" marL="0">
              <a:lnSpc>
                <a:spcPct val="115000"/>
              </a:lnSpc>
              <a:buNone/>
            </a:pPr>
            <a:r>
              <a:rPr lang="en-US" sz="1200" dirty="0">
                <a:solidFill>
                  <a:srgbClr val="444C5C"/>
                </a:solidFill>
                <a:latin typeface="Arial" pitchFamily="34" charset="0"/>
                <a:ea typeface="Arial" pitchFamily="34" charset="-122"/>
                <a:cs typeface="Arial" pitchFamily="34" charset="-120"/>
              </a:rPr>
              <a:t>ENIAC, EDVAC, UNIVAC I</a:t>
            </a:r>
            <a:endParaRPr lang="en-US" sz="1200" dirty="0"/>
          </a:p>
        </p:txBody>
      </p:sp>
      <p:sp>
        <p:nvSpPr>
          <p:cNvPr id="11" name="Shape 9"/>
          <p:cNvSpPr/>
          <p:nvPr/>
        </p:nvSpPr>
        <p:spPr>
          <a:xfrm>
            <a:off x="7863840" y="1463040"/>
            <a:ext cx="3977640" cy="1417320"/>
          </a:xfrm>
          <a:prstGeom prst="roundRect">
            <a:avLst>
              <a:gd name="adj" fmla="val 5161"/>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2" name="Shape 10"/>
          <p:cNvSpPr/>
          <p:nvPr/>
        </p:nvSpPr>
        <p:spPr>
          <a:xfrm>
            <a:off x="7863840" y="1536192"/>
            <a:ext cx="54864" cy="1271016"/>
          </a:xfrm>
          <a:prstGeom prst="rect">
            <a:avLst/>
          </a:prstGeom>
          <a:solidFill>
            <a:srgbClr val="D9534F"/>
          </a:solidFill>
          <a:ln/>
        </p:spPr>
      </p:sp>
      <p:sp>
        <p:nvSpPr>
          <p:cNvPr id="13" name="Text 11"/>
          <p:cNvSpPr txBox="1"/>
          <p:nvPr/>
        </p:nvSpPr>
        <p:spPr>
          <a:xfrm>
            <a:off x="8119872" y="159105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Main Technology</a:t>
            </a:r>
            <a:endParaRPr lang="en-US" sz="1300" dirty="0"/>
          </a:p>
        </p:txBody>
      </p:sp>
      <p:sp>
        <p:nvSpPr>
          <p:cNvPr id="14" name="Text 12"/>
          <p:cNvSpPr txBox="1"/>
          <p:nvPr/>
        </p:nvSpPr>
        <p:spPr>
          <a:xfrm>
            <a:off x="8119872" y="1911096"/>
            <a:ext cx="3520440" cy="914400"/>
          </a:xfrm>
          <a:prstGeom prst="rect">
            <a:avLst/>
          </a:prstGeom>
          <a:noFill/>
          <a:ln/>
        </p:spPr>
        <p:txBody>
          <a:bodyPr wrap="square" lIns="0" tIns="0" rIns="0" bIns="0" rtlCol="0" anchor="t"/>
          <a:lstStyle/>
          <a:p>
            <a:pPr indent="0" marL="0">
              <a:lnSpc>
                <a:spcPct val="115000"/>
              </a:lnSpc>
              <a:buNone/>
            </a:pPr>
            <a:r>
              <a:rPr lang="en-US" sz="1200" dirty="0">
                <a:solidFill>
                  <a:srgbClr val="444C5C"/>
                </a:solidFill>
                <a:latin typeface="Arial" pitchFamily="34" charset="0"/>
                <a:ea typeface="Arial" pitchFamily="34" charset="-122"/>
                <a:cs typeface="Arial" pitchFamily="34" charset="-120"/>
              </a:rPr>
              <a:t>Vacuum Tubes</a:t>
            </a:r>
            <a:endParaRPr lang="en-US" sz="1200" dirty="0"/>
          </a:p>
        </p:txBody>
      </p:sp>
      <p:sp>
        <p:nvSpPr>
          <p:cNvPr id="15" name="Shape 13"/>
          <p:cNvSpPr/>
          <p:nvPr/>
        </p:nvSpPr>
        <p:spPr>
          <a:xfrm>
            <a:off x="3063240" y="3017520"/>
            <a:ext cx="3977640" cy="1691640"/>
          </a:xfrm>
          <a:prstGeom prst="roundRect">
            <a:avLst>
              <a:gd name="adj" fmla="val 4324"/>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6" name="Shape 14"/>
          <p:cNvSpPr/>
          <p:nvPr/>
        </p:nvSpPr>
        <p:spPr>
          <a:xfrm>
            <a:off x="3063240" y="3090672"/>
            <a:ext cx="54864" cy="1545336"/>
          </a:xfrm>
          <a:prstGeom prst="rect">
            <a:avLst/>
          </a:prstGeom>
          <a:solidFill>
            <a:srgbClr val="D9534F"/>
          </a:solidFill>
          <a:ln/>
        </p:spPr>
      </p:sp>
      <p:sp>
        <p:nvSpPr>
          <p:cNvPr id="17" name="Text 15"/>
          <p:cNvSpPr txBox="1"/>
          <p:nvPr/>
        </p:nvSpPr>
        <p:spPr>
          <a:xfrm>
            <a:off x="3319272" y="314553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Important Features</a:t>
            </a:r>
            <a:endParaRPr lang="en-US" sz="1300" dirty="0"/>
          </a:p>
        </p:txBody>
      </p:sp>
      <p:sp>
        <p:nvSpPr>
          <p:cNvPr id="18" name="Text 16"/>
          <p:cNvSpPr txBox="1"/>
          <p:nvPr/>
        </p:nvSpPr>
        <p:spPr>
          <a:xfrm>
            <a:off x="3319272" y="3465576"/>
            <a:ext cx="3520440" cy="1188720"/>
          </a:xfrm>
          <a:prstGeom prst="rect">
            <a:avLst/>
          </a:prstGeom>
          <a:noFill/>
          <a:ln/>
        </p:spPr>
        <p:txBody>
          <a:bodyPr wrap="square" lIns="0" tIns="0" rIns="0" bIns="0" rtlCol="0" anchor="t"/>
          <a:lstStyle/>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Very large and heavy</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Generated much heat</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Low reliability</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Limited memory and storage</a:t>
            </a:r>
            <a:endParaRPr lang="en-US" sz="1050" dirty="0"/>
          </a:p>
        </p:txBody>
      </p:sp>
      <p:sp>
        <p:nvSpPr>
          <p:cNvPr id="19" name="Shape 17"/>
          <p:cNvSpPr/>
          <p:nvPr/>
        </p:nvSpPr>
        <p:spPr>
          <a:xfrm>
            <a:off x="7863840" y="3017520"/>
            <a:ext cx="3977640" cy="1691640"/>
          </a:xfrm>
          <a:prstGeom prst="roundRect">
            <a:avLst>
              <a:gd name="adj" fmla="val 4324"/>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0" name="Shape 18"/>
          <p:cNvSpPr/>
          <p:nvPr/>
        </p:nvSpPr>
        <p:spPr>
          <a:xfrm>
            <a:off x="7863840" y="3090672"/>
            <a:ext cx="54864" cy="1545336"/>
          </a:xfrm>
          <a:prstGeom prst="rect">
            <a:avLst/>
          </a:prstGeom>
          <a:solidFill>
            <a:srgbClr val="D9534F"/>
          </a:solidFill>
          <a:ln/>
        </p:spPr>
      </p:sp>
      <p:sp>
        <p:nvSpPr>
          <p:cNvPr id="21" name="Text 19"/>
          <p:cNvSpPr txBox="1"/>
          <p:nvPr/>
        </p:nvSpPr>
        <p:spPr>
          <a:xfrm>
            <a:off x="8119872" y="314553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Languages / Software</a:t>
            </a:r>
            <a:endParaRPr lang="en-US" sz="1300" dirty="0"/>
          </a:p>
        </p:txBody>
      </p:sp>
      <p:sp>
        <p:nvSpPr>
          <p:cNvPr id="22" name="Text 20"/>
          <p:cNvSpPr txBox="1"/>
          <p:nvPr/>
        </p:nvSpPr>
        <p:spPr>
          <a:xfrm>
            <a:off x="8119872" y="3465576"/>
            <a:ext cx="3520440" cy="1188720"/>
          </a:xfrm>
          <a:prstGeom prst="rect">
            <a:avLst/>
          </a:prstGeom>
          <a:noFill/>
          <a:ln/>
        </p:spPr>
        <p:txBody>
          <a:bodyPr wrap="square" lIns="0" tIns="0" rIns="0" bIns="0" rtlCol="0" anchor="t"/>
          <a:lstStyle/>
          <a:p>
            <a:pPr indent="0" marL="0">
              <a:lnSpc>
                <a:spcPct val="115000"/>
              </a:lnSpc>
              <a:buNone/>
            </a:pPr>
            <a:r>
              <a:rPr lang="en-US" sz="1150" dirty="0">
                <a:solidFill>
                  <a:srgbClr val="444C5C"/>
                </a:solidFill>
                <a:latin typeface="Arial" pitchFamily="34" charset="0"/>
                <a:ea typeface="Arial" pitchFamily="34" charset="-122"/>
                <a:cs typeface="Arial" pitchFamily="34" charset="-120"/>
              </a:rPr>
              <a:t>Machine language; early assembly ideas</a:t>
            </a:r>
            <a:endParaRPr lang="en-US" sz="1150" dirty="0"/>
          </a:p>
        </p:txBody>
      </p:sp>
      <p:sp>
        <p:nvSpPr>
          <p:cNvPr id="23" name="Shape 21"/>
          <p:cNvSpPr/>
          <p:nvPr/>
        </p:nvSpPr>
        <p:spPr>
          <a:xfrm>
            <a:off x="54864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4" name="Shape 22"/>
          <p:cNvSpPr/>
          <p:nvPr/>
        </p:nvSpPr>
        <p:spPr>
          <a:xfrm>
            <a:off x="548640" y="4965192"/>
            <a:ext cx="54864" cy="1362456"/>
          </a:xfrm>
          <a:prstGeom prst="rect">
            <a:avLst/>
          </a:prstGeom>
          <a:solidFill>
            <a:srgbClr val="D9534F"/>
          </a:solidFill>
          <a:ln/>
        </p:spPr>
      </p:sp>
      <p:sp>
        <p:nvSpPr>
          <p:cNvPr id="25" name="Text 23"/>
          <p:cNvSpPr txBox="1"/>
          <p:nvPr/>
        </p:nvSpPr>
        <p:spPr>
          <a:xfrm>
            <a:off x="80467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Advantages</a:t>
            </a:r>
            <a:endParaRPr lang="en-US" sz="1200" dirty="0"/>
          </a:p>
        </p:txBody>
      </p:sp>
      <p:sp>
        <p:nvSpPr>
          <p:cNvPr id="26" name="Text 24"/>
          <p:cNvSpPr txBox="1"/>
          <p:nvPr/>
        </p:nvSpPr>
        <p:spPr>
          <a:xfrm>
            <a:off x="804672" y="5340096"/>
            <a:ext cx="3200400" cy="1005840"/>
          </a:xfrm>
          <a:prstGeom prst="rect">
            <a:avLst/>
          </a:prstGeom>
          <a:noFill/>
          <a:ln/>
        </p:spPr>
        <p:txBody>
          <a:bodyPr wrap="square" lIns="0" tIns="0" rIns="0" bIns="0" rtlCol="0" anchor="t"/>
          <a:lstStyle/>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First major electronic computers</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Faster than earlier electromechanical machines</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Useful for scientific and military calculations</a:t>
            </a:r>
            <a:endParaRPr lang="en-US" sz="950" dirty="0"/>
          </a:p>
        </p:txBody>
      </p:sp>
      <p:sp>
        <p:nvSpPr>
          <p:cNvPr id="27" name="Shape 25"/>
          <p:cNvSpPr/>
          <p:nvPr/>
        </p:nvSpPr>
        <p:spPr>
          <a:xfrm>
            <a:off x="448056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8" name="Shape 26"/>
          <p:cNvSpPr/>
          <p:nvPr/>
        </p:nvSpPr>
        <p:spPr>
          <a:xfrm>
            <a:off x="4480560" y="4965192"/>
            <a:ext cx="54864" cy="1362456"/>
          </a:xfrm>
          <a:prstGeom prst="rect">
            <a:avLst/>
          </a:prstGeom>
          <a:solidFill>
            <a:srgbClr val="D9534F"/>
          </a:solidFill>
          <a:ln/>
        </p:spPr>
      </p:sp>
      <p:sp>
        <p:nvSpPr>
          <p:cNvPr id="29" name="Text 27"/>
          <p:cNvSpPr txBox="1"/>
          <p:nvPr/>
        </p:nvSpPr>
        <p:spPr>
          <a:xfrm>
            <a:off x="473659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Limitations</a:t>
            </a:r>
            <a:endParaRPr lang="en-US" sz="1200" dirty="0"/>
          </a:p>
        </p:txBody>
      </p:sp>
      <p:sp>
        <p:nvSpPr>
          <p:cNvPr id="30" name="Text 28"/>
          <p:cNvSpPr txBox="1"/>
          <p:nvPr/>
        </p:nvSpPr>
        <p:spPr>
          <a:xfrm>
            <a:off x="4736592" y="5340096"/>
            <a:ext cx="3200400" cy="1005840"/>
          </a:xfrm>
          <a:prstGeom prst="rect">
            <a:avLst/>
          </a:prstGeom>
          <a:noFill/>
          <a:ln/>
        </p:spPr>
        <p:txBody>
          <a:bodyPr wrap="square" lIns="0" tIns="0" rIns="0" bIns="0" rtlCol="0" anchor="t"/>
          <a:lstStyle/>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Very expensive</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High power consumption</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Frequent failures due to tubes</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Required large space</a:t>
            </a:r>
            <a:endParaRPr lang="en-US" sz="950" dirty="0"/>
          </a:p>
        </p:txBody>
      </p:sp>
      <p:sp>
        <p:nvSpPr>
          <p:cNvPr id="31" name="Shape 29"/>
          <p:cNvSpPr/>
          <p:nvPr/>
        </p:nvSpPr>
        <p:spPr>
          <a:xfrm>
            <a:off x="841248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32" name="Shape 30"/>
          <p:cNvSpPr/>
          <p:nvPr/>
        </p:nvSpPr>
        <p:spPr>
          <a:xfrm>
            <a:off x="8412480" y="4965192"/>
            <a:ext cx="54864" cy="1362456"/>
          </a:xfrm>
          <a:prstGeom prst="rect">
            <a:avLst/>
          </a:prstGeom>
          <a:solidFill>
            <a:srgbClr val="D9534F"/>
          </a:solidFill>
          <a:ln/>
        </p:spPr>
      </p:sp>
      <p:sp>
        <p:nvSpPr>
          <p:cNvPr id="33" name="Text 31"/>
          <p:cNvSpPr txBox="1"/>
          <p:nvPr/>
        </p:nvSpPr>
        <p:spPr>
          <a:xfrm>
            <a:off x="866851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Exam Key Point</a:t>
            </a:r>
            <a:endParaRPr lang="en-US" sz="1200" dirty="0"/>
          </a:p>
        </p:txBody>
      </p:sp>
      <p:sp>
        <p:nvSpPr>
          <p:cNvPr id="34" name="Text 32"/>
          <p:cNvSpPr txBox="1"/>
          <p:nvPr/>
        </p:nvSpPr>
        <p:spPr>
          <a:xfrm>
            <a:off x="8668512" y="5340096"/>
            <a:ext cx="3200400" cy="1005840"/>
          </a:xfrm>
          <a:prstGeom prst="rect">
            <a:avLst/>
          </a:prstGeom>
          <a:noFill/>
          <a:ln/>
        </p:spPr>
        <p:txBody>
          <a:bodyPr wrap="square" lIns="0" tIns="0" rIns="0" bIns="0" rtlCol="0" anchor="t"/>
          <a:lstStyle/>
          <a:p>
            <a:pPr indent="0" marL="0">
              <a:lnSpc>
                <a:spcPct val="115000"/>
              </a:lnSpc>
              <a:buNone/>
            </a:pPr>
            <a:r>
              <a:rPr lang="en-US" sz="950" dirty="0">
                <a:solidFill>
                  <a:srgbClr val="444C5C"/>
                </a:solidFill>
                <a:latin typeface="Arial" pitchFamily="34" charset="0"/>
                <a:ea typeface="Arial" pitchFamily="34" charset="-122"/>
                <a:cs typeface="Arial" pitchFamily="34" charset="-120"/>
              </a:rPr>
              <a:t>First generation = VACUUM TUBES. Remember ENIAC, EDVAC and UNIVAC I.</a:t>
            </a:r>
            <a:endParaRPr lang="en-US" sz="950" dirty="0"/>
          </a:p>
        </p:txBody>
      </p:sp>
      <p:sp>
        <p:nvSpPr>
          <p:cNvPr id="35" name="Text 33"/>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2 Generation: Second Generation</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Period • 1955–1964    |    Main technology • Transistors</a:t>
            </a:r>
            <a:endParaRPr lang="en-US" sz="1300" dirty="0"/>
          </a:p>
        </p:txBody>
      </p:sp>
      <p:sp>
        <p:nvSpPr>
          <p:cNvPr id="4" name="Shape 2"/>
          <p:cNvSpPr/>
          <p:nvPr/>
        </p:nvSpPr>
        <p:spPr>
          <a:xfrm>
            <a:off x="548640" y="1463040"/>
            <a:ext cx="2331720" cy="3246120"/>
          </a:xfrm>
          <a:prstGeom prst="roundRect">
            <a:avLst>
              <a:gd name="adj" fmla="val 3922"/>
            </a:avLst>
          </a:prstGeom>
          <a:solidFill>
            <a:srgbClr val="FFFFFF"/>
          </a:solidFill>
          <a:ln w="9525">
            <a:solidFill>
              <a:srgbClr val="E3E7F0"/>
            </a:solidFill>
            <a:prstDash val="solid"/>
          </a:ln>
          <a:effectLst>
            <a:outerShdw sx="100000" sy="100000" kx="0" ky="0" algn="bl" rotWithShape="0" blurRad="76200" dist="25400" dir="5400000">
              <a:srgbClr val="1B2B4A">
                <a:alpha val="15000"/>
              </a:srgbClr>
            </a:outerShdw>
          </a:effectLst>
        </p:spPr>
      </p:sp>
      <p:sp>
        <p:nvSpPr>
          <p:cNvPr id="5" name="Shape 3"/>
          <p:cNvSpPr/>
          <p:nvPr/>
        </p:nvSpPr>
        <p:spPr>
          <a:xfrm>
            <a:off x="1234440" y="2194560"/>
            <a:ext cx="914400" cy="914400"/>
          </a:xfrm>
          <a:prstGeom prst="roundRect">
            <a:avLst>
              <a:gd name="adj" fmla="val 12000"/>
            </a:avLst>
          </a:prstGeom>
          <a:solidFill>
            <a:srgbClr val="E8963C"/>
          </a:solidFill>
          <a:ln/>
        </p:spPr>
      </p:sp>
      <p:sp>
        <p:nvSpPr>
          <p:cNvPr id="6" name="Text 4"/>
          <p:cNvSpPr txBox="1"/>
          <p:nvPr/>
        </p:nvSpPr>
        <p:spPr>
          <a:xfrm>
            <a:off x="685800" y="3246120"/>
            <a:ext cx="2057400" cy="457200"/>
          </a:xfrm>
          <a:prstGeom prst="rect">
            <a:avLst/>
          </a:prstGeom>
          <a:noFill/>
          <a:ln/>
        </p:spPr>
        <p:txBody>
          <a:bodyPr wrap="square" rtlCol="0" anchor="ctr"/>
          <a:lstStyle/>
          <a:p>
            <a:pPr algn="ctr" indent="0" marL="0">
              <a:buNone/>
            </a:pPr>
            <a:r>
              <a:rPr lang="en-US" sz="1050" b="1" dirty="0">
                <a:solidFill>
                  <a:srgbClr val="16223D"/>
                </a:solidFill>
                <a:latin typeface="Arial" pitchFamily="34" charset="0"/>
                <a:ea typeface="Arial" pitchFamily="34" charset="-122"/>
                <a:cs typeface="Arial" pitchFamily="34" charset="-120"/>
              </a:rPr>
              <a:t>TRANSISTOR</a:t>
            </a:r>
            <a:endParaRPr lang="en-US" sz="1050" dirty="0"/>
          </a:p>
        </p:txBody>
      </p:sp>
      <p:sp>
        <p:nvSpPr>
          <p:cNvPr id="7" name="Shape 5"/>
          <p:cNvSpPr/>
          <p:nvPr/>
        </p:nvSpPr>
        <p:spPr>
          <a:xfrm>
            <a:off x="3063240" y="1463040"/>
            <a:ext cx="3977640" cy="1417320"/>
          </a:xfrm>
          <a:prstGeom prst="roundRect">
            <a:avLst>
              <a:gd name="adj" fmla="val 5161"/>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8" name="Shape 6"/>
          <p:cNvSpPr/>
          <p:nvPr/>
        </p:nvSpPr>
        <p:spPr>
          <a:xfrm>
            <a:off x="3063240" y="1536192"/>
            <a:ext cx="54864" cy="1271016"/>
          </a:xfrm>
          <a:prstGeom prst="rect">
            <a:avLst/>
          </a:prstGeom>
          <a:solidFill>
            <a:srgbClr val="E8963C"/>
          </a:solidFill>
          <a:ln/>
        </p:spPr>
      </p:sp>
      <p:sp>
        <p:nvSpPr>
          <p:cNvPr id="9" name="Text 7"/>
          <p:cNvSpPr txBox="1"/>
          <p:nvPr/>
        </p:nvSpPr>
        <p:spPr>
          <a:xfrm>
            <a:off x="3319272" y="159105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Examples</a:t>
            </a:r>
            <a:endParaRPr lang="en-US" sz="1300" dirty="0"/>
          </a:p>
        </p:txBody>
      </p:sp>
      <p:sp>
        <p:nvSpPr>
          <p:cNvPr id="10" name="Text 8"/>
          <p:cNvSpPr txBox="1"/>
          <p:nvPr/>
        </p:nvSpPr>
        <p:spPr>
          <a:xfrm>
            <a:off x="3319272" y="1911096"/>
            <a:ext cx="3520440" cy="914400"/>
          </a:xfrm>
          <a:prstGeom prst="rect">
            <a:avLst/>
          </a:prstGeom>
          <a:noFill/>
          <a:ln/>
        </p:spPr>
        <p:txBody>
          <a:bodyPr wrap="square" lIns="0" tIns="0" rIns="0" bIns="0" rtlCol="0" anchor="t"/>
          <a:lstStyle/>
          <a:p>
            <a:pPr indent="0" marL="0">
              <a:lnSpc>
                <a:spcPct val="115000"/>
              </a:lnSpc>
              <a:buNone/>
            </a:pPr>
            <a:r>
              <a:rPr lang="en-US" sz="1200" dirty="0">
                <a:solidFill>
                  <a:srgbClr val="444C5C"/>
                </a:solidFill>
                <a:latin typeface="Arial" pitchFamily="34" charset="0"/>
                <a:ea typeface="Arial" pitchFamily="34" charset="-122"/>
                <a:cs typeface="Arial" pitchFamily="34" charset="-120"/>
              </a:rPr>
              <a:t>IBM 1401, IBM 1620, UNIVAC 1108</a:t>
            </a:r>
            <a:endParaRPr lang="en-US" sz="1200" dirty="0"/>
          </a:p>
        </p:txBody>
      </p:sp>
      <p:sp>
        <p:nvSpPr>
          <p:cNvPr id="11" name="Shape 9"/>
          <p:cNvSpPr/>
          <p:nvPr/>
        </p:nvSpPr>
        <p:spPr>
          <a:xfrm>
            <a:off x="7863840" y="1463040"/>
            <a:ext cx="3977640" cy="1417320"/>
          </a:xfrm>
          <a:prstGeom prst="roundRect">
            <a:avLst>
              <a:gd name="adj" fmla="val 5161"/>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2" name="Shape 10"/>
          <p:cNvSpPr/>
          <p:nvPr/>
        </p:nvSpPr>
        <p:spPr>
          <a:xfrm>
            <a:off x="7863840" y="1536192"/>
            <a:ext cx="54864" cy="1271016"/>
          </a:xfrm>
          <a:prstGeom prst="rect">
            <a:avLst/>
          </a:prstGeom>
          <a:solidFill>
            <a:srgbClr val="E8963C"/>
          </a:solidFill>
          <a:ln/>
        </p:spPr>
      </p:sp>
      <p:sp>
        <p:nvSpPr>
          <p:cNvPr id="13" name="Text 11"/>
          <p:cNvSpPr txBox="1"/>
          <p:nvPr/>
        </p:nvSpPr>
        <p:spPr>
          <a:xfrm>
            <a:off x="8119872" y="159105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Main Technology</a:t>
            </a:r>
            <a:endParaRPr lang="en-US" sz="1300" dirty="0"/>
          </a:p>
        </p:txBody>
      </p:sp>
      <p:sp>
        <p:nvSpPr>
          <p:cNvPr id="14" name="Text 12"/>
          <p:cNvSpPr txBox="1"/>
          <p:nvPr/>
        </p:nvSpPr>
        <p:spPr>
          <a:xfrm>
            <a:off x="8119872" y="1911096"/>
            <a:ext cx="3520440" cy="914400"/>
          </a:xfrm>
          <a:prstGeom prst="rect">
            <a:avLst/>
          </a:prstGeom>
          <a:noFill/>
          <a:ln/>
        </p:spPr>
        <p:txBody>
          <a:bodyPr wrap="square" lIns="0" tIns="0" rIns="0" bIns="0" rtlCol="0" anchor="t"/>
          <a:lstStyle/>
          <a:p>
            <a:pPr indent="0" marL="0">
              <a:lnSpc>
                <a:spcPct val="115000"/>
              </a:lnSpc>
              <a:buNone/>
            </a:pPr>
            <a:r>
              <a:rPr lang="en-US" sz="1200" dirty="0">
                <a:solidFill>
                  <a:srgbClr val="444C5C"/>
                </a:solidFill>
                <a:latin typeface="Arial" pitchFamily="34" charset="0"/>
                <a:ea typeface="Arial" pitchFamily="34" charset="-122"/>
                <a:cs typeface="Arial" pitchFamily="34" charset="-120"/>
              </a:rPr>
              <a:t>Transistors</a:t>
            </a:r>
            <a:endParaRPr lang="en-US" sz="1200" dirty="0"/>
          </a:p>
        </p:txBody>
      </p:sp>
      <p:sp>
        <p:nvSpPr>
          <p:cNvPr id="15" name="Shape 13"/>
          <p:cNvSpPr/>
          <p:nvPr/>
        </p:nvSpPr>
        <p:spPr>
          <a:xfrm>
            <a:off x="3063240" y="3017520"/>
            <a:ext cx="3977640" cy="1691640"/>
          </a:xfrm>
          <a:prstGeom prst="roundRect">
            <a:avLst>
              <a:gd name="adj" fmla="val 4324"/>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6" name="Shape 14"/>
          <p:cNvSpPr/>
          <p:nvPr/>
        </p:nvSpPr>
        <p:spPr>
          <a:xfrm>
            <a:off x="3063240" y="3090672"/>
            <a:ext cx="54864" cy="1545336"/>
          </a:xfrm>
          <a:prstGeom prst="rect">
            <a:avLst/>
          </a:prstGeom>
          <a:solidFill>
            <a:srgbClr val="E8963C"/>
          </a:solidFill>
          <a:ln/>
        </p:spPr>
      </p:sp>
      <p:sp>
        <p:nvSpPr>
          <p:cNvPr id="17" name="Text 15"/>
          <p:cNvSpPr txBox="1"/>
          <p:nvPr/>
        </p:nvSpPr>
        <p:spPr>
          <a:xfrm>
            <a:off x="3319272" y="314553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Important Features</a:t>
            </a:r>
            <a:endParaRPr lang="en-US" sz="1300" dirty="0"/>
          </a:p>
        </p:txBody>
      </p:sp>
      <p:sp>
        <p:nvSpPr>
          <p:cNvPr id="18" name="Text 16"/>
          <p:cNvSpPr txBox="1"/>
          <p:nvPr/>
        </p:nvSpPr>
        <p:spPr>
          <a:xfrm>
            <a:off x="3319272" y="3465576"/>
            <a:ext cx="3520440" cy="1188720"/>
          </a:xfrm>
          <a:prstGeom prst="rect">
            <a:avLst/>
          </a:prstGeom>
          <a:noFill/>
          <a:ln/>
        </p:spPr>
        <p:txBody>
          <a:bodyPr wrap="square" lIns="0" tIns="0" rIns="0" bIns="0" rtlCol="0" anchor="t"/>
          <a:lstStyle/>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Smaller than first generation</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Faster and more reliable</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Less heat and power use</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Magnetic core memory was common</a:t>
            </a:r>
            <a:endParaRPr lang="en-US" sz="1050" dirty="0"/>
          </a:p>
        </p:txBody>
      </p:sp>
      <p:sp>
        <p:nvSpPr>
          <p:cNvPr id="19" name="Shape 17"/>
          <p:cNvSpPr/>
          <p:nvPr/>
        </p:nvSpPr>
        <p:spPr>
          <a:xfrm>
            <a:off x="7863840" y="3017520"/>
            <a:ext cx="3977640" cy="1691640"/>
          </a:xfrm>
          <a:prstGeom prst="roundRect">
            <a:avLst>
              <a:gd name="adj" fmla="val 4324"/>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0" name="Shape 18"/>
          <p:cNvSpPr/>
          <p:nvPr/>
        </p:nvSpPr>
        <p:spPr>
          <a:xfrm>
            <a:off x="7863840" y="3090672"/>
            <a:ext cx="54864" cy="1545336"/>
          </a:xfrm>
          <a:prstGeom prst="rect">
            <a:avLst/>
          </a:prstGeom>
          <a:solidFill>
            <a:srgbClr val="E8963C"/>
          </a:solidFill>
          <a:ln/>
        </p:spPr>
      </p:sp>
      <p:sp>
        <p:nvSpPr>
          <p:cNvPr id="21" name="Text 19"/>
          <p:cNvSpPr txBox="1"/>
          <p:nvPr/>
        </p:nvSpPr>
        <p:spPr>
          <a:xfrm>
            <a:off x="8119872" y="314553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Languages / Software</a:t>
            </a:r>
            <a:endParaRPr lang="en-US" sz="1300" dirty="0"/>
          </a:p>
        </p:txBody>
      </p:sp>
      <p:sp>
        <p:nvSpPr>
          <p:cNvPr id="22" name="Text 20"/>
          <p:cNvSpPr txBox="1"/>
          <p:nvPr/>
        </p:nvSpPr>
        <p:spPr>
          <a:xfrm>
            <a:off x="8119872" y="3465576"/>
            <a:ext cx="3520440" cy="1188720"/>
          </a:xfrm>
          <a:prstGeom prst="rect">
            <a:avLst/>
          </a:prstGeom>
          <a:noFill/>
          <a:ln/>
        </p:spPr>
        <p:txBody>
          <a:bodyPr wrap="square" lIns="0" tIns="0" rIns="0" bIns="0" rtlCol="0" anchor="t"/>
          <a:lstStyle/>
          <a:p>
            <a:pPr indent="0" marL="0">
              <a:lnSpc>
                <a:spcPct val="115000"/>
              </a:lnSpc>
              <a:buNone/>
            </a:pPr>
            <a:r>
              <a:rPr lang="en-US" sz="1150" dirty="0">
                <a:solidFill>
                  <a:srgbClr val="444C5C"/>
                </a:solidFill>
                <a:latin typeface="Arial" pitchFamily="34" charset="0"/>
                <a:ea typeface="Arial" pitchFamily="34" charset="-122"/>
                <a:cs typeface="Arial" pitchFamily="34" charset="-120"/>
              </a:rPr>
              <a:t>Assembly language; FORTRAN, COBOL and other high-level languages</a:t>
            </a:r>
            <a:endParaRPr lang="en-US" sz="1150" dirty="0"/>
          </a:p>
        </p:txBody>
      </p:sp>
      <p:sp>
        <p:nvSpPr>
          <p:cNvPr id="23" name="Shape 21"/>
          <p:cNvSpPr/>
          <p:nvPr/>
        </p:nvSpPr>
        <p:spPr>
          <a:xfrm>
            <a:off x="54864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4" name="Shape 22"/>
          <p:cNvSpPr/>
          <p:nvPr/>
        </p:nvSpPr>
        <p:spPr>
          <a:xfrm>
            <a:off x="548640" y="4965192"/>
            <a:ext cx="54864" cy="1362456"/>
          </a:xfrm>
          <a:prstGeom prst="rect">
            <a:avLst/>
          </a:prstGeom>
          <a:solidFill>
            <a:srgbClr val="E8963C"/>
          </a:solidFill>
          <a:ln/>
        </p:spPr>
      </p:sp>
      <p:sp>
        <p:nvSpPr>
          <p:cNvPr id="25" name="Text 23"/>
          <p:cNvSpPr txBox="1"/>
          <p:nvPr/>
        </p:nvSpPr>
        <p:spPr>
          <a:xfrm>
            <a:off x="80467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Advantages</a:t>
            </a:r>
            <a:endParaRPr lang="en-US" sz="1200" dirty="0"/>
          </a:p>
        </p:txBody>
      </p:sp>
      <p:sp>
        <p:nvSpPr>
          <p:cNvPr id="26" name="Text 24"/>
          <p:cNvSpPr txBox="1"/>
          <p:nvPr/>
        </p:nvSpPr>
        <p:spPr>
          <a:xfrm>
            <a:off x="804672" y="5340096"/>
            <a:ext cx="3200400" cy="1005840"/>
          </a:xfrm>
          <a:prstGeom prst="rect">
            <a:avLst/>
          </a:prstGeom>
          <a:noFill/>
          <a:ln/>
        </p:spPr>
        <p:txBody>
          <a:bodyPr wrap="square" lIns="0" tIns="0" rIns="0" bIns="0" rtlCol="0" anchor="t"/>
          <a:lstStyle/>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More reliable</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Smaller size</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Lower power consumption</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Better speed</a:t>
            </a:r>
            <a:endParaRPr lang="en-US" sz="950" dirty="0"/>
          </a:p>
        </p:txBody>
      </p:sp>
      <p:sp>
        <p:nvSpPr>
          <p:cNvPr id="27" name="Shape 25"/>
          <p:cNvSpPr/>
          <p:nvPr/>
        </p:nvSpPr>
        <p:spPr>
          <a:xfrm>
            <a:off x="448056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8" name="Shape 26"/>
          <p:cNvSpPr/>
          <p:nvPr/>
        </p:nvSpPr>
        <p:spPr>
          <a:xfrm>
            <a:off x="4480560" y="4965192"/>
            <a:ext cx="54864" cy="1362456"/>
          </a:xfrm>
          <a:prstGeom prst="rect">
            <a:avLst/>
          </a:prstGeom>
          <a:solidFill>
            <a:srgbClr val="E8963C"/>
          </a:solidFill>
          <a:ln/>
        </p:spPr>
      </p:sp>
      <p:sp>
        <p:nvSpPr>
          <p:cNvPr id="29" name="Text 27"/>
          <p:cNvSpPr txBox="1"/>
          <p:nvPr/>
        </p:nvSpPr>
        <p:spPr>
          <a:xfrm>
            <a:off x="473659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Limitations</a:t>
            </a:r>
            <a:endParaRPr lang="en-US" sz="1200" dirty="0"/>
          </a:p>
        </p:txBody>
      </p:sp>
      <p:sp>
        <p:nvSpPr>
          <p:cNvPr id="30" name="Text 28"/>
          <p:cNvSpPr txBox="1"/>
          <p:nvPr/>
        </p:nvSpPr>
        <p:spPr>
          <a:xfrm>
            <a:off x="4736592" y="5340096"/>
            <a:ext cx="3200400" cy="1005840"/>
          </a:xfrm>
          <a:prstGeom prst="rect">
            <a:avLst/>
          </a:prstGeom>
          <a:noFill/>
          <a:ln/>
        </p:spPr>
        <p:txBody>
          <a:bodyPr wrap="square" lIns="0" tIns="0" rIns="0" bIns="0" rtlCol="0" anchor="t"/>
          <a:lstStyle/>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Still costly</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Required cooling and maintenance</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Input/output often used punched cards</a:t>
            </a:r>
            <a:endParaRPr lang="en-US" sz="950" dirty="0"/>
          </a:p>
        </p:txBody>
      </p:sp>
      <p:sp>
        <p:nvSpPr>
          <p:cNvPr id="31" name="Shape 29"/>
          <p:cNvSpPr/>
          <p:nvPr/>
        </p:nvSpPr>
        <p:spPr>
          <a:xfrm>
            <a:off x="841248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32" name="Shape 30"/>
          <p:cNvSpPr/>
          <p:nvPr/>
        </p:nvSpPr>
        <p:spPr>
          <a:xfrm>
            <a:off x="8412480" y="4965192"/>
            <a:ext cx="54864" cy="1362456"/>
          </a:xfrm>
          <a:prstGeom prst="rect">
            <a:avLst/>
          </a:prstGeom>
          <a:solidFill>
            <a:srgbClr val="E8963C"/>
          </a:solidFill>
          <a:ln/>
        </p:spPr>
      </p:sp>
      <p:sp>
        <p:nvSpPr>
          <p:cNvPr id="33" name="Text 31"/>
          <p:cNvSpPr txBox="1"/>
          <p:nvPr/>
        </p:nvSpPr>
        <p:spPr>
          <a:xfrm>
            <a:off x="866851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Exam Key Point</a:t>
            </a:r>
            <a:endParaRPr lang="en-US" sz="1200" dirty="0"/>
          </a:p>
        </p:txBody>
      </p:sp>
      <p:sp>
        <p:nvSpPr>
          <p:cNvPr id="34" name="Text 32"/>
          <p:cNvSpPr txBox="1"/>
          <p:nvPr/>
        </p:nvSpPr>
        <p:spPr>
          <a:xfrm>
            <a:off x="8668512" y="5340096"/>
            <a:ext cx="3200400" cy="1005840"/>
          </a:xfrm>
          <a:prstGeom prst="rect">
            <a:avLst/>
          </a:prstGeom>
          <a:noFill/>
          <a:ln/>
        </p:spPr>
        <p:txBody>
          <a:bodyPr wrap="square" lIns="0" tIns="0" rIns="0" bIns="0" rtlCol="0" anchor="t"/>
          <a:lstStyle/>
          <a:p>
            <a:pPr indent="0" marL="0">
              <a:lnSpc>
                <a:spcPct val="115000"/>
              </a:lnSpc>
              <a:buNone/>
            </a:pPr>
            <a:r>
              <a:rPr lang="en-US" sz="950" dirty="0">
                <a:solidFill>
                  <a:srgbClr val="444C5C"/>
                </a:solidFill>
                <a:latin typeface="Arial" pitchFamily="34" charset="0"/>
                <a:ea typeface="Arial" pitchFamily="34" charset="-122"/>
                <a:cs typeface="Arial" pitchFamily="34" charset="-120"/>
              </a:rPr>
              <a:t>Second generation = TRANSISTORS. The transistor replaced the vacuum tube.</a:t>
            </a:r>
            <a:endParaRPr lang="en-US" sz="950" dirty="0"/>
          </a:p>
        </p:txBody>
      </p:sp>
      <p:sp>
        <p:nvSpPr>
          <p:cNvPr id="35" name="Text 33"/>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3 Generation: Third Generation</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Period • 1964–1975    |    Main technology • Integrated Circuits (IC)</a:t>
            </a:r>
            <a:endParaRPr lang="en-US" sz="1300" dirty="0"/>
          </a:p>
        </p:txBody>
      </p:sp>
      <p:sp>
        <p:nvSpPr>
          <p:cNvPr id="4" name="Shape 2"/>
          <p:cNvSpPr/>
          <p:nvPr/>
        </p:nvSpPr>
        <p:spPr>
          <a:xfrm>
            <a:off x="548640" y="1463040"/>
            <a:ext cx="2331720" cy="3246120"/>
          </a:xfrm>
          <a:prstGeom prst="roundRect">
            <a:avLst>
              <a:gd name="adj" fmla="val 3922"/>
            </a:avLst>
          </a:prstGeom>
          <a:solidFill>
            <a:srgbClr val="FFFFFF"/>
          </a:solidFill>
          <a:ln w="9525">
            <a:solidFill>
              <a:srgbClr val="E3E7F0"/>
            </a:solidFill>
            <a:prstDash val="solid"/>
          </a:ln>
          <a:effectLst>
            <a:outerShdw sx="100000" sy="100000" kx="0" ky="0" algn="bl" rotWithShape="0" blurRad="76200" dist="25400" dir="5400000">
              <a:srgbClr val="1B2B4A">
                <a:alpha val="15000"/>
              </a:srgbClr>
            </a:outerShdw>
          </a:effectLst>
        </p:spPr>
      </p:sp>
      <p:sp>
        <p:nvSpPr>
          <p:cNvPr id="5" name="Shape 3"/>
          <p:cNvSpPr/>
          <p:nvPr/>
        </p:nvSpPr>
        <p:spPr>
          <a:xfrm>
            <a:off x="1234440" y="2194560"/>
            <a:ext cx="914400" cy="914400"/>
          </a:xfrm>
          <a:prstGeom prst="roundRect">
            <a:avLst>
              <a:gd name="adj" fmla="val 12000"/>
            </a:avLst>
          </a:prstGeom>
          <a:solidFill>
            <a:srgbClr val="4A9E6C"/>
          </a:solidFill>
          <a:ln/>
        </p:spPr>
      </p:sp>
      <p:sp>
        <p:nvSpPr>
          <p:cNvPr id="6" name="Text 4"/>
          <p:cNvSpPr txBox="1"/>
          <p:nvPr/>
        </p:nvSpPr>
        <p:spPr>
          <a:xfrm>
            <a:off x="685800" y="3246120"/>
            <a:ext cx="2057400" cy="457200"/>
          </a:xfrm>
          <a:prstGeom prst="rect">
            <a:avLst/>
          </a:prstGeom>
          <a:noFill/>
          <a:ln/>
        </p:spPr>
        <p:txBody>
          <a:bodyPr wrap="square" rtlCol="0" anchor="ctr"/>
          <a:lstStyle/>
          <a:p>
            <a:pPr algn="ctr" indent="0" marL="0">
              <a:buNone/>
            </a:pPr>
            <a:r>
              <a:rPr lang="en-US" sz="1050" b="1" dirty="0">
                <a:solidFill>
                  <a:srgbClr val="16223D"/>
                </a:solidFill>
                <a:latin typeface="Arial" pitchFamily="34" charset="0"/>
                <a:ea typeface="Arial" pitchFamily="34" charset="-122"/>
                <a:cs typeface="Arial" pitchFamily="34" charset="-120"/>
              </a:rPr>
              <a:t>INTEGRATED CIRCUIT (IC)</a:t>
            </a:r>
            <a:endParaRPr lang="en-US" sz="1050" dirty="0"/>
          </a:p>
        </p:txBody>
      </p:sp>
      <p:sp>
        <p:nvSpPr>
          <p:cNvPr id="7" name="Shape 5"/>
          <p:cNvSpPr/>
          <p:nvPr/>
        </p:nvSpPr>
        <p:spPr>
          <a:xfrm>
            <a:off x="3063240" y="1463040"/>
            <a:ext cx="3977640" cy="1417320"/>
          </a:xfrm>
          <a:prstGeom prst="roundRect">
            <a:avLst>
              <a:gd name="adj" fmla="val 5161"/>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8" name="Shape 6"/>
          <p:cNvSpPr/>
          <p:nvPr/>
        </p:nvSpPr>
        <p:spPr>
          <a:xfrm>
            <a:off x="3063240" y="1536192"/>
            <a:ext cx="54864" cy="1271016"/>
          </a:xfrm>
          <a:prstGeom prst="rect">
            <a:avLst/>
          </a:prstGeom>
          <a:solidFill>
            <a:srgbClr val="4A9E6C"/>
          </a:solidFill>
          <a:ln/>
        </p:spPr>
      </p:sp>
      <p:sp>
        <p:nvSpPr>
          <p:cNvPr id="9" name="Text 7"/>
          <p:cNvSpPr txBox="1"/>
          <p:nvPr/>
        </p:nvSpPr>
        <p:spPr>
          <a:xfrm>
            <a:off x="3319272" y="159105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Examples</a:t>
            </a:r>
            <a:endParaRPr lang="en-US" sz="1300" dirty="0"/>
          </a:p>
        </p:txBody>
      </p:sp>
      <p:sp>
        <p:nvSpPr>
          <p:cNvPr id="10" name="Text 8"/>
          <p:cNvSpPr txBox="1"/>
          <p:nvPr/>
        </p:nvSpPr>
        <p:spPr>
          <a:xfrm>
            <a:off x="3319272" y="1911096"/>
            <a:ext cx="3520440" cy="914400"/>
          </a:xfrm>
          <a:prstGeom prst="rect">
            <a:avLst/>
          </a:prstGeom>
          <a:noFill/>
          <a:ln/>
        </p:spPr>
        <p:txBody>
          <a:bodyPr wrap="square" lIns="0" tIns="0" rIns="0" bIns="0" rtlCol="0" anchor="t"/>
          <a:lstStyle/>
          <a:p>
            <a:pPr indent="0" marL="0">
              <a:lnSpc>
                <a:spcPct val="115000"/>
              </a:lnSpc>
              <a:buNone/>
            </a:pPr>
            <a:r>
              <a:rPr lang="en-US" sz="1200" dirty="0">
                <a:solidFill>
                  <a:srgbClr val="444C5C"/>
                </a:solidFill>
                <a:latin typeface="Arial" pitchFamily="34" charset="0"/>
                <a:ea typeface="Arial" pitchFamily="34" charset="-122"/>
                <a:cs typeface="Arial" pitchFamily="34" charset="-120"/>
              </a:rPr>
              <a:t>IBM System/360, Honeywell 6000 series</a:t>
            </a:r>
            <a:endParaRPr lang="en-US" sz="1200" dirty="0"/>
          </a:p>
        </p:txBody>
      </p:sp>
      <p:sp>
        <p:nvSpPr>
          <p:cNvPr id="11" name="Shape 9"/>
          <p:cNvSpPr/>
          <p:nvPr/>
        </p:nvSpPr>
        <p:spPr>
          <a:xfrm>
            <a:off x="7863840" y="1463040"/>
            <a:ext cx="3977640" cy="1417320"/>
          </a:xfrm>
          <a:prstGeom prst="roundRect">
            <a:avLst>
              <a:gd name="adj" fmla="val 5161"/>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2" name="Shape 10"/>
          <p:cNvSpPr/>
          <p:nvPr/>
        </p:nvSpPr>
        <p:spPr>
          <a:xfrm>
            <a:off x="7863840" y="1536192"/>
            <a:ext cx="54864" cy="1271016"/>
          </a:xfrm>
          <a:prstGeom prst="rect">
            <a:avLst/>
          </a:prstGeom>
          <a:solidFill>
            <a:srgbClr val="4A9E6C"/>
          </a:solidFill>
          <a:ln/>
        </p:spPr>
      </p:sp>
      <p:sp>
        <p:nvSpPr>
          <p:cNvPr id="13" name="Text 11"/>
          <p:cNvSpPr txBox="1"/>
          <p:nvPr/>
        </p:nvSpPr>
        <p:spPr>
          <a:xfrm>
            <a:off x="8119872" y="159105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Main Technology</a:t>
            </a:r>
            <a:endParaRPr lang="en-US" sz="1300" dirty="0"/>
          </a:p>
        </p:txBody>
      </p:sp>
      <p:sp>
        <p:nvSpPr>
          <p:cNvPr id="14" name="Text 12"/>
          <p:cNvSpPr txBox="1"/>
          <p:nvPr/>
        </p:nvSpPr>
        <p:spPr>
          <a:xfrm>
            <a:off x="8119872" y="1911096"/>
            <a:ext cx="3520440" cy="914400"/>
          </a:xfrm>
          <a:prstGeom prst="rect">
            <a:avLst/>
          </a:prstGeom>
          <a:noFill/>
          <a:ln/>
        </p:spPr>
        <p:txBody>
          <a:bodyPr wrap="square" lIns="0" tIns="0" rIns="0" bIns="0" rtlCol="0" anchor="t"/>
          <a:lstStyle/>
          <a:p>
            <a:pPr indent="0" marL="0">
              <a:lnSpc>
                <a:spcPct val="115000"/>
              </a:lnSpc>
              <a:buNone/>
            </a:pPr>
            <a:r>
              <a:rPr lang="en-US" sz="1200" dirty="0">
                <a:solidFill>
                  <a:srgbClr val="444C5C"/>
                </a:solidFill>
                <a:latin typeface="Arial" pitchFamily="34" charset="0"/>
                <a:ea typeface="Arial" pitchFamily="34" charset="-122"/>
                <a:cs typeface="Arial" pitchFamily="34" charset="-120"/>
              </a:rPr>
              <a:t>Integrated Circuits (IC)</a:t>
            </a:r>
            <a:endParaRPr lang="en-US" sz="1200" dirty="0"/>
          </a:p>
        </p:txBody>
      </p:sp>
      <p:sp>
        <p:nvSpPr>
          <p:cNvPr id="15" name="Shape 13"/>
          <p:cNvSpPr/>
          <p:nvPr/>
        </p:nvSpPr>
        <p:spPr>
          <a:xfrm>
            <a:off x="3063240" y="3017520"/>
            <a:ext cx="3977640" cy="1691640"/>
          </a:xfrm>
          <a:prstGeom prst="roundRect">
            <a:avLst>
              <a:gd name="adj" fmla="val 4324"/>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6" name="Shape 14"/>
          <p:cNvSpPr/>
          <p:nvPr/>
        </p:nvSpPr>
        <p:spPr>
          <a:xfrm>
            <a:off x="3063240" y="3090672"/>
            <a:ext cx="54864" cy="1545336"/>
          </a:xfrm>
          <a:prstGeom prst="rect">
            <a:avLst/>
          </a:prstGeom>
          <a:solidFill>
            <a:srgbClr val="4A9E6C"/>
          </a:solidFill>
          <a:ln/>
        </p:spPr>
      </p:sp>
      <p:sp>
        <p:nvSpPr>
          <p:cNvPr id="17" name="Text 15"/>
          <p:cNvSpPr txBox="1"/>
          <p:nvPr/>
        </p:nvSpPr>
        <p:spPr>
          <a:xfrm>
            <a:off x="3319272" y="314553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Important Features</a:t>
            </a:r>
            <a:endParaRPr lang="en-US" sz="1300" dirty="0"/>
          </a:p>
        </p:txBody>
      </p:sp>
      <p:sp>
        <p:nvSpPr>
          <p:cNvPr id="18" name="Text 16"/>
          <p:cNvSpPr txBox="1"/>
          <p:nvPr/>
        </p:nvSpPr>
        <p:spPr>
          <a:xfrm>
            <a:off x="3319272" y="3465576"/>
            <a:ext cx="3520440" cy="1188720"/>
          </a:xfrm>
          <a:prstGeom prst="rect">
            <a:avLst/>
          </a:prstGeom>
          <a:noFill/>
          <a:ln/>
        </p:spPr>
        <p:txBody>
          <a:bodyPr wrap="square" lIns="0" tIns="0" rIns="0" bIns="0" rtlCol="0" anchor="t"/>
          <a:lstStyle/>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Many electronic components placed on one IC</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Smaller, faster and more reliable</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Operating systems became important</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Multiprogramming and time-sharing developed</a:t>
            </a:r>
            <a:endParaRPr lang="en-US" sz="1050" dirty="0"/>
          </a:p>
        </p:txBody>
      </p:sp>
      <p:sp>
        <p:nvSpPr>
          <p:cNvPr id="19" name="Shape 17"/>
          <p:cNvSpPr/>
          <p:nvPr/>
        </p:nvSpPr>
        <p:spPr>
          <a:xfrm>
            <a:off x="7863840" y="3017520"/>
            <a:ext cx="3977640" cy="1691640"/>
          </a:xfrm>
          <a:prstGeom prst="roundRect">
            <a:avLst>
              <a:gd name="adj" fmla="val 4324"/>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0" name="Shape 18"/>
          <p:cNvSpPr/>
          <p:nvPr/>
        </p:nvSpPr>
        <p:spPr>
          <a:xfrm>
            <a:off x="7863840" y="3090672"/>
            <a:ext cx="54864" cy="1545336"/>
          </a:xfrm>
          <a:prstGeom prst="rect">
            <a:avLst/>
          </a:prstGeom>
          <a:solidFill>
            <a:srgbClr val="4A9E6C"/>
          </a:solidFill>
          <a:ln/>
        </p:spPr>
      </p:sp>
      <p:sp>
        <p:nvSpPr>
          <p:cNvPr id="21" name="Text 19"/>
          <p:cNvSpPr txBox="1"/>
          <p:nvPr/>
        </p:nvSpPr>
        <p:spPr>
          <a:xfrm>
            <a:off x="8119872" y="314553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Languages / Software</a:t>
            </a:r>
            <a:endParaRPr lang="en-US" sz="1300" dirty="0"/>
          </a:p>
        </p:txBody>
      </p:sp>
      <p:sp>
        <p:nvSpPr>
          <p:cNvPr id="22" name="Text 20"/>
          <p:cNvSpPr txBox="1"/>
          <p:nvPr/>
        </p:nvSpPr>
        <p:spPr>
          <a:xfrm>
            <a:off x="8119872" y="3465576"/>
            <a:ext cx="3520440" cy="1188720"/>
          </a:xfrm>
          <a:prstGeom prst="rect">
            <a:avLst/>
          </a:prstGeom>
          <a:noFill/>
          <a:ln/>
        </p:spPr>
        <p:txBody>
          <a:bodyPr wrap="square" lIns="0" tIns="0" rIns="0" bIns="0" rtlCol="0" anchor="t"/>
          <a:lstStyle/>
          <a:p>
            <a:pPr indent="0" marL="0">
              <a:lnSpc>
                <a:spcPct val="115000"/>
              </a:lnSpc>
              <a:buNone/>
            </a:pPr>
            <a:r>
              <a:rPr lang="en-US" sz="1150" dirty="0">
                <a:solidFill>
                  <a:srgbClr val="444C5C"/>
                </a:solidFill>
                <a:latin typeface="Arial" pitchFamily="34" charset="0"/>
                <a:ea typeface="Arial" pitchFamily="34" charset="-122"/>
                <a:cs typeface="Arial" pitchFamily="34" charset="-120"/>
              </a:rPr>
              <a:t>FORTRAN, COBOL, BASIC and other high-level languages</a:t>
            </a:r>
            <a:endParaRPr lang="en-US" sz="1150" dirty="0"/>
          </a:p>
        </p:txBody>
      </p:sp>
      <p:sp>
        <p:nvSpPr>
          <p:cNvPr id="23" name="Shape 21"/>
          <p:cNvSpPr/>
          <p:nvPr/>
        </p:nvSpPr>
        <p:spPr>
          <a:xfrm>
            <a:off x="54864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4" name="Shape 22"/>
          <p:cNvSpPr/>
          <p:nvPr/>
        </p:nvSpPr>
        <p:spPr>
          <a:xfrm>
            <a:off x="548640" y="4965192"/>
            <a:ext cx="54864" cy="1362456"/>
          </a:xfrm>
          <a:prstGeom prst="rect">
            <a:avLst/>
          </a:prstGeom>
          <a:solidFill>
            <a:srgbClr val="4A9E6C"/>
          </a:solidFill>
          <a:ln/>
        </p:spPr>
      </p:sp>
      <p:sp>
        <p:nvSpPr>
          <p:cNvPr id="25" name="Text 23"/>
          <p:cNvSpPr txBox="1"/>
          <p:nvPr/>
        </p:nvSpPr>
        <p:spPr>
          <a:xfrm>
            <a:off x="80467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Advantages</a:t>
            </a:r>
            <a:endParaRPr lang="en-US" sz="1200" dirty="0"/>
          </a:p>
        </p:txBody>
      </p:sp>
      <p:sp>
        <p:nvSpPr>
          <p:cNvPr id="26" name="Text 24"/>
          <p:cNvSpPr txBox="1"/>
          <p:nvPr/>
        </p:nvSpPr>
        <p:spPr>
          <a:xfrm>
            <a:off x="804672" y="5340096"/>
            <a:ext cx="3200400" cy="1005840"/>
          </a:xfrm>
          <a:prstGeom prst="rect">
            <a:avLst/>
          </a:prstGeom>
          <a:noFill/>
          <a:ln/>
        </p:spPr>
        <p:txBody>
          <a:bodyPr wrap="square" lIns="0" tIns="0" rIns="0" bIns="0" rtlCol="0" anchor="t"/>
          <a:lstStyle/>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Lower power use</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Higher reliability</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Faster processing</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High-level languages became widely used</a:t>
            </a:r>
            <a:endParaRPr lang="en-US" sz="950" dirty="0"/>
          </a:p>
        </p:txBody>
      </p:sp>
      <p:sp>
        <p:nvSpPr>
          <p:cNvPr id="27" name="Shape 25"/>
          <p:cNvSpPr/>
          <p:nvPr/>
        </p:nvSpPr>
        <p:spPr>
          <a:xfrm>
            <a:off x="448056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8" name="Shape 26"/>
          <p:cNvSpPr/>
          <p:nvPr/>
        </p:nvSpPr>
        <p:spPr>
          <a:xfrm>
            <a:off x="4480560" y="4965192"/>
            <a:ext cx="54864" cy="1362456"/>
          </a:xfrm>
          <a:prstGeom prst="rect">
            <a:avLst/>
          </a:prstGeom>
          <a:solidFill>
            <a:srgbClr val="4A9E6C"/>
          </a:solidFill>
          <a:ln/>
        </p:spPr>
      </p:sp>
      <p:sp>
        <p:nvSpPr>
          <p:cNvPr id="29" name="Text 27"/>
          <p:cNvSpPr txBox="1"/>
          <p:nvPr/>
        </p:nvSpPr>
        <p:spPr>
          <a:xfrm>
            <a:off x="473659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Limitations</a:t>
            </a:r>
            <a:endParaRPr lang="en-US" sz="1200" dirty="0"/>
          </a:p>
        </p:txBody>
      </p:sp>
      <p:sp>
        <p:nvSpPr>
          <p:cNvPr id="30" name="Text 28"/>
          <p:cNvSpPr txBox="1"/>
          <p:nvPr/>
        </p:nvSpPr>
        <p:spPr>
          <a:xfrm>
            <a:off x="4736592" y="5340096"/>
            <a:ext cx="3200400" cy="1005840"/>
          </a:xfrm>
          <a:prstGeom prst="rect">
            <a:avLst/>
          </a:prstGeom>
          <a:noFill/>
          <a:ln/>
        </p:spPr>
        <p:txBody>
          <a:bodyPr wrap="square" lIns="0" tIns="0" rIns="0" bIns="0" rtlCol="0" anchor="t"/>
          <a:lstStyle/>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IC production was complex</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Still expensive for individuals</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Needed skilled maintenance</a:t>
            </a:r>
            <a:endParaRPr lang="en-US" sz="950" dirty="0"/>
          </a:p>
        </p:txBody>
      </p:sp>
      <p:sp>
        <p:nvSpPr>
          <p:cNvPr id="31" name="Shape 29"/>
          <p:cNvSpPr/>
          <p:nvPr/>
        </p:nvSpPr>
        <p:spPr>
          <a:xfrm>
            <a:off x="841248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32" name="Shape 30"/>
          <p:cNvSpPr/>
          <p:nvPr/>
        </p:nvSpPr>
        <p:spPr>
          <a:xfrm>
            <a:off x="8412480" y="4965192"/>
            <a:ext cx="54864" cy="1362456"/>
          </a:xfrm>
          <a:prstGeom prst="rect">
            <a:avLst/>
          </a:prstGeom>
          <a:solidFill>
            <a:srgbClr val="4A9E6C"/>
          </a:solidFill>
          <a:ln/>
        </p:spPr>
      </p:sp>
      <p:sp>
        <p:nvSpPr>
          <p:cNvPr id="33" name="Text 31"/>
          <p:cNvSpPr txBox="1"/>
          <p:nvPr/>
        </p:nvSpPr>
        <p:spPr>
          <a:xfrm>
            <a:off x="866851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Exam Key Point</a:t>
            </a:r>
            <a:endParaRPr lang="en-US" sz="1200" dirty="0"/>
          </a:p>
        </p:txBody>
      </p:sp>
      <p:sp>
        <p:nvSpPr>
          <p:cNvPr id="34" name="Text 32"/>
          <p:cNvSpPr txBox="1"/>
          <p:nvPr/>
        </p:nvSpPr>
        <p:spPr>
          <a:xfrm>
            <a:off x="8668512" y="5340096"/>
            <a:ext cx="3200400" cy="1005840"/>
          </a:xfrm>
          <a:prstGeom prst="rect">
            <a:avLst/>
          </a:prstGeom>
          <a:noFill/>
          <a:ln/>
        </p:spPr>
        <p:txBody>
          <a:bodyPr wrap="square" lIns="0" tIns="0" rIns="0" bIns="0" rtlCol="0" anchor="t"/>
          <a:lstStyle/>
          <a:p>
            <a:pPr indent="0" marL="0">
              <a:lnSpc>
                <a:spcPct val="115000"/>
              </a:lnSpc>
              <a:buNone/>
            </a:pPr>
            <a:r>
              <a:rPr lang="en-US" sz="950" dirty="0">
                <a:solidFill>
                  <a:srgbClr val="444C5C"/>
                </a:solidFill>
                <a:latin typeface="Arial" pitchFamily="34" charset="0"/>
                <a:ea typeface="Arial" pitchFamily="34" charset="-122"/>
                <a:cs typeface="Arial" pitchFamily="34" charset="-120"/>
              </a:rPr>
              <a:t>Third generation = INTEGRATED CIRCUITS (IC).</a:t>
            </a:r>
            <a:endParaRPr lang="en-US" sz="950" dirty="0"/>
          </a:p>
        </p:txBody>
      </p:sp>
      <p:sp>
        <p:nvSpPr>
          <p:cNvPr id="35" name="Text 33"/>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4 Generation: Fourth Generation</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Period • 1975–1980*    |    Main technology • Microprocessor / VLSI</a:t>
            </a:r>
            <a:endParaRPr lang="en-US" sz="1300" dirty="0"/>
          </a:p>
        </p:txBody>
      </p:sp>
      <p:sp>
        <p:nvSpPr>
          <p:cNvPr id="4" name="Shape 2"/>
          <p:cNvSpPr/>
          <p:nvPr/>
        </p:nvSpPr>
        <p:spPr>
          <a:xfrm>
            <a:off x="548640" y="1463040"/>
            <a:ext cx="2331720" cy="3246120"/>
          </a:xfrm>
          <a:prstGeom prst="roundRect">
            <a:avLst>
              <a:gd name="adj" fmla="val 3922"/>
            </a:avLst>
          </a:prstGeom>
          <a:solidFill>
            <a:srgbClr val="FFFFFF"/>
          </a:solidFill>
          <a:ln w="9525">
            <a:solidFill>
              <a:srgbClr val="E3E7F0"/>
            </a:solidFill>
            <a:prstDash val="solid"/>
          </a:ln>
          <a:effectLst>
            <a:outerShdw sx="100000" sy="100000" kx="0" ky="0" algn="bl" rotWithShape="0" blurRad="76200" dist="25400" dir="5400000">
              <a:srgbClr val="1B2B4A">
                <a:alpha val="15000"/>
              </a:srgbClr>
            </a:outerShdw>
          </a:effectLst>
        </p:spPr>
      </p:sp>
      <p:sp>
        <p:nvSpPr>
          <p:cNvPr id="5" name="Shape 3"/>
          <p:cNvSpPr/>
          <p:nvPr/>
        </p:nvSpPr>
        <p:spPr>
          <a:xfrm>
            <a:off x="1234440" y="2194560"/>
            <a:ext cx="914400" cy="914400"/>
          </a:xfrm>
          <a:prstGeom prst="roundRect">
            <a:avLst>
              <a:gd name="adj" fmla="val 12000"/>
            </a:avLst>
          </a:prstGeom>
          <a:solidFill>
            <a:srgbClr val="3D6EBD"/>
          </a:solidFill>
          <a:ln/>
        </p:spPr>
      </p:sp>
      <p:sp>
        <p:nvSpPr>
          <p:cNvPr id="6" name="Text 4"/>
          <p:cNvSpPr txBox="1"/>
          <p:nvPr/>
        </p:nvSpPr>
        <p:spPr>
          <a:xfrm>
            <a:off x="685800" y="3246120"/>
            <a:ext cx="2057400" cy="457200"/>
          </a:xfrm>
          <a:prstGeom prst="rect">
            <a:avLst/>
          </a:prstGeom>
          <a:noFill/>
          <a:ln/>
        </p:spPr>
        <p:txBody>
          <a:bodyPr wrap="square" rtlCol="0" anchor="ctr"/>
          <a:lstStyle/>
          <a:p>
            <a:pPr algn="ctr" indent="0" marL="0">
              <a:buNone/>
            </a:pPr>
            <a:r>
              <a:rPr lang="en-US" sz="1050" b="1" dirty="0">
                <a:solidFill>
                  <a:srgbClr val="16223D"/>
                </a:solidFill>
                <a:latin typeface="Arial" pitchFamily="34" charset="0"/>
                <a:ea typeface="Arial" pitchFamily="34" charset="-122"/>
                <a:cs typeface="Arial" pitchFamily="34" charset="-120"/>
              </a:rPr>
              <a:t>MICROPROCESSOR (VLSI)</a:t>
            </a:r>
            <a:endParaRPr lang="en-US" sz="1050" dirty="0"/>
          </a:p>
        </p:txBody>
      </p:sp>
      <p:sp>
        <p:nvSpPr>
          <p:cNvPr id="7" name="Shape 5"/>
          <p:cNvSpPr/>
          <p:nvPr/>
        </p:nvSpPr>
        <p:spPr>
          <a:xfrm>
            <a:off x="3063240" y="1463040"/>
            <a:ext cx="3977640" cy="1417320"/>
          </a:xfrm>
          <a:prstGeom prst="roundRect">
            <a:avLst>
              <a:gd name="adj" fmla="val 5161"/>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8" name="Shape 6"/>
          <p:cNvSpPr/>
          <p:nvPr/>
        </p:nvSpPr>
        <p:spPr>
          <a:xfrm>
            <a:off x="3063240" y="1536192"/>
            <a:ext cx="54864" cy="1271016"/>
          </a:xfrm>
          <a:prstGeom prst="rect">
            <a:avLst/>
          </a:prstGeom>
          <a:solidFill>
            <a:srgbClr val="3D6EBD"/>
          </a:solidFill>
          <a:ln/>
        </p:spPr>
      </p:sp>
      <p:sp>
        <p:nvSpPr>
          <p:cNvPr id="9" name="Text 7"/>
          <p:cNvSpPr txBox="1"/>
          <p:nvPr/>
        </p:nvSpPr>
        <p:spPr>
          <a:xfrm>
            <a:off x="3319272" y="159105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Examples</a:t>
            </a:r>
            <a:endParaRPr lang="en-US" sz="1300" dirty="0"/>
          </a:p>
        </p:txBody>
      </p:sp>
      <p:sp>
        <p:nvSpPr>
          <p:cNvPr id="10" name="Text 8"/>
          <p:cNvSpPr txBox="1"/>
          <p:nvPr/>
        </p:nvSpPr>
        <p:spPr>
          <a:xfrm>
            <a:off x="3319272" y="1911096"/>
            <a:ext cx="3520440" cy="914400"/>
          </a:xfrm>
          <a:prstGeom prst="rect">
            <a:avLst/>
          </a:prstGeom>
          <a:noFill/>
          <a:ln/>
        </p:spPr>
        <p:txBody>
          <a:bodyPr wrap="square" lIns="0" tIns="0" rIns="0" bIns="0" rtlCol="0" anchor="t"/>
          <a:lstStyle/>
          <a:p>
            <a:pPr indent="0" marL="0">
              <a:lnSpc>
                <a:spcPct val="115000"/>
              </a:lnSpc>
              <a:buNone/>
            </a:pPr>
            <a:r>
              <a:rPr lang="en-US" sz="1200" dirty="0">
                <a:solidFill>
                  <a:srgbClr val="444C5C"/>
                </a:solidFill>
                <a:latin typeface="Arial" pitchFamily="34" charset="0"/>
                <a:ea typeface="Arial" pitchFamily="34" charset="-122"/>
                <a:cs typeface="Arial" pitchFamily="34" charset="-120"/>
              </a:rPr>
              <a:t>Microcomputers; IBM PC family; Intel-based systems</a:t>
            </a:r>
            <a:endParaRPr lang="en-US" sz="1200" dirty="0"/>
          </a:p>
        </p:txBody>
      </p:sp>
      <p:sp>
        <p:nvSpPr>
          <p:cNvPr id="11" name="Shape 9"/>
          <p:cNvSpPr/>
          <p:nvPr/>
        </p:nvSpPr>
        <p:spPr>
          <a:xfrm>
            <a:off x="7863840" y="1463040"/>
            <a:ext cx="3977640" cy="1417320"/>
          </a:xfrm>
          <a:prstGeom prst="roundRect">
            <a:avLst>
              <a:gd name="adj" fmla="val 5161"/>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2" name="Shape 10"/>
          <p:cNvSpPr/>
          <p:nvPr/>
        </p:nvSpPr>
        <p:spPr>
          <a:xfrm>
            <a:off x="7863840" y="1536192"/>
            <a:ext cx="54864" cy="1271016"/>
          </a:xfrm>
          <a:prstGeom prst="rect">
            <a:avLst/>
          </a:prstGeom>
          <a:solidFill>
            <a:srgbClr val="3D6EBD"/>
          </a:solidFill>
          <a:ln/>
        </p:spPr>
      </p:sp>
      <p:sp>
        <p:nvSpPr>
          <p:cNvPr id="13" name="Text 11"/>
          <p:cNvSpPr txBox="1"/>
          <p:nvPr/>
        </p:nvSpPr>
        <p:spPr>
          <a:xfrm>
            <a:off x="8119872" y="159105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Main Technology</a:t>
            </a:r>
            <a:endParaRPr lang="en-US" sz="1300" dirty="0"/>
          </a:p>
        </p:txBody>
      </p:sp>
      <p:sp>
        <p:nvSpPr>
          <p:cNvPr id="14" name="Text 12"/>
          <p:cNvSpPr txBox="1"/>
          <p:nvPr/>
        </p:nvSpPr>
        <p:spPr>
          <a:xfrm>
            <a:off x="8119872" y="1911096"/>
            <a:ext cx="3520440" cy="914400"/>
          </a:xfrm>
          <a:prstGeom prst="rect">
            <a:avLst/>
          </a:prstGeom>
          <a:noFill/>
          <a:ln/>
        </p:spPr>
        <p:txBody>
          <a:bodyPr wrap="square" lIns="0" tIns="0" rIns="0" bIns="0" rtlCol="0" anchor="t"/>
          <a:lstStyle/>
          <a:p>
            <a:pPr indent="0" marL="0">
              <a:lnSpc>
                <a:spcPct val="115000"/>
              </a:lnSpc>
              <a:buNone/>
            </a:pPr>
            <a:r>
              <a:rPr lang="en-US" sz="1200" dirty="0">
                <a:solidFill>
                  <a:srgbClr val="444C5C"/>
                </a:solidFill>
                <a:latin typeface="Arial" pitchFamily="34" charset="0"/>
                <a:ea typeface="Arial" pitchFamily="34" charset="-122"/>
                <a:cs typeface="Arial" pitchFamily="34" charset="-120"/>
              </a:rPr>
              <a:t>Microprocessor / VLSI</a:t>
            </a:r>
            <a:endParaRPr lang="en-US" sz="1200" dirty="0"/>
          </a:p>
        </p:txBody>
      </p:sp>
      <p:sp>
        <p:nvSpPr>
          <p:cNvPr id="15" name="Shape 13"/>
          <p:cNvSpPr/>
          <p:nvPr/>
        </p:nvSpPr>
        <p:spPr>
          <a:xfrm>
            <a:off x="3063240" y="3017520"/>
            <a:ext cx="3977640" cy="1691640"/>
          </a:xfrm>
          <a:prstGeom prst="roundRect">
            <a:avLst>
              <a:gd name="adj" fmla="val 4324"/>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6" name="Shape 14"/>
          <p:cNvSpPr/>
          <p:nvPr/>
        </p:nvSpPr>
        <p:spPr>
          <a:xfrm>
            <a:off x="3063240" y="3090672"/>
            <a:ext cx="54864" cy="1545336"/>
          </a:xfrm>
          <a:prstGeom prst="rect">
            <a:avLst/>
          </a:prstGeom>
          <a:solidFill>
            <a:srgbClr val="3D6EBD"/>
          </a:solidFill>
          <a:ln/>
        </p:spPr>
      </p:sp>
      <p:sp>
        <p:nvSpPr>
          <p:cNvPr id="17" name="Text 15"/>
          <p:cNvSpPr txBox="1"/>
          <p:nvPr/>
        </p:nvSpPr>
        <p:spPr>
          <a:xfrm>
            <a:off x="3319272" y="314553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Important Features</a:t>
            </a:r>
            <a:endParaRPr lang="en-US" sz="1300" dirty="0"/>
          </a:p>
        </p:txBody>
      </p:sp>
      <p:sp>
        <p:nvSpPr>
          <p:cNvPr id="18" name="Text 16"/>
          <p:cNvSpPr txBox="1"/>
          <p:nvPr/>
        </p:nvSpPr>
        <p:spPr>
          <a:xfrm>
            <a:off x="3319272" y="3465576"/>
            <a:ext cx="3520440" cy="1188720"/>
          </a:xfrm>
          <a:prstGeom prst="rect">
            <a:avLst/>
          </a:prstGeom>
          <a:noFill/>
          <a:ln/>
        </p:spPr>
        <p:txBody>
          <a:bodyPr wrap="square" lIns="0" tIns="0" rIns="0" bIns="0" rtlCol="0" anchor="t"/>
          <a:lstStyle/>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CPU placed on a microprocessor chip</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Very small and fast</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Personal computers became practical</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Portable computers appeared</a:t>
            </a:r>
            <a:endParaRPr lang="en-US" sz="1050" dirty="0"/>
          </a:p>
        </p:txBody>
      </p:sp>
      <p:sp>
        <p:nvSpPr>
          <p:cNvPr id="19" name="Shape 17"/>
          <p:cNvSpPr/>
          <p:nvPr/>
        </p:nvSpPr>
        <p:spPr>
          <a:xfrm>
            <a:off x="7863840" y="3017520"/>
            <a:ext cx="3977640" cy="1691640"/>
          </a:xfrm>
          <a:prstGeom prst="roundRect">
            <a:avLst>
              <a:gd name="adj" fmla="val 4324"/>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0" name="Shape 18"/>
          <p:cNvSpPr/>
          <p:nvPr/>
        </p:nvSpPr>
        <p:spPr>
          <a:xfrm>
            <a:off x="7863840" y="3090672"/>
            <a:ext cx="54864" cy="1545336"/>
          </a:xfrm>
          <a:prstGeom prst="rect">
            <a:avLst/>
          </a:prstGeom>
          <a:solidFill>
            <a:srgbClr val="3D6EBD"/>
          </a:solidFill>
          <a:ln/>
        </p:spPr>
      </p:sp>
      <p:sp>
        <p:nvSpPr>
          <p:cNvPr id="21" name="Text 19"/>
          <p:cNvSpPr txBox="1"/>
          <p:nvPr/>
        </p:nvSpPr>
        <p:spPr>
          <a:xfrm>
            <a:off x="8119872" y="314553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Languages / Software</a:t>
            </a:r>
            <a:endParaRPr lang="en-US" sz="1300" dirty="0"/>
          </a:p>
        </p:txBody>
      </p:sp>
      <p:sp>
        <p:nvSpPr>
          <p:cNvPr id="22" name="Text 20"/>
          <p:cNvSpPr txBox="1"/>
          <p:nvPr/>
        </p:nvSpPr>
        <p:spPr>
          <a:xfrm>
            <a:off x="8119872" y="3465576"/>
            <a:ext cx="3520440" cy="1188720"/>
          </a:xfrm>
          <a:prstGeom prst="rect">
            <a:avLst/>
          </a:prstGeom>
          <a:noFill/>
          <a:ln/>
        </p:spPr>
        <p:txBody>
          <a:bodyPr wrap="square" lIns="0" tIns="0" rIns="0" bIns="0" rtlCol="0" anchor="t"/>
          <a:lstStyle/>
          <a:p>
            <a:pPr indent="0" marL="0">
              <a:lnSpc>
                <a:spcPct val="115000"/>
              </a:lnSpc>
              <a:buNone/>
            </a:pPr>
            <a:r>
              <a:rPr lang="en-US" sz="1150" dirty="0">
                <a:solidFill>
                  <a:srgbClr val="444C5C"/>
                </a:solidFill>
                <a:latin typeface="Arial" pitchFamily="34" charset="0"/>
                <a:ea typeface="Arial" pitchFamily="34" charset="-122"/>
                <a:cs typeface="Arial" pitchFamily="34" charset="-120"/>
              </a:rPr>
              <a:t>BASIC, C, C++, Pascal and many other languages</a:t>
            </a:r>
            <a:endParaRPr lang="en-US" sz="1150" dirty="0"/>
          </a:p>
        </p:txBody>
      </p:sp>
      <p:sp>
        <p:nvSpPr>
          <p:cNvPr id="23" name="Shape 21"/>
          <p:cNvSpPr/>
          <p:nvPr/>
        </p:nvSpPr>
        <p:spPr>
          <a:xfrm>
            <a:off x="54864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4" name="Shape 22"/>
          <p:cNvSpPr/>
          <p:nvPr/>
        </p:nvSpPr>
        <p:spPr>
          <a:xfrm>
            <a:off x="548640" y="4965192"/>
            <a:ext cx="54864" cy="1362456"/>
          </a:xfrm>
          <a:prstGeom prst="rect">
            <a:avLst/>
          </a:prstGeom>
          <a:solidFill>
            <a:srgbClr val="3D6EBD"/>
          </a:solidFill>
          <a:ln/>
        </p:spPr>
      </p:sp>
      <p:sp>
        <p:nvSpPr>
          <p:cNvPr id="25" name="Text 23"/>
          <p:cNvSpPr txBox="1"/>
          <p:nvPr/>
        </p:nvSpPr>
        <p:spPr>
          <a:xfrm>
            <a:off x="80467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Advantages</a:t>
            </a:r>
            <a:endParaRPr lang="en-US" sz="1200" dirty="0"/>
          </a:p>
        </p:txBody>
      </p:sp>
      <p:sp>
        <p:nvSpPr>
          <p:cNvPr id="26" name="Text 24"/>
          <p:cNvSpPr txBox="1"/>
          <p:nvPr/>
        </p:nvSpPr>
        <p:spPr>
          <a:xfrm>
            <a:off x="804672" y="5340096"/>
            <a:ext cx="3200400" cy="1005840"/>
          </a:xfrm>
          <a:prstGeom prst="rect">
            <a:avLst/>
          </a:prstGeom>
          <a:noFill/>
          <a:ln/>
        </p:spPr>
        <p:txBody>
          <a:bodyPr wrap="square" lIns="0" tIns="0" rIns="0" bIns="0" rtlCol="0" anchor="t"/>
          <a:lstStyle/>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Very small size</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High speed</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Lower cost</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Lower power consumption</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Easy mass production</a:t>
            </a:r>
            <a:endParaRPr lang="en-US" sz="950" dirty="0"/>
          </a:p>
        </p:txBody>
      </p:sp>
      <p:sp>
        <p:nvSpPr>
          <p:cNvPr id="27" name="Shape 25"/>
          <p:cNvSpPr/>
          <p:nvPr/>
        </p:nvSpPr>
        <p:spPr>
          <a:xfrm>
            <a:off x="448056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8" name="Shape 26"/>
          <p:cNvSpPr/>
          <p:nvPr/>
        </p:nvSpPr>
        <p:spPr>
          <a:xfrm>
            <a:off x="4480560" y="4965192"/>
            <a:ext cx="54864" cy="1362456"/>
          </a:xfrm>
          <a:prstGeom prst="rect">
            <a:avLst/>
          </a:prstGeom>
          <a:solidFill>
            <a:srgbClr val="3D6EBD"/>
          </a:solidFill>
          <a:ln/>
        </p:spPr>
      </p:sp>
      <p:sp>
        <p:nvSpPr>
          <p:cNvPr id="29" name="Text 27"/>
          <p:cNvSpPr txBox="1"/>
          <p:nvPr/>
        </p:nvSpPr>
        <p:spPr>
          <a:xfrm>
            <a:off x="473659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Limitations</a:t>
            </a:r>
            <a:endParaRPr lang="en-US" sz="1200" dirty="0"/>
          </a:p>
        </p:txBody>
      </p:sp>
      <p:sp>
        <p:nvSpPr>
          <p:cNvPr id="30" name="Text 28"/>
          <p:cNvSpPr txBox="1"/>
          <p:nvPr/>
        </p:nvSpPr>
        <p:spPr>
          <a:xfrm>
            <a:off x="4736592" y="5340096"/>
            <a:ext cx="3200400" cy="1005840"/>
          </a:xfrm>
          <a:prstGeom prst="rect">
            <a:avLst/>
          </a:prstGeom>
          <a:noFill/>
          <a:ln/>
        </p:spPr>
        <p:txBody>
          <a:bodyPr wrap="square" lIns="0" tIns="0" rIns="0" bIns="0" rtlCol="0" anchor="t"/>
          <a:lstStyle/>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Early PCs had limited memory/storage</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Rapid technology changes caused compatibility issues</a:t>
            </a:r>
            <a:endParaRPr lang="en-US" sz="950" dirty="0"/>
          </a:p>
        </p:txBody>
      </p:sp>
      <p:sp>
        <p:nvSpPr>
          <p:cNvPr id="31" name="Shape 29"/>
          <p:cNvSpPr/>
          <p:nvPr/>
        </p:nvSpPr>
        <p:spPr>
          <a:xfrm>
            <a:off x="841248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32" name="Shape 30"/>
          <p:cNvSpPr/>
          <p:nvPr/>
        </p:nvSpPr>
        <p:spPr>
          <a:xfrm>
            <a:off x="8412480" y="4965192"/>
            <a:ext cx="54864" cy="1362456"/>
          </a:xfrm>
          <a:prstGeom prst="rect">
            <a:avLst/>
          </a:prstGeom>
          <a:solidFill>
            <a:srgbClr val="3D6EBD"/>
          </a:solidFill>
          <a:ln/>
        </p:spPr>
      </p:sp>
      <p:sp>
        <p:nvSpPr>
          <p:cNvPr id="33" name="Text 31"/>
          <p:cNvSpPr txBox="1"/>
          <p:nvPr/>
        </p:nvSpPr>
        <p:spPr>
          <a:xfrm>
            <a:off x="866851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Exam Key Point</a:t>
            </a:r>
            <a:endParaRPr lang="en-US" sz="1200" dirty="0"/>
          </a:p>
        </p:txBody>
      </p:sp>
      <p:sp>
        <p:nvSpPr>
          <p:cNvPr id="34" name="Text 32"/>
          <p:cNvSpPr txBox="1"/>
          <p:nvPr/>
        </p:nvSpPr>
        <p:spPr>
          <a:xfrm>
            <a:off x="8668512" y="5340096"/>
            <a:ext cx="3200400" cy="1005840"/>
          </a:xfrm>
          <a:prstGeom prst="rect">
            <a:avLst/>
          </a:prstGeom>
          <a:noFill/>
          <a:ln/>
        </p:spPr>
        <p:txBody>
          <a:bodyPr wrap="square" lIns="0" tIns="0" rIns="0" bIns="0" rtlCol="0" anchor="t"/>
          <a:lstStyle/>
          <a:p>
            <a:pPr indent="0" marL="0">
              <a:lnSpc>
                <a:spcPct val="115000"/>
              </a:lnSpc>
              <a:buNone/>
            </a:pPr>
            <a:r>
              <a:rPr lang="en-US" sz="950" dirty="0">
                <a:solidFill>
                  <a:srgbClr val="444C5C"/>
                </a:solidFill>
                <a:latin typeface="Arial" pitchFamily="34" charset="0"/>
                <a:ea typeface="Arial" pitchFamily="34" charset="-122"/>
                <a:cs typeface="Arial" pitchFamily="34" charset="-120"/>
              </a:rPr>
              <a:t>Fourth generation = MICROPROCESSOR. VLSI made compact personal computers possible.</a:t>
            </a:r>
            <a:endParaRPr lang="en-US" sz="950" dirty="0"/>
          </a:p>
        </p:txBody>
      </p:sp>
      <p:sp>
        <p:nvSpPr>
          <p:cNvPr id="35" name="Text 33"/>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5 Generation: Fifth Generation</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Period • 1980–Present    |    Main technology • ULSI + Artificial Intelligence</a:t>
            </a:r>
            <a:endParaRPr lang="en-US" sz="1300" dirty="0"/>
          </a:p>
        </p:txBody>
      </p:sp>
      <p:sp>
        <p:nvSpPr>
          <p:cNvPr id="4" name="Shape 2"/>
          <p:cNvSpPr/>
          <p:nvPr/>
        </p:nvSpPr>
        <p:spPr>
          <a:xfrm>
            <a:off x="548640" y="1463040"/>
            <a:ext cx="2331720" cy="3246120"/>
          </a:xfrm>
          <a:prstGeom prst="roundRect">
            <a:avLst>
              <a:gd name="adj" fmla="val 3922"/>
            </a:avLst>
          </a:prstGeom>
          <a:solidFill>
            <a:srgbClr val="FFFFFF"/>
          </a:solidFill>
          <a:ln w="9525">
            <a:solidFill>
              <a:srgbClr val="E3E7F0"/>
            </a:solidFill>
            <a:prstDash val="solid"/>
          </a:ln>
          <a:effectLst>
            <a:outerShdw sx="100000" sy="100000" kx="0" ky="0" algn="bl" rotWithShape="0" blurRad="76200" dist="25400" dir="5400000">
              <a:srgbClr val="1B2B4A">
                <a:alpha val="15000"/>
              </a:srgbClr>
            </a:outerShdw>
          </a:effectLst>
        </p:spPr>
      </p:sp>
      <p:sp>
        <p:nvSpPr>
          <p:cNvPr id="5" name="Shape 3"/>
          <p:cNvSpPr/>
          <p:nvPr/>
        </p:nvSpPr>
        <p:spPr>
          <a:xfrm>
            <a:off x="1234440" y="2194560"/>
            <a:ext cx="914400" cy="914400"/>
          </a:xfrm>
          <a:prstGeom prst="roundRect">
            <a:avLst>
              <a:gd name="adj" fmla="val 12000"/>
            </a:avLst>
          </a:prstGeom>
          <a:solidFill>
            <a:srgbClr val="7C5CA0"/>
          </a:solidFill>
          <a:ln/>
        </p:spPr>
      </p:sp>
      <p:sp>
        <p:nvSpPr>
          <p:cNvPr id="6" name="Text 4"/>
          <p:cNvSpPr txBox="1"/>
          <p:nvPr/>
        </p:nvSpPr>
        <p:spPr>
          <a:xfrm>
            <a:off x="685800" y="3246120"/>
            <a:ext cx="2057400" cy="457200"/>
          </a:xfrm>
          <a:prstGeom prst="rect">
            <a:avLst/>
          </a:prstGeom>
          <a:noFill/>
          <a:ln/>
        </p:spPr>
        <p:txBody>
          <a:bodyPr wrap="square" rtlCol="0" anchor="ctr"/>
          <a:lstStyle/>
          <a:p>
            <a:pPr algn="ctr" indent="0" marL="0">
              <a:buNone/>
            </a:pPr>
            <a:r>
              <a:rPr lang="en-US" sz="1050" b="1" dirty="0">
                <a:solidFill>
                  <a:srgbClr val="16223D"/>
                </a:solidFill>
                <a:latin typeface="Arial" pitchFamily="34" charset="0"/>
                <a:ea typeface="Arial" pitchFamily="34" charset="-122"/>
                <a:cs typeface="Arial" pitchFamily="34" charset="-120"/>
              </a:rPr>
              <a:t>AI / ROBOTICS</a:t>
            </a:r>
            <a:endParaRPr lang="en-US" sz="1050" dirty="0"/>
          </a:p>
        </p:txBody>
      </p:sp>
      <p:sp>
        <p:nvSpPr>
          <p:cNvPr id="7" name="Shape 5"/>
          <p:cNvSpPr/>
          <p:nvPr/>
        </p:nvSpPr>
        <p:spPr>
          <a:xfrm>
            <a:off x="3063240" y="1463040"/>
            <a:ext cx="3977640" cy="1417320"/>
          </a:xfrm>
          <a:prstGeom prst="roundRect">
            <a:avLst>
              <a:gd name="adj" fmla="val 5161"/>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8" name="Shape 6"/>
          <p:cNvSpPr/>
          <p:nvPr/>
        </p:nvSpPr>
        <p:spPr>
          <a:xfrm>
            <a:off x="3063240" y="1536192"/>
            <a:ext cx="54864" cy="1271016"/>
          </a:xfrm>
          <a:prstGeom prst="rect">
            <a:avLst/>
          </a:prstGeom>
          <a:solidFill>
            <a:srgbClr val="7C5CA0"/>
          </a:solidFill>
          <a:ln/>
        </p:spPr>
      </p:sp>
      <p:sp>
        <p:nvSpPr>
          <p:cNvPr id="9" name="Text 7"/>
          <p:cNvSpPr txBox="1"/>
          <p:nvPr/>
        </p:nvSpPr>
        <p:spPr>
          <a:xfrm>
            <a:off x="3319272" y="159105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Examples</a:t>
            </a:r>
            <a:endParaRPr lang="en-US" sz="1300" dirty="0"/>
          </a:p>
        </p:txBody>
      </p:sp>
      <p:sp>
        <p:nvSpPr>
          <p:cNvPr id="10" name="Text 8"/>
          <p:cNvSpPr txBox="1"/>
          <p:nvPr/>
        </p:nvSpPr>
        <p:spPr>
          <a:xfrm>
            <a:off x="3319272" y="1911096"/>
            <a:ext cx="3520440" cy="914400"/>
          </a:xfrm>
          <a:prstGeom prst="rect">
            <a:avLst/>
          </a:prstGeom>
          <a:noFill/>
          <a:ln/>
        </p:spPr>
        <p:txBody>
          <a:bodyPr wrap="square" lIns="0" tIns="0" rIns="0" bIns="0" rtlCol="0" anchor="t"/>
          <a:lstStyle/>
          <a:p>
            <a:pPr indent="0" marL="0">
              <a:lnSpc>
                <a:spcPct val="115000"/>
              </a:lnSpc>
              <a:buNone/>
            </a:pPr>
            <a:r>
              <a:rPr lang="en-US" sz="1200" dirty="0">
                <a:solidFill>
                  <a:srgbClr val="444C5C"/>
                </a:solidFill>
                <a:latin typeface="Arial" pitchFamily="34" charset="0"/>
                <a:ea typeface="Arial" pitchFamily="34" charset="-122"/>
                <a:cs typeface="Arial" pitchFamily="34" charset="-120"/>
              </a:rPr>
              <a:t>Modern PCs, smartphones, AI systems, robots</a:t>
            </a:r>
            <a:endParaRPr lang="en-US" sz="1200" dirty="0"/>
          </a:p>
        </p:txBody>
      </p:sp>
      <p:sp>
        <p:nvSpPr>
          <p:cNvPr id="11" name="Shape 9"/>
          <p:cNvSpPr/>
          <p:nvPr/>
        </p:nvSpPr>
        <p:spPr>
          <a:xfrm>
            <a:off x="7863840" y="1463040"/>
            <a:ext cx="3977640" cy="1417320"/>
          </a:xfrm>
          <a:prstGeom prst="roundRect">
            <a:avLst>
              <a:gd name="adj" fmla="val 5161"/>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2" name="Shape 10"/>
          <p:cNvSpPr/>
          <p:nvPr/>
        </p:nvSpPr>
        <p:spPr>
          <a:xfrm>
            <a:off x="7863840" y="1536192"/>
            <a:ext cx="54864" cy="1271016"/>
          </a:xfrm>
          <a:prstGeom prst="rect">
            <a:avLst/>
          </a:prstGeom>
          <a:solidFill>
            <a:srgbClr val="7C5CA0"/>
          </a:solidFill>
          <a:ln/>
        </p:spPr>
      </p:sp>
      <p:sp>
        <p:nvSpPr>
          <p:cNvPr id="13" name="Text 11"/>
          <p:cNvSpPr txBox="1"/>
          <p:nvPr/>
        </p:nvSpPr>
        <p:spPr>
          <a:xfrm>
            <a:off x="8119872" y="159105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Main Technology</a:t>
            </a:r>
            <a:endParaRPr lang="en-US" sz="1300" dirty="0"/>
          </a:p>
        </p:txBody>
      </p:sp>
      <p:sp>
        <p:nvSpPr>
          <p:cNvPr id="14" name="Text 12"/>
          <p:cNvSpPr txBox="1"/>
          <p:nvPr/>
        </p:nvSpPr>
        <p:spPr>
          <a:xfrm>
            <a:off x="8119872" y="1911096"/>
            <a:ext cx="3520440" cy="914400"/>
          </a:xfrm>
          <a:prstGeom prst="rect">
            <a:avLst/>
          </a:prstGeom>
          <a:noFill/>
          <a:ln/>
        </p:spPr>
        <p:txBody>
          <a:bodyPr wrap="square" lIns="0" tIns="0" rIns="0" bIns="0" rtlCol="0" anchor="t"/>
          <a:lstStyle/>
          <a:p>
            <a:pPr indent="0" marL="0">
              <a:lnSpc>
                <a:spcPct val="115000"/>
              </a:lnSpc>
              <a:buNone/>
            </a:pPr>
            <a:r>
              <a:rPr lang="en-US" sz="1200" dirty="0">
                <a:solidFill>
                  <a:srgbClr val="444C5C"/>
                </a:solidFill>
                <a:latin typeface="Arial" pitchFamily="34" charset="0"/>
                <a:ea typeface="Arial" pitchFamily="34" charset="-122"/>
                <a:cs typeface="Arial" pitchFamily="34" charset="-120"/>
              </a:rPr>
              <a:t>ULSI + Artificial Intelligence</a:t>
            </a:r>
            <a:endParaRPr lang="en-US" sz="1200" dirty="0"/>
          </a:p>
        </p:txBody>
      </p:sp>
      <p:sp>
        <p:nvSpPr>
          <p:cNvPr id="15" name="Shape 13"/>
          <p:cNvSpPr/>
          <p:nvPr/>
        </p:nvSpPr>
        <p:spPr>
          <a:xfrm>
            <a:off x="3063240" y="3017520"/>
            <a:ext cx="3977640" cy="1691640"/>
          </a:xfrm>
          <a:prstGeom prst="roundRect">
            <a:avLst>
              <a:gd name="adj" fmla="val 4324"/>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6" name="Shape 14"/>
          <p:cNvSpPr/>
          <p:nvPr/>
        </p:nvSpPr>
        <p:spPr>
          <a:xfrm>
            <a:off x="3063240" y="3090672"/>
            <a:ext cx="54864" cy="1545336"/>
          </a:xfrm>
          <a:prstGeom prst="rect">
            <a:avLst/>
          </a:prstGeom>
          <a:solidFill>
            <a:srgbClr val="7C5CA0"/>
          </a:solidFill>
          <a:ln/>
        </p:spPr>
      </p:sp>
      <p:sp>
        <p:nvSpPr>
          <p:cNvPr id="17" name="Text 15"/>
          <p:cNvSpPr txBox="1"/>
          <p:nvPr/>
        </p:nvSpPr>
        <p:spPr>
          <a:xfrm>
            <a:off x="3319272" y="314553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Important Features</a:t>
            </a:r>
            <a:endParaRPr lang="en-US" sz="1300" dirty="0"/>
          </a:p>
        </p:txBody>
      </p:sp>
      <p:sp>
        <p:nvSpPr>
          <p:cNvPr id="18" name="Text 16"/>
          <p:cNvSpPr txBox="1"/>
          <p:nvPr/>
        </p:nvSpPr>
        <p:spPr>
          <a:xfrm>
            <a:off x="3319272" y="3465576"/>
            <a:ext cx="3520440" cy="1188720"/>
          </a:xfrm>
          <a:prstGeom prst="rect">
            <a:avLst/>
          </a:prstGeom>
          <a:noFill/>
          <a:ln/>
        </p:spPr>
        <p:txBody>
          <a:bodyPr wrap="square" lIns="0" tIns="0" rIns="0" bIns="0" rtlCol="0" anchor="t"/>
          <a:lstStyle/>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Very high processing speed</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ULSI and advanced processors</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Parallel/distributed computing</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AI, robotics, NLP and machine learning</a:t>
            </a:r>
            <a:endParaRPr lang="en-US" sz="1050" dirty="0"/>
          </a:p>
        </p:txBody>
      </p:sp>
      <p:sp>
        <p:nvSpPr>
          <p:cNvPr id="19" name="Shape 17"/>
          <p:cNvSpPr/>
          <p:nvPr/>
        </p:nvSpPr>
        <p:spPr>
          <a:xfrm>
            <a:off x="7863840" y="3017520"/>
            <a:ext cx="3977640" cy="1691640"/>
          </a:xfrm>
          <a:prstGeom prst="roundRect">
            <a:avLst>
              <a:gd name="adj" fmla="val 4324"/>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0" name="Shape 18"/>
          <p:cNvSpPr/>
          <p:nvPr/>
        </p:nvSpPr>
        <p:spPr>
          <a:xfrm>
            <a:off x="7863840" y="3090672"/>
            <a:ext cx="54864" cy="1545336"/>
          </a:xfrm>
          <a:prstGeom prst="rect">
            <a:avLst/>
          </a:prstGeom>
          <a:solidFill>
            <a:srgbClr val="7C5CA0"/>
          </a:solidFill>
          <a:ln/>
        </p:spPr>
      </p:sp>
      <p:sp>
        <p:nvSpPr>
          <p:cNvPr id="21" name="Text 19"/>
          <p:cNvSpPr txBox="1"/>
          <p:nvPr/>
        </p:nvSpPr>
        <p:spPr>
          <a:xfrm>
            <a:off x="8119872" y="314553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Languages / Software</a:t>
            </a:r>
            <a:endParaRPr lang="en-US" sz="1300" dirty="0"/>
          </a:p>
        </p:txBody>
      </p:sp>
      <p:sp>
        <p:nvSpPr>
          <p:cNvPr id="22" name="Text 20"/>
          <p:cNvSpPr txBox="1"/>
          <p:nvPr/>
        </p:nvSpPr>
        <p:spPr>
          <a:xfrm>
            <a:off x="8119872" y="3465576"/>
            <a:ext cx="3520440" cy="1188720"/>
          </a:xfrm>
          <a:prstGeom prst="rect">
            <a:avLst/>
          </a:prstGeom>
          <a:noFill/>
          <a:ln/>
        </p:spPr>
        <p:txBody>
          <a:bodyPr wrap="square" lIns="0" tIns="0" rIns="0" bIns="0" rtlCol="0" anchor="t"/>
          <a:lstStyle/>
          <a:p>
            <a:pPr indent="0" marL="0">
              <a:lnSpc>
                <a:spcPct val="115000"/>
              </a:lnSpc>
              <a:buNone/>
            </a:pPr>
            <a:r>
              <a:rPr lang="en-US" sz="1150" dirty="0">
                <a:solidFill>
                  <a:srgbClr val="444C5C"/>
                </a:solidFill>
                <a:latin typeface="Arial" pitchFamily="34" charset="0"/>
                <a:ea typeface="Arial" pitchFamily="34" charset="-122"/>
                <a:cs typeface="Arial" pitchFamily="34" charset="-120"/>
              </a:rPr>
              <a:t>Python, AI/ML frameworks, C/C++, Java and many others</a:t>
            </a:r>
            <a:endParaRPr lang="en-US" sz="1150" dirty="0"/>
          </a:p>
        </p:txBody>
      </p:sp>
      <p:sp>
        <p:nvSpPr>
          <p:cNvPr id="23" name="Shape 21"/>
          <p:cNvSpPr/>
          <p:nvPr/>
        </p:nvSpPr>
        <p:spPr>
          <a:xfrm>
            <a:off x="54864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4" name="Shape 22"/>
          <p:cNvSpPr/>
          <p:nvPr/>
        </p:nvSpPr>
        <p:spPr>
          <a:xfrm>
            <a:off x="548640" y="4965192"/>
            <a:ext cx="54864" cy="1362456"/>
          </a:xfrm>
          <a:prstGeom prst="rect">
            <a:avLst/>
          </a:prstGeom>
          <a:solidFill>
            <a:srgbClr val="7C5CA0"/>
          </a:solidFill>
          <a:ln/>
        </p:spPr>
      </p:sp>
      <p:sp>
        <p:nvSpPr>
          <p:cNvPr id="25" name="Text 23"/>
          <p:cNvSpPr txBox="1"/>
          <p:nvPr/>
        </p:nvSpPr>
        <p:spPr>
          <a:xfrm>
            <a:off x="80467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Advantages</a:t>
            </a:r>
            <a:endParaRPr lang="en-US" sz="1200" dirty="0"/>
          </a:p>
        </p:txBody>
      </p:sp>
      <p:sp>
        <p:nvSpPr>
          <p:cNvPr id="26" name="Text 24"/>
          <p:cNvSpPr txBox="1"/>
          <p:nvPr/>
        </p:nvSpPr>
        <p:spPr>
          <a:xfrm>
            <a:off x="804672" y="5340096"/>
            <a:ext cx="3200400" cy="1005840"/>
          </a:xfrm>
          <a:prstGeom prst="rect">
            <a:avLst/>
          </a:prstGeom>
          <a:noFill/>
          <a:ln/>
        </p:spPr>
        <p:txBody>
          <a:bodyPr wrap="square" lIns="0" tIns="0" rIns="0" bIns="0" rtlCol="0" anchor="t"/>
          <a:lstStyle/>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Extremely small and powerful</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Huge storage and connectivity</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Intelligent decision support</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Natural language and image processing</a:t>
            </a:r>
            <a:endParaRPr lang="en-US" sz="950" dirty="0"/>
          </a:p>
        </p:txBody>
      </p:sp>
      <p:sp>
        <p:nvSpPr>
          <p:cNvPr id="27" name="Shape 25"/>
          <p:cNvSpPr/>
          <p:nvPr/>
        </p:nvSpPr>
        <p:spPr>
          <a:xfrm>
            <a:off x="448056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8" name="Shape 26"/>
          <p:cNvSpPr/>
          <p:nvPr/>
        </p:nvSpPr>
        <p:spPr>
          <a:xfrm>
            <a:off x="4480560" y="4965192"/>
            <a:ext cx="54864" cy="1362456"/>
          </a:xfrm>
          <a:prstGeom prst="rect">
            <a:avLst/>
          </a:prstGeom>
          <a:solidFill>
            <a:srgbClr val="7C5CA0"/>
          </a:solidFill>
          <a:ln/>
        </p:spPr>
      </p:sp>
      <p:sp>
        <p:nvSpPr>
          <p:cNvPr id="29" name="Text 27"/>
          <p:cNvSpPr txBox="1"/>
          <p:nvPr/>
        </p:nvSpPr>
        <p:spPr>
          <a:xfrm>
            <a:off x="473659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Limitations</a:t>
            </a:r>
            <a:endParaRPr lang="en-US" sz="1200" dirty="0"/>
          </a:p>
        </p:txBody>
      </p:sp>
      <p:sp>
        <p:nvSpPr>
          <p:cNvPr id="30" name="Text 28"/>
          <p:cNvSpPr txBox="1"/>
          <p:nvPr/>
        </p:nvSpPr>
        <p:spPr>
          <a:xfrm>
            <a:off x="4736592" y="5340096"/>
            <a:ext cx="3200400" cy="1005840"/>
          </a:xfrm>
          <a:prstGeom prst="rect">
            <a:avLst/>
          </a:prstGeom>
          <a:noFill/>
          <a:ln/>
        </p:spPr>
        <p:txBody>
          <a:bodyPr wrap="square" lIns="0" tIns="0" rIns="0" bIns="0" rtlCol="0" anchor="t"/>
          <a:lstStyle/>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High development complexity</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Security/privacy concerns</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Expensive advanced infrastructure</a:t>
            </a:r>
            <a:endParaRPr lang="en-US" sz="950" dirty="0"/>
          </a:p>
        </p:txBody>
      </p:sp>
      <p:sp>
        <p:nvSpPr>
          <p:cNvPr id="31" name="Shape 29"/>
          <p:cNvSpPr/>
          <p:nvPr/>
        </p:nvSpPr>
        <p:spPr>
          <a:xfrm>
            <a:off x="841248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32" name="Shape 30"/>
          <p:cNvSpPr/>
          <p:nvPr/>
        </p:nvSpPr>
        <p:spPr>
          <a:xfrm>
            <a:off x="8412480" y="4965192"/>
            <a:ext cx="54864" cy="1362456"/>
          </a:xfrm>
          <a:prstGeom prst="rect">
            <a:avLst/>
          </a:prstGeom>
          <a:solidFill>
            <a:srgbClr val="7C5CA0"/>
          </a:solidFill>
          <a:ln/>
        </p:spPr>
      </p:sp>
      <p:sp>
        <p:nvSpPr>
          <p:cNvPr id="33" name="Text 31"/>
          <p:cNvSpPr txBox="1"/>
          <p:nvPr/>
        </p:nvSpPr>
        <p:spPr>
          <a:xfrm>
            <a:off x="866851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Exam Key Point</a:t>
            </a:r>
            <a:endParaRPr lang="en-US" sz="1200" dirty="0"/>
          </a:p>
        </p:txBody>
      </p:sp>
      <p:sp>
        <p:nvSpPr>
          <p:cNvPr id="34" name="Text 32"/>
          <p:cNvSpPr txBox="1"/>
          <p:nvPr/>
        </p:nvSpPr>
        <p:spPr>
          <a:xfrm>
            <a:off x="8668512" y="5340096"/>
            <a:ext cx="3200400" cy="1005840"/>
          </a:xfrm>
          <a:prstGeom prst="rect">
            <a:avLst/>
          </a:prstGeom>
          <a:noFill/>
          <a:ln/>
        </p:spPr>
        <p:txBody>
          <a:bodyPr wrap="square" lIns="0" tIns="0" rIns="0" bIns="0" rtlCol="0" anchor="t"/>
          <a:lstStyle/>
          <a:p>
            <a:pPr indent="0" marL="0">
              <a:lnSpc>
                <a:spcPct val="115000"/>
              </a:lnSpc>
              <a:buNone/>
            </a:pPr>
            <a:r>
              <a:rPr lang="en-US" sz="950" dirty="0">
                <a:solidFill>
                  <a:srgbClr val="444C5C"/>
                </a:solidFill>
                <a:latin typeface="Arial" pitchFamily="34" charset="0"/>
                <a:ea typeface="Arial" pitchFamily="34" charset="-122"/>
                <a:cs typeface="Arial" pitchFamily="34" charset="-120"/>
              </a:rPr>
              <a:t>Fifth generation = ULSI + AI. Focus on intelligent and highly connected computing.</a:t>
            </a:r>
            <a:endParaRPr lang="en-US" sz="950" dirty="0"/>
          </a:p>
        </p:txBody>
      </p:sp>
      <p:sp>
        <p:nvSpPr>
          <p:cNvPr id="35" name="Text 33"/>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6 Generation: Sixth Generation*</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Period • Modern / emerging era    |    Main technology • Advanced AI, parallel &amp; distributed computing</a:t>
            </a:r>
            <a:endParaRPr lang="en-US" sz="1300" dirty="0"/>
          </a:p>
        </p:txBody>
      </p:sp>
      <p:sp>
        <p:nvSpPr>
          <p:cNvPr id="4" name="Shape 2"/>
          <p:cNvSpPr/>
          <p:nvPr/>
        </p:nvSpPr>
        <p:spPr>
          <a:xfrm>
            <a:off x="548640" y="1463040"/>
            <a:ext cx="2331720" cy="3246120"/>
          </a:xfrm>
          <a:prstGeom prst="roundRect">
            <a:avLst>
              <a:gd name="adj" fmla="val 3922"/>
            </a:avLst>
          </a:prstGeom>
          <a:solidFill>
            <a:srgbClr val="FFFFFF"/>
          </a:solidFill>
          <a:ln w="9525">
            <a:solidFill>
              <a:srgbClr val="E3E7F0"/>
            </a:solidFill>
            <a:prstDash val="solid"/>
          </a:ln>
          <a:effectLst>
            <a:outerShdw sx="100000" sy="100000" kx="0" ky="0" algn="bl" rotWithShape="0" blurRad="76200" dist="25400" dir="5400000">
              <a:srgbClr val="1B2B4A">
                <a:alpha val="15000"/>
              </a:srgbClr>
            </a:outerShdw>
          </a:effectLst>
        </p:spPr>
      </p:sp>
      <p:sp>
        <p:nvSpPr>
          <p:cNvPr id="5" name="Shape 3"/>
          <p:cNvSpPr/>
          <p:nvPr/>
        </p:nvSpPr>
        <p:spPr>
          <a:xfrm>
            <a:off x="1234440" y="2194560"/>
            <a:ext cx="914400" cy="914400"/>
          </a:xfrm>
          <a:prstGeom prst="roundRect">
            <a:avLst>
              <a:gd name="adj" fmla="val 12000"/>
            </a:avLst>
          </a:prstGeom>
          <a:solidFill>
            <a:srgbClr val="3A968E"/>
          </a:solidFill>
          <a:ln/>
        </p:spPr>
      </p:sp>
      <p:sp>
        <p:nvSpPr>
          <p:cNvPr id="6" name="Text 4"/>
          <p:cNvSpPr txBox="1"/>
          <p:nvPr/>
        </p:nvSpPr>
        <p:spPr>
          <a:xfrm>
            <a:off x="685800" y="3246120"/>
            <a:ext cx="2057400" cy="457200"/>
          </a:xfrm>
          <a:prstGeom prst="rect">
            <a:avLst/>
          </a:prstGeom>
          <a:noFill/>
          <a:ln/>
        </p:spPr>
        <p:txBody>
          <a:bodyPr wrap="square" rtlCol="0" anchor="ctr"/>
          <a:lstStyle/>
          <a:p>
            <a:pPr algn="ctr" indent="0" marL="0">
              <a:buNone/>
            </a:pPr>
            <a:r>
              <a:rPr lang="en-US" sz="1050" b="1" dirty="0">
                <a:solidFill>
                  <a:srgbClr val="16223D"/>
                </a:solidFill>
                <a:latin typeface="Arial" pitchFamily="34" charset="0"/>
                <a:ea typeface="Arial" pitchFamily="34" charset="-122"/>
                <a:cs typeface="Arial" pitchFamily="34" charset="-120"/>
              </a:rPr>
              <a:t>PARALLEL / DISTRIBUTED</a:t>
            </a:r>
            <a:endParaRPr lang="en-US" sz="1050" dirty="0"/>
          </a:p>
        </p:txBody>
      </p:sp>
      <p:sp>
        <p:nvSpPr>
          <p:cNvPr id="7" name="Shape 5"/>
          <p:cNvSpPr/>
          <p:nvPr/>
        </p:nvSpPr>
        <p:spPr>
          <a:xfrm>
            <a:off x="3063240" y="1463040"/>
            <a:ext cx="3977640" cy="1417320"/>
          </a:xfrm>
          <a:prstGeom prst="roundRect">
            <a:avLst>
              <a:gd name="adj" fmla="val 5161"/>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8" name="Shape 6"/>
          <p:cNvSpPr/>
          <p:nvPr/>
        </p:nvSpPr>
        <p:spPr>
          <a:xfrm>
            <a:off x="3063240" y="1536192"/>
            <a:ext cx="54864" cy="1271016"/>
          </a:xfrm>
          <a:prstGeom prst="rect">
            <a:avLst/>
          </a:prstGeom>
          <a:solidFill>
            <a:srgbClr val="3A968E"/>
          </a:solidFill>
          <a:ln/>
        </p:spPr>
      </p:sp>
      <p:sp>
        <p:nvSpPr>
          <p:cNvPr id="9" name="Text 7"/>
          <p:cNvSpPr txBox="1"/>
          <p:nvPr/>
        </p:nvSpPr>
        <p:spPr>
          <a:xfrm>
            <a:off x="3319272" y="159105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Examples</a:t>
            </a:r>
            <a:endParaRPr lang="en-US" sz="1300" dirty="0"/>
          </a:p>
        </p:txBody>
      </p:sp>
      <p:sp>
        <p:nvSpPr>
          <p:cNvPr id="10" name="Text 8"/>
          <p:cNvSpPr txBox="1"/>
          <p:nvPr/>
        </p:nvSpPr>
        <p:spPr>
          <a:xfrm>
            <a:off x="3319272" y="1911096"/>
            <a:ext cx="3520440" cy="914400"/>
          </a:xfrm>
          <a:prstGeom prst="rect">
            <a:avLst/>
          </a:prstGeom>
          <a:noFill/>
          <a:ln/>
        </p:spPr>
        <p:txBody>
          <a:bodyPr wrap="square" lIns="0" tIns="0" rIns="0" bIns="0" rtlCol="0" anchor="t"/>
          <a:lstStyle/>
          <a:p>
            <a:pPr indent="0" marL="0">
              <a:lnSpc>
                <a:spcPct val="115000"/>
              </a:lnSpc>
              <a:buNone/>
            </a:pPr>
            <a:r>
              <a:rPr lang="en-US" sz="1200" dirty="0">
                <a:solidFill>
                  <a:srgbClr val="444C5C"/>
                </a:solidFill>
                <a:latin typeface="Arial" pitchFamily="34" charset="0"/>
                <a:ea typeface="Arial" pitchFamily="34" charset="-122"/>
                <a:cs typeface="Arial" pitchFamily="34" charset="-120"/>
              </a:rPr>
              <a:t>AI supercomputers, autonomous systems, advanced robotics, intelligent networks</a:t>
            </a:r>
            <a:endParaRPr lang="en-US" sz="1200" dirty="0"/>
          </a:p>
        </p:txBody>
      </p:sp>
      <p:sp>
        <p:nvSpPr>
          <p:cNvPr id="11" name="Shape 9"/>
          <p:cNvSpPr/>
          <p:nvPr/>
        </p:nvSpPr>
        <p:spPr>
          <a:xfrm>
            <a:off x="7863840" y="1463040"/>
            <a:ext cx="3977640" cy="1417320"/>
          </a:xfrm>
          <a:prstGeom prst="roundRect">
            <a:avLst>
              <a:gd name="adj" fmla="val 5161"/>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2" name="Shape 10"/>
          <p:cNvSpPr/>
          <p:nvPr/>
        </p:nvSpPr>
        <p:spPr>
          <a:xfrm>
            <a:off x="7863840" y="1536192"/>
            <a:ext cx="54864" cy="1271016"/>
          </a:xfrm>
          <a:prstGeom prst="rect">
            <a:avLst/>
          </a:prstGeom>
          <a:solidFill>
            <a:srgbClr val="3A968E"/>
          </a:solidFill>
          <a:ln/>
        </p:spPr>
      </p:sp>
      <p:sp>
        <p:nvSpPr>
          <p:cNvPr id="13" name="Text 11"/>
          <p:cNvSpPr txBox="1"/>
          <p:nvPr/>
        </p:nvSpPr>
        <p:spPr>
          <a:xfrm>
            <a:off x="8119872" y="159105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Main Technology</a:t>
            </a:r>
            <a:endParaRPr lang="en-US" sz="1300" dirty="0"/>
          </a:p>
        </p:txBody>
      </p:sp>
      <p:sp>
        <p:nvSpPr>
          <p:cNvPr id="14" name="Text 12"/>
          <p:cNvSpPr txBox="1"/>
          <p:nvPr/>
        </p:nvSpPr>
        <p:spPr>
          <a:xfrm>
            <a:off x="8119872" y="1911096"/>
            <a:ext cx="3520440" cy="914400"/>
          </a:xfrm>
          <a:prstGeom prst="rect">
            <a:avLst/>
          </a:prstGeom>
          <a:noFill/>
          <a:ln/>
        </p:spPr>
        <p:txBody>
          <a:bodyPr wrap="square" lIns="0" tIns="0" rIns="0" bIns="0" rtlCol="0" anchor="t"/>
          <a:lstStyle/>
          <a:p>
            <a:pPr indent="0" marL="0">
              <a:lnSpc>
                <a:spcPct val="115000"/>
              </a:lnSpc>
              <a:buNone/>
            </a:pPr>
            <a:r>
              <a:rPr lang="en-US" sz="1200" dirty="0">
                <a:solidFill>
                  <a:srgbClr val="444C5C"/>
                </a:solidFill>
                <a:latin typeface="Arial" pitchFamily="34" charset="0"/>
                <a:ea typeface="Arial" pitchFamily="34" charset="-122"/>
                <a:cs typeface="Arial" pitchFamily="34" charset="-120"/>
              </a:rPr>
              <a:t>Advanced AI, parallel &amp; distributed computing</a:t>
            </a:r>
            <a:endParaRPr lang="en-US" sz="1200" dirty="0"/>
          </a:p>
        </p:txBody>
      </p:sp>
      <p:sp>
        <p:nvSpPr>
          <p:cNvPr id="15" name="Shape 13"/>
          <p:cNvSpPr/>
          <p:nvPr/>
        </p:nvSpPr>
        <p:spPr>
          <a:xfrm>
            <a:off x="3063240" y="3017520"/>
            <a:ext cx="3977640" cy="1691640"/>
          </a:xfrm>
          <a:prstGeom prst="roundRect">
            <a:avLst>
              <a:gd name="adj" fmla="val 4324"/>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6" name="Shape 14"/>
          <p:cNvSpPr/>
          <p:nvPr/>
        </p:nvSpPr>
        <p:spPr>
          <a:xfrm>
            <a:off x="3063240" y="3090672"/>
            <a:ext cx="54864" cy="1545336"/>
          </a:xfrm>
          <a:prstGeom prst="rect">
            <a:avLst/>
          </a:prstGeom>
          <a:solidFill>
            <a:srgbClr val="3A968E"/>
          </a:solidFill>
          <a:ln/>
        </p:spPr>
      </p:sp>
      <p:sp>
        <p:nvSpPr>
          <p:cNvPr id="17" name="Text 15"/>
          <p:cNvSpPr txBox="1"/>
          <p:nvPr/>
        </p:nvSpPr>
        <p:spPr>
          <a:xfrm>
            <a:off x="3319272" y="314553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Important Features</a:t>
            </a:r>
            <a:endParaRPr lang="en-US" sz="1300" dirty="0"/>
          </a:p>
        </p:txBody>
      </p:sp>
      <p:sp>
        <p:nvSpPr>
          <p:cNvPr id="18" name="Text 16"/>
          <p:cNvSpPr txBox="1"/>
          <p:nvPr/>
        </p:nvSpPr>
        <p:spPr>
          <a:xfrm>
            <a:off x="3319272" y="3465576"/>
            <a:ext cx="3520440" cy="1188720"/>
          </a:xfrm>
          <a:prstGeom prst="rect">
            <a:avLst/>
          </a:prstGeom>
          <a:noFill/>
          <a:ln/>
        </p:spPr>
        <p:txBody>
          <a:bodyPr wrap="square" lIns="0" tIns="0" rIns="0" bIns="0" rtlCol="0" anchor="t"/>
          <a:lstStyle/>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Massive parallel processing</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Advanced AI and machine learning</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Natural language and voice recognition</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Advanced robotics and automation</a:t>
            </a:r>
            <a:endParaRPr lang="en-US" sz="1050" dirty="0"/>
          </a:p>
        </p:txBody>
      </p:sp>
      <p:sp>
        <p:nvSpPr>
          <p:cNvPr id="19" name="Shape 17"/>
          <p:cNvSpPr/>
          <p:nvPr/>
        </p:nvSpPr>
        <p:spPr>
          <a:xfrm>
            <a:off x="7863840" y="3017520"/>
            <a:ext cx="3977640" cy="1691640"/>
          </a:xfrm>
          <a:prstGeom prst="roundRect">
            <a:avLst>
              <a:gd name="adj" fmla="val 4324"/>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0" name="Shape 18"/>
          <p:cNvSpPr/>
          <p:nvPr/>
        </p:nvSpPr>
        <p:spPr>
          <a:xfrm>
            <a:off x="7863840" y="3090672"/>
            <a:ext cx="54864" cy="1545336"/>
          </a:xfrm>
          <a:prstGeom prst="rect">
            <a:avLst/>
          </a:prstGeom>
          <a:solidFill>
            <a:srgbClr val="3A968E"/>
          </a:solidFill>
          <a:ln/>
        </p:spPr>
      </p:sp>
      <p:sp>
        <p:nvSpPr>
          <p:cNvPr id="21" name="Text 19"/>
          <p:cNvSpPr txBox="1"/>
          <p:nvPr/>
        </p:nvSpPr>
        <p:spPr>
          <a:xfrm>
            <a:off x="8119872" y="3145536"/>
            <a:ext cx="3520440" cy="3200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Languages / Software</a:t>
            </a:r>
            <a:endParaRPr lang="en-US" sz="1300" dirty="0"/>
          </a:p>
        </p:txBody>
      </p:sp>
      <p:sp>
        <p:nvSpPr>
          <p:cNvPr id="22" name="Text 20"/>
          <p:cNvSpPr txBox="1"/>
          <p:nvPr/>
        </p:nvSpPr>
        <p:spPr>
          <a:xfrm>
            <a:off x="8119872" y="3465576"/>
            <a:ext cx="3520440" cy="1188720"/>
          </a:xfrm>
          <a:prstGeom prst="rect">
            <a:avLst/>
          </a:prstGeom>
          <a:noFill/>
          <a:ln/>
        </p:spPr>
        <p:txBody>
          <a:bodyPr wrap="square" lIns="0" tIns="0" rIns="0" bIns="0" rtlCol="0" anchor="t"/>
          <a:lstStyle/>
          <a:p>
            <a:pPr indent="0" marL="0">
              <a:lnSpc>
                <a:spcPct val="115000"/>
              </a:lnSpc>
              <a:buNone/>
            </a:pPr>
            <a:r>
              <a:rPr lang="en-US" sz="1150" dirty="0">
                <a:solidFill>
                  <a:srgbClr val="444C5C"/>
                </a:solidFill>
                <a:latin typeface="Arial" pitchFamily="34" charset="0"/>
                <a:ea typeface="Arial" pitchFamily="34" charset="-122"/>
                <a:cs typeface="Arial" pitchFamily="34" charset="-120"/>
              </a:rPr>
              <a:t>AI/ML tools, Python, C/C++, specialized languages</a:t>
            </a:r>
            <a:endParaRPr lang="en-US" sz="1150" dirty="0"/>
          </a:p>
        </p:txBody>
      </p:sp>
      <p:sp>
        <p:nvSpPr>
          <p:cNvPr id="23" name="Shape 21"/>
          <p:cNvSpPr/>
          <p:nvPr/>
        </p:nvSpPr>
        <p:spPr>
          <a:xfrm>
            <a:off x="54864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4" name="Shape 22"/>
          <p:cNvSpPr/>
          <p:nvPr/>
        </p:nvSpPr>
        <p:spPr>
          <a:xfrm>
            <a:off x="548640" y="4965192"/>
            <a:ext cx="54864" cy="1362456"/>
          </a:xfrm>
          <a:prstGeom prst="rect">
            <a:avLst/>
          </a:prstGeom>
          <a:solidFill>
            <a:srgbClr val="3A968E"/>
          </a:solidFill>
          <a:ln/>
        </p:spPr>
      </p:sp>
      <p:sp>
        <p:nvSpPr>
          <p:cNvPr id="25" name="Text 23"/>
          <p:cNvSpPr txBox="1"/>
          <p:nvPr/>
        </p:nvSpPr>
        <p:spPr>
          <a:xfrm>
            <a:off x="80467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Advantages</a:t>
            </a:r>
            <a:endParaRPr lang="en-US" sz="1200" dirty="0"/>
          </a:p>
        </p:txBody>
      </p:sp>
      <p:sp>
        <p:nvSpPr>
          <p:cNvPr id="26" name="Text 24"/>
          <p:cNvSpPr txBox="1"/>
          <p:nvPr/>
        </p:nvSpPr>
        <p:spPr>
          <a:xfrm>
            <a:off x="804672" y="5340096"/>
            <a:ext cx="3200400" cy="1005840"/>
          </a:xfrm>
          <a:prstGeom prst="rect">
            <a:avLst/>
          </a:prstGeom>
          <a:noFill/>
          <a:ln/>
        </p:spPr>
        <p:txBody>
          <a:bodyPr wrap="square" lIns="0" tIns="0" rIns="0" bIns="0" rtlCol="0" anchor="t"/>
          <a:lstStyle/>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Can solve highly complex problems</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Very high speed and scalability</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Smarter automation</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Advanced human-computer interaction</a:t>
            </a:r>
            <a:endParaRPr lang="en-US" sz="950" dirty="0"/>
          </a:p>
        </p:txBody>
      </p:sp>
      <p:sp>
        <p:nvSpPr>
          <p:cNvPr id="27" name="Shape 25"/>
          <p:cNvSpPr/>
          <p:nvPr/>
        </p:nvSpPr>
        <p:spPr>
          <a:xfrm>
            <a:off x="448056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8" name="Shape 26"/>
          <p:cNvSpPr/>
          <p:nvPr/>
        </p:nvSpPr>
        <p:spPr>
          <a:xfrm>
            <a:off x="4480560" y="4965192"/>
            <a:ext cx="54864" cy="1362456"/>
          </a:xfrm>
          <a:prstGeom prst="rect">
            <a:avLst/>
          </a:prstGeom>
          <a:solidFill>
            <a:srgbClr val="3A968E"/>
          </a:solidFill>
          <a:ln/>
        </p:spPr>
      </p:sp>
      <p:sp>
        <p:nvSpPr>
          <p:cNvPr id="29" name="Text 27"/>
          <p:cNvSpPr txBox="1"/>
          <p:nvPr/>
        </p:nvSpPr>
        <p:spPr>
          <a:xfrm>
            <a:off x="473659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Limitations</a:t>
            </a:r>
            <a:endParaRPr lang="en-US" sz="1200" dirty="0"/>
          </a:p>
        </p:txBody>
      </p:sp>
      <p:sp>
        <p:nvSpPr>
          <p:cNvPr id="30" name="Text 28"/>
          <p:cNvSpPr txBox="1"/>
          <p:nvPr/>
        </p:nvSpPr>
        <p:spPr>
          <a:xfrm>
            <a:off x="4736592" y="5340096"/>
            <a:ext cx="3200400" cy="1005840"/>
          </a:xfrm>
          <a:prstGeom prst="rect">
            <a:avLst/>
          </a:prstGeom>
          <a:noFill/>
          <a:ln/>
        </p:spPr>
        <p:txBody>
          <a:bodyPr wrap="square" lIns="0" tIns="0" rIns="0" bIns="0" rtlCol="0" anchor="t"/>
          <a:lstStyle/>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Very complex and costly</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Ethical, security and privacy challenges</a:t>
            </a:r>
            <a:endParaRPr lang="en-US" sz="950" dirty="0"/>
          </a:p>
          <a:p>
            <a:pPr marL="342900" indent="-342900">
              <a:lnSpc>
                <a:spcPct val="115000"/>
              </a:lnSpc>
              <a:buSzPct val="100000"/>
              <a:buChar char="•"/>
            </a:pPr>
            <a:r>
              <a:rPr lang="en-US" sz="950" dirty="0">
                <a:solidFill>
                  <a:srgbClr val="444C5C"/>
                </a:solidFill>
                <a:latin typeface="Arial" pitchFamily="34" charset="0"/>
                <a:ea typeface="Arial" pitchFamily="34" charset="-122"/>
                <a:cs typeface="Arial" pitchFamily="34" charset="-120"/>
              </a:rPr>
              <a:t>Requires huge data and computing resources</a:t>
            </a:r>
            <a:endParaRPr lang="en-US" sz="950" dirty="0"/>
          </a:p>
        </p:txBody>
      </p:sp>
      <p:sp>
        <p:nvSpPr>
          <p:cNvPr id="31" name="Shape 29"/>
          <p:cNvSpPr/>
          <p:nvPr/>
        </p:nvSpPr>
        <p:spPr>
          <a:xfrm>
            <a:off x="8412480" y="4892040"/>
            <a:ext cx="3657600" cy="1508760"/>
          </a:xfrm>
          <a:prstGeom prst="roundRect">
            <a:avLst>
              <a:gd name="adj" fmla="val 4848"/>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32" name="Shape 30"/>
          <p:cNvSpPr/>
          <p:nvPr/>
        </p:nvSpPr>
        <p:spPr>
          <a:xfrm>
            <a:off x="8412480" y="4965192"/>
            <a:ext cx="54864" cy="1362456"/>
          </a:xfrm>
          <a:prstGeom prst="rect">
            <a:avLst/>
          </a:prstGeom>
          <a:solidFill>
            <a:srgbClr val="3A968E"/>
          </a:solidFill>
          <a:ln/>
        </p:spPr>
      </p:sp>
      <p:sp>
        <p:nvSpPr>
          <p:cNvPr id="33" name="Text 31"/>
          <p:cNvSpPr txBox="1"/>
          <p:nvPr/>
        </p:nvSpPr>
        <p:spPr>
          <a:xfrm>
            <a:off x="8668512" y="5020056"/>
            <a:ext cx="3200400" cy="320040"/>
          </a:xfrm>
          <a:prstGeom prst="rect">
            <a:avLst/>
          </a:prstGeom>
          <a:noFill/>
          <a:ln/>
        </p:spPr>
        <p:txBody>
          <a:bodyPr wrap="square" rtlCol="0" anchor="ctr"/>
          <a:lstStyle/>
          <a:p>
            <a:pPr indent="0" marL="0">
              <a:buNone/>
            </a:pPr>
            <a:r>
              <a:rPr lang="en-US" sz="1200" b="1" dirty="0">
                <a:solidFill>
                  <a:srgbClr val="16223D"/>
                </a:solidFill>
                <a:latin typeface="Arial" pitchFamily="34" charset="0"/>
                <a:ea typeface="Arial" pitchFamily="34" charset="-122"/>
                <a:cs typeface="Arial" pitchFamily="34" charset="-120"/>
              </a:rPr>
              <a:t>Exam Key Point</a:t>
            </a:r>
            <a:endParaRPr lang="en-US" sz="1200" dirty="0"/>
          </a:p>
        </p:txBody>
      </p:sp>
      <p:sp>
        <p:nvSpPr>
          <p:cNvPr id="34" name="Text 32"/>
          <p:cNvSpPr txBox="1"/>
          <p:nvPr/>
        </p:nvSpPr>
        <p:spPr>
          <a:xfrm>
            <a:off x="8668512" y="5340096"/>
            <a:ext cx="3200400" cy="1005840"/>
          </a:xfrm>
          <a:prstGeom prst="rect">
            <a:avLst/>
          </a:prstGeom>
          <a:noFill/>
          <a:ln/>
        </p:spPr>
        <p:txBody>
          <a:bodyPr wrap="square" lIns="0" tIns="0" rIns="0" bIns="0" rtlCol="0" anchor="t"/>
          <a:lstStyle/>
          <a:p>
            <a:pPr indent="0" marL="0">
              <a:lnSpc>
                <a:spcPct val="115000"/>
              </a:lnSpc>
              <a:buNone/>
            </a:pPr>
            <a:r>
              <a:rPr lang="en-US" sz="950" dirty="0">
                <a:solidFill>
                  <a:srgbClr val="444C5C"/>
                </a:solidFill>
                <a:latin typeface="Arial" pitchFamily="34" charset="0"/>
                <a:ea typeface="Arial" pitchFamily="34" charset="-122"/>
                <a:cs typeface="Arial" pitchFamily="34" charset="-120"/>
              </a:rPr>
              <a:t>If your textbook includes 6th generation, write: advanced AI + parallel/distributed computing + robotics + natural/voice interaction. *Classification varies by textbook.</a:t>
            </a:r>
            <a:endParaRPr lang="en-US" sz="950" dirty="0"/>
          </a:p>
        </p:txBody>
      </p:sp>
      <p:sp>
        <p:nvSpPr>
          <p:cNvPr id="35" name="Text 33"/>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Master Comparison Table</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Learn this table for 5–10 mark questions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640080"/>
                <a:gridCol w="1188720"/>
                <a:gridCol w="1920240"/>
                <a:gridCol w="1828800"/>
                <a:gridCol w="1371600"/>
                <a:gridCol w="4233672"/>
              </a:tblGrid>
              <a:tr h="566928">
                <a:tc>
                  <a:txBody>
                    <a:bodyPr/>
                    <a:lstStyle/>
                    <a:p>
                      <a:pPr algn="l" indent="0" marL="0">
                        <a:buNone/>
                      </a:pPr>
                      <a:r>
                        <a:rPr lang="en-US" sz="1100" b="1" dirty="0">
                          <a:solidFill>
                            <a:srgbClr val="FFFFFF"/>
                          </a:solidFill>
                        </a:rPr>
                        <a:t>Gen.</a:t>
                      </a:r>
                      <a:endParaRPr lang="en-US" sz="110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0F1B33"/>
                    </a:solidFill>
                  </a:tcPr>
                </a:tc>
                <a:tc>
                  <a:txBody>
                    <a:bodyPr/>
                    <a:lstStyle/>
                    <a:p>
                      <a:pPr algn="l" indent="0" marL="0">
                        <a:buNone/>
                      </a:pPr>
                      <a:r>
                        <a:rPr lang="en-US" sz="1100" b="1" dirty="0">
                          <a:solidFill>
                            <a:srgbClr val="FFFFFF"/>
                          </a:solidFill>
                        </a:rPr>
                        <a:t>Period</a:t>
                      </a:r>
                      <a:endParaRPr lang="en-US" sz="110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0F1B33"/>
                    </a:solidFill>
                  </a:tcPr>
                </a:tc>
                <a:tc>
                  <a:txBody>
                    <a:bodyPr/>
                    <a:lstStyle/>
                    <a:p>
                      <a:pPr algn="l" indent="0" marL="0">
                        <a:buNone/>
                      </a:pPr>
                      <a:r>
                        <a:rPr lang="en-US" sz="1100" b="1" dirty="0">
                          <a:solidFill>
                            <a:srgbClr val="FFFFFF"/>
                          </a:solidFill>
                        </a:rPr>
                        <a:t>Main component</a:t>
                      </a:r>
                      <a:endParaRPr lang="en-US" sz="110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0F1B33"/>
                    </a:solidFill>
                  </a:tcPr>
                </a:tc>
                <a:tc>
                  <a:txBody>
                    <a:bodyPr/>
                    <a:lstStyle/>
                    <a:p>
                      <a:pPr algn="l" indent="0" marL="0">
                        <a:buNone/>
                      </a:pPr>
                      <a:r>
                        <a:rPr lang="en-US" sz="1100" b="1" dirty="0">
                          <a:solidFill>
                            <a:srgbClr val="FFFFFF"/>
                          </a:solidFill>
                        </a:rPr>
                        <a:t>Size / speed</a:t>
                      </a:r>
                      <a:endParaRPr lang="en-US" sz="110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0F1B33"/>
                    </a:solidFill>
                  </a:tcPr>
                </a:tc>
                <a:tc>
                  <a:txBody>
                    <a:bodyPr/>
                    <a:lstStyle/>
                    <a:p>
                      <a:pPr algn="l" indent="0" marL="0">
                        <a:buNone/>
                      </a:pPr>
                      <a:r>
                        <a:rPr lang="en-US" sz="1100" b="1" dirty="0">
                          <a:solidFill>
                            <a:srgbClr val="FFFFFF"/>
                          </a:solidFill>
                        </a:rPr>
                        <a:t>Power / heat</a:t>
                      </a:r>
                      <a:endParaRPr lang="en-US" sz="110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0F1B33"/>
                    </a:solidFill>
                  </a:tcPr>
                </a:tc>
                <a:tc>
                  <a:txBody>
                    <a:bodyPr/>
                    <a:lstStyle/>
                    <a:p>
                      <a:pPr algn="l" indent="0" marL="0">
                        <a:buNone/>
                      </a:pPr>
                      <a:r>
                        <a:rPr lang="en-US" sz="1100" b="1" dirty="0">
                          <a:solidFill>
                            <a:srgbClr val="FFFFFF"/>
                          </a:solidFill>
                        </a:rPr>
                        <a:t>Key development</a:t>
                      </a:r>
                      <a:endParaRPr lang="en-US" sz="110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0F1B33"/>
                    </a:solidFill>
                  </a:tcPr>
                </a:tc>
              </a:tr>
              <a:tr h="566928">
                <a:tc>
                  <a:txBody>
                    <a:bodyPr/>
                    <a:lstStyle/>
                    <a:p>
                      <a:pPr algn="ctr" indent="0" marL="0">
                        <a:buNone/>
                      </a:pPr>
                      <a:r>
                        <a:rPr lang="en-US" sz="1050" dirty="0">
                          <a:solidFill>
                            <a:srgbClr val="2B3348"/>
                          </a:solidFill>
                        </a:rPr>
                        <a:t>1</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1942–55</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Vacuum tube</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Huge / slow</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Very high</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First electronic computers</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r>
              <a:tr h="566928">
                <a:tc>
                  <a:txBody>
                    <a:bodyPr/>
                    <a:lstStyle/>
                    <a:p>
                      <a:pPr algn="ctr" indent="0" marL="0">
                        <a:buNone/>
                      </a:pPr>
                      <a:r>
                        <a:rPr lang="en-US" sz="1050" dirty="0">
                          <a:solidFill>
                            <a:srgbClr val="2B3348"/>
                          </a:solidFill>
                        </a:rPr>
                        <a:t>2</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1955–64</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Transistor</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Smaller / faster</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Lower</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Reliable transistorized systems</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r>
              <a:tr h="566928">
                <a:tc>
                  <a:txBody>
                    <a:bodyPr/>
                    <a:lstStyle/>
                    <a:p>
                      <a:pPr algn="ctr" indent="0" marL="0">
                        <a:buNone/>
                      </a:pPr>
                      <a:r>
                        <a:rPr lang="en-US" sz="1050" dirty="0">
                          <a:solidFill>
                            <a:srgbClr val="2B3348"/>
                          </a:solidFill>
                        </a:rPr>
                        <a:t>3</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1964–75</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IC</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Smaller / faster</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Lower</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OS, multiprogramming, high-level use</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r>
              <a:tr h="566928">
                <a:tc>
                  <a:txBody>
                    <a:bodyPr/>
                    <a:lstStyle/>
                    <a:p>
                      <a:pPr algn="ctr" indent="0" marL="0">
                        <a:buNone/>
                      </a:pPr>
                      <a:r>
                        <a:rPr lang="en-US" sz="1050" dirty="0">
                          <a:solidFill>
                            <a:srgbClr val="2B3348"/>
                          </a:solidFill>
                        </a:rPr>
                        <a:t>4</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1975–80*</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Microprocessor</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Very small / fast</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Low</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Personal computers</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r>
              <a:tr h="566928">
                <a:tc>
                  <a:txBody>
                    <a:bodyPr/>
                    <a:lstStyle/>
                    <a:p>
                      <a:pPr algn="ctr" indent="0" marL="0">
                        <a:buNone/>
                      </a:pPr>
                      <a:r>
                        <a:rPr lang="en-US" sz="1050" dirty="0">
                          <a:solidFill>
                            <a:srgbClr val="2B3348"/>
                          </a:solidFill>
                        </a:rPr>
                        <a:t>5</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1980–today</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ULSI + AI</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Tiny / very fast</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Efficient</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3348"/>
                          </a:solidFill>
                        </a:rPr>
                        <a:t>AI, networking, intelligent systems</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r>
              <a:tr h="566928">
                <a:tc>
                  <a:txBody>
                    <a:bodyPr/>
                    <a:lstStyle/>
                    <a:p>
                      <a:pPr algn="ctr" indent="0" marL="0">
                        <a:buNone/>
                      </a:pPr>
                      <a:r>
                        <a:rPr lang="en-US" sz="1050" dirty="0">
                          <a:solidFill>
                            <a:srgbClr val="2B3348"/>
                          </a:solidFill>
                        </a:rPr>
                        <a:t>6*</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Modern</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Advanced AI / parallel</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Very fast / scalable</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Varies</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c>
                  <a:txBody>
                    <a:bodyPr/>
                    <a:lstStyle/>
                    <a:p>
                      <a:pPr algn="l" indent="0" marL="0">
                        <a:buNone/>
                      </a:pPr>
                      <a:r>
                        <a:rPr lang="en-US" sz="1050" dirty="0">
                          <a:solidFill>
                            <a:srgbClr val="2B3348"/>
                          </a:solidFill>
                        </a:rPr>
                        <a:t>Robotics, NLP, distributed intelligence</a:t>
                      </a:r>
                      <a:endParaRPr lang="en-US" sz="1050" dirty="0"/>
                    </a:p>
                  </a:txBody>
                  <a:tcPr marL="91440" marR="91440" marT="45720" marB="45720"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7ECF6"/>
                    </a:solidFill>
                  </a:tcPr>
                </a:tc>
              </a:tr>
            </a:tbl>
          </a:graphicData>
        </a:graphic>
      </p:graphicFrame>
      <p:sp>
        <p:nvSpPr>
          <p:cNvPr id="5" name="Text 2"/>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33"/>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Easy Memory Chain</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A9B6D0"/>
                </a:solidFill>
                <a:latin typeface="Arial" pitchFamily="34" charset="0"/>
                <a:ea typeface="Arial" pitchFamily="34" charset="-122"/>
                <a:cs typeface="Arial" pitchFamily="34" charset="-120"/>
              </a:rPr>
              <a:t>One line to remember the main technologies</a:t>
            </a:r>
            <a:endParaRPr lang="en-US" sz="1300" dirty="0"/>
          </a:p>
        </p:txBody>
      </p:sp>
      <p:sp>
        <p:nvSpPr>
          <p:cNvPr id="4" name="Shape 2"/>
          <p:cNvSpPr/>
          <p:nvPr/>
        </p:nvSpPr>
        <p:spPr>
          <a:xfrm>
            <a:off x="676656" y="2377440"/>
            <a:ext cx="1691640" cy="1051560"/>
          </a:xfrm>
          <a:prstGeom prst="roundRect">
            <a:avLst>
              <a:gd name="adj" fmla="val 8696"/>
            </a:avLst>
          </a:prstGeom>
          <a:solidFill>
            <a:srgbClr val="D9534F"/>
          </a:solidFill>
          <a:ln/>
        </p:spPr>
      </p:sp>
      <p:sp>
        <p:nvSpPr>
          <p:cNvPr id="5" name="Text 3"/>
          <p:cNvSpPr txBox="1"/>
          <p:nvPr/>
        </p:nvSpPr>
        <p:spPr>
          <a:xfrm>
            <a:off x="676656" y="2514600"/>
            <a:ext cx="16916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676656" y="2926080"/>
            <a:ext cx="1691640" cy="365760"/>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TUBE</a:t>
            </a:r>
            <a:endParaRPr lang="en-US" sz="950" dirty="0"/>
          </a:p>
        </p:txBody>
      </p:sp>
      <p:sp>
        <p:nvSpPr>
          <p:cNvPr id="7" name="Shape 5"/>
          <p:cNvSpPr/>
          <p:nvPr/>
        </p:nvSpPr>
        <p:spPr>
          <a:xfrm>
            <a:off x="2505456" y="2377440"/>
            <a:ext cx="1691640" cy="1051560"/>
          </a:xfrm>
          <a:prstGeom prst="roundRect">
            <a:avLst>
              <a:gd name="adj" fmla="val 8696"/>
            </a:avLst>
          </a:prstGeom>
          <a:solidFill>
            <a:srgbClr val="E8963C"/>
          </a:solidFill>
          <a:ln/>
        </p:spPr>
      </p:sp>
      <p:sp>
        <p:nvSpPr>
          <p:cNvPr id="8" name="Text 6"/>
          <p:cNvSpPr txBox="1"/>
          <p:nvPr/>
        </p:nvSpPr>
        <p:spPr>
          <a:xfrm>
            <a:off x="2505456" y="2514600"/>
            <a:ext cx="16916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txBox="1"/>
          <p:nvPr/>
        </p:nvSpPr>
        <p:spPr>
          <a:xfrm>
            <a:off x="2505456" y="2926080"/>
            <a:ext cx="1691640" cy="365760"/>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TRANSISTOR</a:t>
            </a:r>
            <a:endParaRPr lang="en-US" sz="950" dirty="0"/>
          </a:p>
        </p:txBody>
      </p:sp>
      <p:sp>
        <p:nvSpPr>
          <p:cNvPr id="10" name="Shape 8"/>
          <p:cNvSpPr/>
          <p:nvPr/>
        </p:nvSpPr>
        <p:spPr>
          <a:xfrm>
            <a:off x="4334256" y="2377440"/>
            <a:ext cx="1691640" cy="1051560"/>
          </a:xfrm>
          <a:prstGeom prst="roundRect">
            <a:avLst>
              <a:gd name="adj" fmla="val 8696"/>
            </a:avLst>
          </a:prstGeom>
          <a:solidFill>
            <a:srgbClr val="4A9E6C"/>
          </a:solidFill>
          <a:ln/>
        </p:spPr>
      </p:sp>
      <p:sp>
        <p:nvSpPr>
          <p:cNvPr id="11" name="Text 9"/>
          <p:cNvSpPr txBox="1"/>
          <p:nvPr/>
        </p:nvSpPr>
        <p:spPr>
          <a:xfrm>
            <a:off x="4334256" y="2514600"/>
            <a:ext cx="16916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txBox="1"/>
          <p:nvPr/>
        </p:nvSpPr>
        <p:spPr>
          <a:xfrm>
            <a:off x="4334256" y="2926080"/>
            <a:ext cx="1691640" cy="365760"/>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IC</a:t>
            </a:r>
            <a:endParaRPr lang="en-US" sz="950" dirty="0"/>
          </a:p>
        </p:txBody>
      </p:sp>
      <p:sp>
        <p:nvSpPr>
          <p:cNvPr id="13" name="Shape 11"/>
          <p:cNvSpPr/>
          <p:nvPr/>
        </p:nvSpPr>
        <p:spPr>
          <a:xfrm>
            <a:off x="6163056" y="2377440"/>
            <a:ext cx="1691640" cy="1051560"/>
          </a:xfrm>
          <a:prstGeom prst="roundRect">
            <a:avLst>
              <a:gd name="adj" fmla="val 8696"/>
            </a:avLst>
          </a:prstGeom>
          <a:solidFill>
            <a:srgbClr val="3D6EBD"/>
          </a:solidFill>
          <a:ln/>
        </p:spPr>
      </p:sp>
      <p:sp>
        <p:nvSpPr>
          <p:cNvPr id="14" name="Text 12"/>
          <p:cNvSpPr txBox="1"/>
          <p:nvPr/>
        </p:nvSpPr>
        <p:spPr>
          <a:xfrm>
            <a:off x="6163056" y="2514600"/>
            <a:ext cx="16916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txBox="1"/>
          <p:nvPr/>
        </p:nvSpPr>
        <p:spPr>
          <a:xfrm>
            <a:off x="6163056" y="2926080"/>
            <a:ext cx="1691640" cy="365760"/>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MICROPROCESSOR</a:t>
            </a:r>
            <a:endParaRPr lang="en-US" sz="950" dirty="0"/>
          </a:p>
        </p:txBody>
      </p:sp>
      <p:sp>
        <p:nvSpPr>
          <p:cNvPr id="16" name="Shape 14"/>
          <p:cNvSpPr/>
          <p:nvPr/>
        </p:nvSpPr>
        <p:spPr>
          <a:xfrm>
            <a:off x="7991856" y="2377440"/>
            <a:ext cx="1691640" cy="1051560"/>
          </a:xfrm>
          <a:prstGeom prst="roundRect">
            <a:avLst>
              <a:gd name="adj" fmla="val 8696"/>
            </a:avLst>
          </a:prstGeom>
          <a:solidFill>
            <a:srgbClr val="7C5CA0"/>
          </a:solidFill>
          <a:ln/>
        </p:spPr>
      </p:sp>
      <p:sp>
        <p:nvSpPr>
          <p:cNvPr id="17" name="Text 15"/>
          <p:cNvSpPr txBox="1"/>
          <p:nvPr/>
        </p:nvSpPr>
        <p:spPr>
          <a:xfrm>
            <a:off x="7991856" y="2514600"/>
            <a:ext cx="16916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7991856" y="2926080"/>
            <a:ext cx="1691640" cy="365760"/>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AI / ULSI</a:t>
            </a:r>
            <a:endParaRPr lang="en-US" sz="950" dirty="0"/>
          </a:p>
        </p:txBody>
      </p:sp>
      <p:sp>
        <p:nvSpPr>
          <p:cNvPr id="19" name="Shape 17"/>
          <p:cNvSpPr/>
          <p:nvPr/>
        </p:nvSpPr>
        <p:spPr>
          <a:xfrm>
            <a:off x="9820656" y="2377440"/>
            <a:ext cx="1691640" cy="1051560"/>
          </a:xfrm>
          <a:prstGeom prst="roundRect">
            <a:avLst>
              <a:gd name="adj" fmla="val 8696"/>
            </a:avLst>
          </a:prstGeom>
          <a:solidFill>
            <a:srgbClr val="3A968E"/>
          </a:solidFill>
          <a:ln/>
        </p:spPr>
      </p:sp>
      <p:sp>
        <p:nvSpPr>
          <p:cNvPr id="20" name="Text 18"/>
          <p:cNvSpPr txBox="1"/>
          <p:nvPr/>
        </p:nvSpPr>
        <p:spPr>
          <a:xfrm>
            <a:off x="9820656" y="2514600"/>
            <a:ext cx="16916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1" name="Text 19"/>
          <p:cNvSpPr txBox="1"/>
          <p:nvPr/>
        </p:nvSpPr>
        <p:spPr>
          <a:xfrm>
            <a:off x="9820656" y="2926080"/>
            <a:ext cx="1691640" cy="365760"/>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ADVANCED AI</a:t>
            </a:r>
            <a:endParaRPr lang="en-US" sz="950" dirty="0"/>
          </a:p>
        </p:txBody>
      </p:sp>
      <p:sp>
        <p:nvSpPr>
          <p:cNvPr id="22" name="Text 20"/>
          <p:cNvSpPr txBox="1"/>
          <p:nvPr/>
        </p:nvSpPr>
        <p:spPr>
          <a:xfrm>
            <a:off x="548640" y="4023360"/>
            <a:ext cx="11091672"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TUBE  →  TRANSISTOR  →  IC  →  MICROPROCESSOR  →  AI  →  ADVANCED AI*</a:t>
            </a:r>
            <a:endParaRPr lang="en-US" sz="1800" dirty="0"/>
          </a:p>
        </p:txBody>
      </p:sp>
      <p:sp>
        <p:nvSpPr>
          <p:cNvPr id="23" name="Text 21"/>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8FA0C0"/>
                </a:solidFill>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Important 1-Mark Questions &amp; Answers</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Definitions, fill-in-the-blank style and very short answers</a:t>
            </a:r>
            <a:endParaRPr lang="en-US" sz="1300" dirty="0"/>
          </a:p>
        </p:txBody>
      </p:sp>
      <p:sp>
        <p:nvSpPr>
          <p:cNvPr id="4" name="Shape 2"/>
          <p:cNvSpPr/>
          <p:nvPr/>
        </p:nvSpPr>
        <p:spPr>
          <a:xfrm>
            <a:off x="548640" y="1417320"/>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5" name="Shape 3"/>
          <p:cNvSpPr/>
          <p:nvPr/>
        </p:nvSpPr>
        <p:spPr>
          <a:xfrm>
            <a:off x="548640" y="1490472"/>
            <a:ext cx="54864" cy="630936"/>
          </a:xfrm>
          <a:prstGeom prst="rect">
            <a:avLst/>
          </a:prstGeom>
          <a:solidFill>
            <a:srgbClr val="D9534F"/>
          </a:solidFill>
          <a:ln/>
        </p:spPr>
      </p:sp>
      <p:sp>
        <p:nvSpPr>
          <p:cNvPr id="6" name="Text 4"/>
          <p:cNvSpPr txBox="1"/>
          <p:nvPr/>
        </p:nvSpPr>
        <p:spPr>
          <a:xfrm>
            <a:off x="804672" y="1545336"/>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1. What is a computer generation?</a:t>
            </a:r>
            <a:endParaRPr lang="en-US" sz="1000" dirty="0"/>
          </a:p>
        </p:txBody>
      </p:sp>
      <p:sp>
        <p:nvSpPr>
          <p:cNvPr id="7" name="Text 5"/>
          <p:cNvSpPr txBox="1"/>
          <p:nvPr/>
        </p:nvSpPr>
        <p:spPr>
          <a:xfrm>
            <a:off x="804672" y="1911096"/>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A stage in the development of computer technology.</a:t>
            </a:r>
            <a:endParaRPr lang="en-US" sz="1000" dirty="0"/>
          </a:p>
        </p:txBody>
      </p:sp>
      <p:sp>
        <p:nvSpPr>
          <p:cNvPr id="8" name="Shape 6"/>
          <p:cNvSpPr/>
          <p:nvPr/>
        </p:nvSpPr>
        <p:spPr>
          <a:xfrm>
            <a:off x="4389120" y="1417320"/>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9" name="Shape 7"/>
          <p:cNvSpPr/>
          <p:nvPr/>
        </p:nvSpPr>
        <p:spPr>
          <a:xfrm>
            <a:off x="4389120" y="1490472"/>
            <a:ext cx="54864" cy="630936"/>
          </a:xfrm>
          <a:prstGeom prst="rect">
            <a:avLst/>
          </a:prstGeom>
          <a:solidFill>
            <a:srgbClr val="E8963C"/>
          </a:solidFill>
          <a:ln/>
        </p:spPr>
      </p:sp>
      <p:sp>
        <p:nvSpPr>
          <p:cNvPr id="10" name="Text 8"/>
          <p:cNvSpPr txBox="1"/>
          <p:nvPr/>
        </p:nvSpPr>
        <p:spPr>
          <a:xfrm>
            <a:off x="4645152" y="1545336"/>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2. Which component was used in first generation?</a:t>
            </a:r>
            <a:endParaRPr lang="en-US" sz="1000" dirty="0"/>
          </a:p>
        </p:txBody>
      </p:sp>
      <p:sp>
        <p:nvSpPr>
          <p:cNvPr id="11" name="Text 9"/>
          <p:cNvSpPr txBox="1"/>
          <p:nvPr/>
        </p:nvSpPr>
        <p:spPr>
          <a:xfrm>
            <a:off x="4645152" y="1911096"/>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Vacuum tube.</a:t>
            </a:r>
            <a:endParaRPr lang="en-US" sz="1000" dirty="0"/>
          </a:p>
        </p:txBody>
      </p:sp>
      <p:sp>
        <p:nvSpPr>
          <p:cNvPr id="12" name="Shape 10"/>
          <p:cNvSpPr/>
          <p:nvPr/>
        </p:nvSpPr>
        <p:spPr>
          <a:xfrm>
            <a:off x="8229600" y="1417320"/>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3" name="Shape 11"/>
          <p:cNvSpPr/>
          <p:nvPr/>
        </p:nvSpPr>
        <p:spPr>
          <a:xfrm>
            <a:off x="8229600" y="1490472"/>
            <a:ext cx="54864" cy="630936"/>
          </a:xfrm>
          <a:prstGeom prst="rect">
            <a:avLst/>
          </a:prstGeom>
          <a:solidFill>
            <a:srgbClr val="4A9E6C"/>
          </a:solidFill>
          <a:ln/>
        </p:spPr>
      </p:sp>
      <p:sp>
        <p:nvSpPr>
          <p:cNvPr id="14" name="Text 12"/>
          <p:cNvSpPr txBox="1"/>
          <p:nvPr/>
        </p:nvSpPr>
        <p:spPr>
          <a:xfrm>
            <a:off x="8485632" y="1545336"/>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3. Name one first-generation computer.</a:t>
            </a:r>
            <a:endParaRPr lang="en-US" sz="1000" dirty="0"/>
          </a:p>
        </p:txBody>
      </p:sp>
      <p:sp>
        <p:nvSpPr>
          <p:cNvPr id="15" name="Text 13"/>
          <p:cNvSpPr txBox="1"/>
          <p:nvPr/>
        </p:nvSpPr>
        <p:spPr>
          <a:xfrm>
            <a:off x="8485632" y="1911096"/>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ENIAC / EDVAC / UNIVAC I.</a:t>
            </a:r>
            <a:endParaRPr lang="en-US" sz="1000" dirty="0"/>
          </a:p>
        </p:txBody>
      </p:sp>
      <p:sp>
        <p:nvSpPr>
          <p:cNvPr id="16" name="Shape 14"/>
          <p:cNvSpPr/>
          <p:nvPr/>
        </p:nvSpPr>
        <p:spPr>
          <a:xfrm>
            <a:off x="548640" y="2340864"/>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7" name="Shape 15"/>
          <p:cNvSpPr/>
          <p:nvPr/>
        </p:nvSpPr>
        <p:spPr>
          <a:xfrm>
            <a:off x="548640" y="2414016"/>
            <a:ext cx="54864" cy="630936"/>
          </a:xfrm>
          <a:prstGeom prst="rect">
            <a:avLst/>
          </a:prstGeom>
          <a:solidFill>
            <a:srgbClr val="3D6EBD"/>
          </a:solidFill>
          <a:ln/>
        </p:spPr>
      </p:sp>
      <p:sp>
        <p:nvSpPr>
          <p:cNvPr id="18" name="Text 16"/>
          <p:cNvSpPr txBox="1"/>
          <p:nvPr/>
        </p:nvSpPr>
        <p:spPr>
          <a:xfrm>
            <a:off x="804672" y="2468880"/>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4. Which component replaced vacuum tubes?</a:t>
            </a:r>
            <a:endParaRPr lang="en-US" sz="1000" dirty="0"/>
          </a:p>
        </p:txBody>
      </p:sp>
      <p:sp>
        <p:nvSpPr>
          <p:cNvPr id="19" name="Text 17"/>
          <p:cNvSpPr txBox="1"/>
          <p:nvPr/>
        </p:nvSpPr>
        <p:spPr>
          <a:xfrm>
            <a:off x="804672" y="2834640"/>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Transistor.</a:t>
            </a:r>
            <a:endParaRPr lang="en-US" sz="1000" dirty="0"/>
          </a:p>
        </p:txBody>
      </p:sp>
      <p:sp>
        <p:nvSpPr>
          <p:cNvPr id="20" name="Shape 18"/>
          <p:cNvSpPr/>
          <p:nvPr/>
        </p:nvSpPr>
        <p:spPr>
          <a:xfrm>
            <a:off x="4389120" y="2340864"/>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1" name="Shape 19"/>
          <p:cNvSpPr/>
          <p:nvPr/>
        </p:nvSpPr>
        <p:spPr>
          <a:xfrm>
            <a:off x="4389120" y="2414016"/>
            <a:ext cx="54864" cy="630936"/>
          </a:xfrm>
          <a:prstGeom prst="rect">
            <a:avLst/>
          </a:prstGeom>
          <a:solidFill>
            <a:srgbClr val="7C5CA0"/>
          </a:solidFill>
          <a:ln/>
        </p:spPr>
      </p:sp>
      <p:sp>
        <p:nvSpPr>
          <p:cNvPr id="22" name="Text 20"/>
          <p:cNvSpPr txBox="1"/>
          <p:nvPr/>
        </p:nvSpPr>
        <p:spPr>
          <a:xfrm>
            <a:off x="4645152" y="2468880"/>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5. Name one second-generation computer.</a:t>
            </a:r>
            <a:endParaRPr lang="en-US" sz="1000" dirty="0"/>
          </a:p>
        </p:txBody>
      </p:sp>
      <p:sp>
        <p:nvSpPr>
          <p:cNvPr id="23" name="Text 21"/>
          <p:cNvSpPr txBox="1"/>
          <p:nvPr/>
        </p:nvSpPr>
        <p:spPr>
          <a:xfrm>
            <a:off x="4645152" y="2834640"/>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IBM 1401 / IBM 1620.</a:t>
            </a:r>
            <a:endParaRPr lang="en-US" sz="1000" dirty="0"/>
          </a:p>
        </p:txBody>
      </p:sp>
      <p:sp>
        <p:nvSpPr>
          <p:cNvPr id="24" name="Shape 22"/>
          <p:cNvSpPr/>
          <p:nvPr/>
        </p:nvSpPr>
        <p:spPr>
          <a:xfrm>
            <a:off x="8229600" y="2340864"/>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5" name="Shape 23"/>
          <p:cNvSpPr/>
          <p:nvPr/>
        </p:nvSpPr>
        <p:spPr>
          <a:xfrm>
            <a:off x="8229600" y="2414016"/>
            <a:ext cx="54864" cy="630936"/>
          </a:xfrm>
          <a:prstGeom prst="rect">
            <a:avLst/>
          </a:prstGeom>
          <a:solidFill>
            <a:srgbClr val="D9534F"/>
          </a:solidFill>
          <a:ln/>
        </p:spPr>
      </p:sp>
      <p:sp>
        <p:nvSpPr>
          <p:cNvPr id="26" name="Text 24"/>
          <p:cNvSpPr txBox="1"/>
          <p:nvPr/>
        </p:nvSpPr>
        <p:spPr>
          <a:xfrm>
            <a:off x="8485632" y="2468880"/>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6. What is IC?</a:t>
            </a:r>
            <a:endParaRPr lang="en-US" sz="1000" dirty="0"/>
          </a:p>
        </p:txBody>
      </p:sp>
      <p:sp>
        <p:nvSpPr>
          <p:cNvPr id="27" name="Text 25"/>
          <p:cNvSpPr txBox="1"/>
          <p:nvPr/>
        </p:nvSpPr>
        <p:spPr>
          <a:xfrm>
            <a:off x="8485632" y="2834640"/>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Integrated Circuit.</a:t>
            </a:r>
            <a:endParaRPr lang="en-US" sz="1000" dirty="0"/>
          </a:p>
        </p:txBody>
      </p:sp>
      <p:sp>
        <p:nvSpPr>
          <p:cNvPr id="28" name="Shape 26"/>
          <p:cNvSpPr/>
          <p:nvPr/>
        </p:nvSpPr>
        <p:spPr>
          <a:xfrm>
            <a:off x="548640" y="3264408"/>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9" name="Shape 27"/>
          <p:cNvSpPr/>
          <p:nvPr/>
        </p:nvSpPr>
        <p:spPr>
          <a:xfrm>
            <a:off x="548640" y="3337560"/>
            <a:ext cx="54864" cy="630936"/>
          </a:xfrm>
          <a:prstGeom prst="rect">
            <a:avLst/>
          </a:prstGeom>
          <a:solidFill>
            <a:srgbClr val="E8963C"/>
          </a:solidFill>
          <a:ln/>
        </p:spPr>
      </p:sp>
      <p:sp>
        <p:nvSpPr>
          <p:cNvPr id="30" name="Text 28"/>
          <p:cNvSpPr txBox="1"/>
          <p:nvPr/>
        </p:nvSpPr>
        <p:spPr>
          <a:xfrm>
            <a:off x="804672" y="3392424"/>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7. Which generation used ICs?</a:t>
            </a:r>
            <a:endParaRPr lang="en-US" sz="1000" dirty="0"/>
          </a:p>
        </p:txBody>
      </p:sp>
      <p:sp>
        <p:nvSpPr>
          <p:cNvPr id="31" name="Text 29"/>
          <p:cNvSpPr txBox="1"/>
          <p:nvPr/>
        </p:nvSpPr>
        <p:spPr>
          <a:xfrm>
            <a:off x="804672" y="3758184"/>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Third generation.</a:t>
            </a:r>
            <a:endParaRPr lang="en-US" sz="1000" dirty="0"/>
          </a:p>
        </p:txBody>
      </p:sp>
      <p:sp>
        <p:nvSpPr>
          <p:cNvPr id="32" name="Shape 30"/>
          <p:cNvSpPr/>
          <p:nvPr/>
        </p:nvSpPr>
        <p:spPr>
          <a:xfrm>
            <a:off x="4389120" y="3264408"/>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33" name="Shape 31"/>
          <p:cNvSpPr/>
          <p:nvPr/>
        </p:nvSpPr>
        <p:spPr>
          <a:xfrm>
            <a:off x="4389120" y="3337560"/>
            <a:ext cx="54864" cy="630936"/>
          </a:xfrm>
          <a:prstGeom prst="rect">
            <a:avLst/>
          </a:prstGeom>
          <a:solidFill>
            <a:srgbClr val="4A9E6C"/>
          </a:solidFill>
          <a:ln/>
        </p:spPr>
      </p:sp>
      <p:sp>
        <p:nvSpPr>
          <p:cNvPr id="34" name="Text 32"/>
          <p:cNvSpPr txBox="1"/>
          <p:nvPr/>
        </p:nvSpPr>
        <p:spPr>
          <a:xfrm>
            <a:off x="4645152" y="3392424"/>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8. What is VLSI?</a:t>
            </a:r>
            <a:endParaRPr lang="en-US" sz="1000" dirty="0"/>
          </a:p>
        </p:txBody>
      </p:sp>
      <p:sp>
        <p:nvSpPr>
          <p:cNvPr id="35" name="Text 33"/>
          <p:cNvSpPr txBox="1"/>
          <p:nvPr/>
        </p:nvSpPr>
        <p:spPr>
          <a:xfrm>
            <a:off x="4645152" y="3758184"/>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Very Large Scale Integration.</a:t>
            </a:r>
            <a:endParaRPr lang="en-US" sz="1000" dirty="0"/>
          </a:p>
        </p:txBody>
      </p:sp>
      <p:sp>
        <p:nvSpPr>
          <p:cNvPr id="36" name="Shape 34"/>
          <p:cNvSpPr/>
          <p:nvPr/>
        </p:nvSpPr>
        <p:spPr>
          <a:xfrm>
            <a:off x="8229600" y="3264408"/>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37" name="Shape 35"/>
          <p:cNvSpPr/>
          <p:nvPr/>
        </p:nvSpPr>
        <p:spPr>
          <a:xfrm>
            <a:off x="8229600" y="3337560"/>
            <a:ext cx="54864" cy="630936"/>
          </a:xfrm>
          <a:prstGeom prst="rect">
            <a:avLst/>
          </a:prstGeom>
          <a:solidFill>
            <a:srgbClr val="3D6EBD"/>
          </a:solidFill>
          <a:ln/>
        </p:spPr>
      </p:sp>
      <p:sp>
        <p:nvSpPr>
          <p:cNvPr id="38" name="Text 36"/>
          <p:cNvSpPr txBox="1"/>
          <p:nvPr/>
        </p:nvSpPr>
        <p:spPr>
          <a:xfrm>
            <a:off x="8485632" y="3392424"/>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9. Which generation introduced microprocessors?</a:t>
            </a:r>
            <a:endParaRPr lang="en-US" sz="1000" dirty="0"/>
          </a:p>
        </p:txBody>
      </p:sp>
      <p:sp>
        <p:nvSpPr>
          <p:cNvPr id="39" name="Text 37"/>
          <p:cNvSpPr txBox="1"/>
          <p:nvPr/>
        </p:nvSpPr>
        <p:spPr>
          <a:xfrm>
            <a:off x="8485632" y="3758184"/>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Fourth generation.</a:t>
            </a:r>
            <a:endParaRPr lang="en-US" sz="1000" dirty="0"/>
          </a:p>
        </p:txBody>
      </p:sp>
      <p:sp>
        <p:nvSpPr>
          <p:cNvPr id="40" name="Shape 38"/>
          <p:cNvSpPr/>
          <p:nvPr/>
        </p:nvSpPr>
        <p:spPr>
          <a:xfrm>
            <a:off x="548640" y="4187952"/>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41" name="Shape 39"/>
          <p:cNvSpPr/>
          <p:nvPr/>
        </p:nvSpPr>
        <p:spPr>
          <a:xfrm>
            <a:off x="548640" y="4261104"/>
            <a:ext cx="54864" cy="630936"/>
          </a:xfrm>
          <a:prstGeom prst="rect">
            <a:avLst/>
          </a:prstGeom>
          <a:solidFill>
            <a:srgbClr val="7C5CA0"/>
          </a:solidFill>
          <a:ln/>
        </p:spPr>
      </p:sp>
      <p:sp>
        <p:nvSpPr>
          <p:cNvPr id="42" name="Text 40"/>
          <p:cNvSpPr txBox="1"/>
          <p:nvPr/>
        </p:nvSpPr>
        <p:spPr>
          <a:xfrm>
            <a:off x="804672" y="4315968"/>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10. What is ULSI?</a:t>
            </a:r>
            <a:endParaRPr lang="en-US" sz="1000" dirty="0"/>
          </a:p>
        </p:txBody>
      </p:sp>
      <p:sp>
        <p:nvSpPr>
          <p:cNvPr id="43" name="Text 41"/>
          <p:cNvSpPr txBox="1"/>
          <p:nvPr/>
        </p:nvSpPr>
        <p:spPr>
          <a:xfrm>
            <a:off x="804672" y="4681728"/>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Ultra Large Scale Integration.</a:t>
            </a:r>
            <a:endParaRPr lang="en-US" sz="1000" dirty="0"/>
          </a:p>
        </p:txBody>
      </p:sp>
      <p:sp>
        <p:nvSpPr>
          <p:cNvPr id="44" name="Shape 42"/>
          <p:cNvSpPr/>
          <p:nvPr/>
        </p:nvSpPr>
        <p:spPr>
          <a:xfrm>
            <a:off x="4389120" y="4187952"/>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45" name="Shape 43"/>
          <p:cNvSpPr/>
          <p:nvPr/>
        </p:nvSpPr>
        <p:spPr>
          <a:xfrm>
            <a:off x="4389120" y="4261104"/>
            <a:ext cx="54864" cy="630936"/>
          </a:xfrm>
          <a:prstGeom prst="rect">
            <a:avLst/>
          </a:prstGeom>
          <a:solidFill>
            <a:srgbClr val="D9534F"/>
          </a:solidFill>
          <a:ln/>
        </p:spPr>
      </p:sp>
      <p:sp>
        <p:nvSpPr>
          <p:cNvPr id="46" name="Text 44"/>
          <p:cNvSpPr txBox="1"/>
          <p:nvPr/>
        </p:nvSpPr>
        <p:spPr>
          <a:xfrm>
            <a:off x="4645152" y="4315968"/>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11. Which generation is associated with AI?</a:t>
            </a:r>
            <a:endParaRPr lang="en-US" sz="1000" dirty="0"/>
          </a:p>
        </p:txBody>
      </p:sp>
      <p:sp>
        <p:nvSpPr>
          <p:cNvPr id="47" name="Text 45"/>
          <p:cNvSpPr txBox="1"/>
          <p:nvPr/>
        </p:nvSpPr>
        <p:spPr>
          <a:xfrm>
            <a:off x="4645152" y="4681728"/>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Fifth generation.</a:t>
            </a:r>
            <a:endParaRPr lang="en-US" sz="1000" dirty="0"/>
          </a:p>
        </p:txBody>
      </p:sp>
      <p:sp>
        <p:nvSpPr>
          <p:cNvPr id="48" name="Shape 46"/>
          <p:cNvSpPr/>
          <p:nvPr/>
        </p:nvSpPr>
        <p:spPr>
          <a:xfrm>
            <a:off x="8229600" y="4187952"/>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49" name="Shape 47"/>
          <p:cNvSpPr/>
          <p:nvPr/>
        </p:nvSpPr>
        <p:spPr>
          <a:xfrm>
            <a:off x="8229600" y="4261104"/>
            <a:ext cx="54864" cy="630936"/>
          </a:xfrm>
          <a:prstGeom prst="rect">
            <a:avLst/>
          </a:prstGeom>
          <a:solidFill>
            <a:srgbClr val="E8963C"/>
          </a:solidFill>
          <a:ln/>
        </p:spPr>
      </p:sp>
      <p:sp>
        <p:nvSpPr>
          <p:cNvPr id="50" name="Text 48"/>
          <p:cNvSpPr txBox="1"/>
          <p:nvPr/>
        </p:nvSpPr>
        <p:spPr>
          <a:xfrm>
            <a:off x="8485632" y="4315968"/>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12. Give one feature of 5th generation.</a:t>
            </a:r>
            <a:endParaRPr lang="en-US" sz="1000" dirty="0"/>
          </a:p>
        </p:txBody>
      </p:sp>
      <p:sp>
        <p:nvSpPr>
          <p:cNvPr id="51" name="Text 49"/>
          <p:cNvSpPr txBox="1"/>
          <p:nvPr/>
        </p:nvSpPr>
        <p:spPr>
          <a:xfrm>
            <a:off x="8485632" y="4681728"/>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Artificial intelligence / NLP / robotics.</a:t>
            </a:r>
            <a:endParaRPr lang="en-US" sz="1000" dirty="0"/>
          </a:p>
        </p:txBody>
      </p:sp>
      <p:sp>
        <p:nvSpPr>
          <p:cNvPr id="52" name="Shape 50"/>
          <p:cNvSpPr/>
          <p:nvPr/>
        </p:nvSpPr>
        <p:spPr>
          <a:xfrm>
            <a:off x="548640" y="5111496"/>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53" name="Shape 51"/>
          <p:cNvSpPr/>
          <p:nvPr/>
        </p:nvSpPr>
        <p:spPr>
          <a:xfrm>
            <a:off x="548640" y="5184648"/>
            <a:ext cx="54864" cy="630936"/>
          </a:xfrm>
          <a:prstGeom prst="rect">
            <a:avLst/>
          </a:prstGeom>
          <a:solidFill>
            <a:srgbClr val="4A9E6C"/>
          </a:solidFill>
          <a:ln/>
        </p:spPr>
      </p:sp>
      <p:sp>
        <p:nvSpPr>
          <p:cNvPr id="54" name="Text 52"/>
          <p:cNvSpPr txBox="1"/>
          <p:nvPr/>
        </p:nvSpPr>
        <p:spPr>
          <a:xfrm>
            <a:off x="804672" y="5239512"/>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13. Name one high-level language used in early generations.</a:t>
            </a:r>
            <a:endParaRPr lang="en-US" sz="1000" dirty="0"/>
          </a:p>
        </p:txBody>
      </p:sp>
      <p:sp>
        <p:nvSpPr>
          <p:cNvPr id="55" name="Text 53"/>
          <p:cNvSpPr txBox="1"/>
          <p:nvPr/>
        </p:nvSpPr>
        <p:spPr>
          <a:xfrm>
            <a:off x="804672" y="5605272"/>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FORTRAN / COBOL.</a:t>
            </a:r>
            <a:endParaRPr lang="en-US" sz="1000" dirty="0"/>
          </a:p>
        </p:txBody>
      </p:sp>
      <p:sp>
        <p:nvSpPr>
          <p:cNvPr id="56" name="Shape 54"/>
          <p:cNvSpPr/>
          <p:nvPr/>
        </p:nvSpPr>
        <p:spPr>
          <a:xfrm>
            <a:off x="4389120" y="5111496"/>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57" name="Shape 55"/>
          <p:cNvSpPr/>
          <p:nvPr/>
        </p:nvSpPr>
        <p:spPr>
          <a:xfrm>
            <a:off x="4389120" y="5184648"/>
            <a:ext cx="54864" cy="630936"/>
          </a:xfrm>
          <a:prstGeom prst="rect">
            <a:avLst/>
          </a:prstGeom>
          <a:solidFill>
            <a:srgbClr val="3D6EBD"/>
          </a:solidFill>
          <a:ln/>
        </p:spPr>
      </p:sp>
      <p:sp>
        <p:nvSpPr>
          <p:cNvPr id="58" name="Text 56"/>
          <p:cNvSpPr txBox="1"/>
          <p:nvPr/>
        </p:nvSpPr>
        <p:spPr>
          <a:xfrm>
            <a:off x="4645152" y="5239512"/>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14. Give one limitation of first generation.</a:t>
            </a:r>
            <a:endParaRPr lang="en-US" sz="1000" dirty="0"/>
          </a:p>
        </p:txBody>
      </p:sp>
      <p:sp>
        <p:nvSpPr>
          <p:cNvPr id="59" name="Text 57"/>
          <p:cNvSpPr txBox="1"/>
          <p:nvPr/>
        </p:nvSpPr>
        <p:spPr>
          <a:xfrm>
            <a:off x="4645152" y="5605272"/>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High heat / high power consumption.</a:t>
            </a:r>
            <a:endParaRPr lang="en-US" sz="1000" dirty="0"/>
          </a:p>
        </p:txBody>
      </p:sp>
      <p:sp>
        <p:nvSpPr>
          <p:cNvPr id="60" name="Shape 58"/>
          <p:cNvSpPr/>
          <p:nvPr/>
        </p:nvSpPr>
        <p:spPr>
          <a:xfrm>
            <a:off x="8229600" y="5111496"/>
            <a:ext cx="3520440" cy="777240"/>
          </a:xfrm>
          <a:prstGeom prst="roundRect">
            <a:avLst>
              <a:gd name="adj" fmla="val 9412"/>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61" name="Shape 59"/>
          <p:cNvSpPr/>
          <p:nvPr/>
        </p:nvSpPr>
        <p:spPr>
          <a:xfrm>
            <a:off x="8229600" y="5184648"/>
            <a:ext cx="54864" cy="630936"/>
          </a:xfrm>
          <a:prstGeom prst="rect">
            <a:avLst/>
          </a:prstGeom>
          <a:solidFill>
            <a:srgbClr val="7C5CA0"/>
          </a:solidFill>
          <a:ln/>
        </p:spPr>
      </p:sp>
      <p:sp>
        <p:nvSpPr>
          <p:cNvPr id="62" name="Text 60"/>
          <p:cNvSpPr txBox="1"/>
          <p:nvPr/>
        </p:nvSpPr>
        <p:spPr>
          <a:xfrm>
            <a:off x="8485632" y="5239512"/>
            <a:ext cx="3063240" cy="365760"/>
          </a:xfrm>
          <a:prstGeom prst="rect">
            <a:avLst/>
          </a:prstGeom>
          <a:noFill/>
          <a:ln/>
        </p:spPr>
        <p:txBody>
          <a:bodyPr wrap="square" rtlCol="0" anchor="ctr"/>
          <a:lstStyle/>
          <a:p>
            <a:pPr indent="0" marL="0">
              <a:buNone/>
            </a:pPr>
            <a:r>
              <a:rPr lang="en-US" sz="1000" b="1" dirty="0">
                <a:solidFill>
                  <a:srgbClr val="16223D"/>
                </a:solidFill>
                <a:latin typeface="Arial" pitchFamily="34" charset="0"/>
                <a:ea typeface="Arial" pitchFamily="34" charset="-122"/>
                <a:cs typeface="Arial" pitchFamily="34" charset="-120"/>
              </a:rPr>
              <a:t>15. What is NLP?</a:t>
            </a:r>
            <a:endParaRPr lang="en-US" sz="1000" dirty="0"/>
          </a:p>
        </p:txBody>
      </p:sp>
      <p:sp>
        <p:nvSpPr>
          <p:cNvPr id="63" name="Text 61"/>
          <p:cNvSpPr txBox="1"/>
          <p:nvPr/>
        </p:nvSpPr>
        <p:spPr>
          <a:xfrm>
            <a:off x="8485632" y="5605272"/>
            <a:ext cx="3063240" cy="22860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Natural Language Processing.</a:t>
            </a:r>
            <a:endParaRPr lang="en-US" sz="1000" dirty="0"/>
          </a:p>
        </p:txBody>
      </p:sp>
      <p:sp>
        <p:nvSpPr>
          <p:cNvPr id="64" name="Text 62"/>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Important 5-Mark Questions &amp; Full Answers</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Write in points; start with definition and finish with conclusion</a:t>
            </a:r>
            <a:endParaRPr lang="en-US" sz="1300" dirty="0"/>
          </a:p>
        </p:txBody>
      </p:sp>
      <p:sp>
        <p:nvSpPr>
          <p:cNvPr id="4" name="Shape 2"/>
          <p:cNvSpPr/>
          <p:nvPr/>
        </p:nvSpPr>
        <p:spPr>
          <a:xfrm>
            <a:off x="548640" y="1463040"/>
            <a:ext cx="5440680" cy="2377440"/>
          </a:xfrm>
          <a:prstGeom prst="roundRect">
            <a:avLst>
              <a:gd name="adj" fmla="val 3077"/>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5" name="Shape 3"/>
          <p:cNvSpPr/>
          <p:nvPr/>
        </p:nvSpPr>
        <p:spPr>
          <a:xfrm>
            <a:off x="548640" y="1536192"/>
            <a:ext cx="54864" cy="2231136"/>
          </a:xfrm>
          <a:prstGeom prst="rect">
            <a:avLst/>
          </a:prstGeom>
          <a:solidFill>
            <a:srgbClr val="3D6EBD"/>
          </a:solidFill>
          <a:ln/>
        </p:spPr>
      </p:sp>
      <p:sp>
        <p:nvSpPr>
          <p:cNvPr id="6" name="Text 4"/>
          <p:cNvSpPr txBox="1"/>
          <p:nvPr/>
        </p:nvSpPr>
        <p:spPr>
          <a:xfrm>
            <a:off x="804672" y="1591056"/>
            <a:ext cx="4983480" cy="41148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Q1. Explain the first generation of computers.</a:t>
            </a:r>
            <a:endParaRPr lang="en-US" sz="1300" dirty="0"/>
          </a:p>
        </p:txBody>
      </p:sp>
      <p:sp>
        <p:nvSpPr>
          <p:cNvPr id="7" name="Text 5"/>
          <p:cNvSpPr txBox="1"/>
          <p:nvPr/>
        </p:nvSpPr>
        <p:spPr>
          <a:xfrm>
            <a:off x="804672" y="2002536"/>
            <a:ext cx="4983480" cy="1783080"/>
          </a:xfrm>
          <a:prstGeom prst="rect">
            <a:avLst/>
          </a:prstGeom>
          <a:noFill/>
          <a:ln/>
        </p:spPr>
        <p:txBody>
          <a:bodyPr wrap="square" lIns="0" tIns="0" rIns="0" bIns="0" rtlCol="0" anchor="t"/>
          <a:lstStyle/>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Period: 1942–1955.</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Main component: vacuum tubes.</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Examples: ENIAC, EDVAC, UNIVAC I.</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Very large, costly and consumed much power.</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Produced excessive heat and had low reliability.</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Machine language was mainly used.</a:t>
            </a:r>
            <a:endParaRPr lang="en-US" sz="1050" dirty="0"/>
          </a:p>
        </p:txBody>
      </p:sp>
      <p:sp>
        <p:nvSpPr>
          <p:cNvPr id="8" name="Shape 6"/>
          <p:cNvSpPr/>
          <p:nvPr/>
        </p:nvSpPr>
        <p:spPr>
          <a:xfrm>
            <a:off x="6263640" y="1463040"/>
            <a:ext cx="5440680" cy="2377440"/>
          </a:xfrm>
          <a:prstGeom prst="roundRect">
            <a:avLst>
              <a:gd name="adj" fmla="val 3077"/>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9" name="Shape 7"/>
          <p:cNvSpPr/>
          <p:nvPr/>
        </p:nvSpPr>
        <p:spPr>
          <a:xfrm>
            <a:off x="6263640" y="1536192"/>
            <a:ext cx="54864" cy="2231136"/>
          </a:xfrm>
          <a:prstGeom prst="rect">
            <a:avLst/>
          </a:prstGeom>
          <a:solidFill>
            <a:srgbClr val="E8963C"/>
          </a:solidFill>
          <a:ln/>
        </p:spPr>
      </p:sp>
      <p:sp>
        <p:nvSpPr>
          <p:cNvPr id="10" name="Text 8"/>
          <p:cNvSpPr txBox="1"/>
          <p:nvPr/>
        </p:nvSpPr>
        <p:spPr>
          <a:xfrm>
            <a:off x="6519672" y="1591056"/>
            <a:ext cx="4983480" cy="41148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Q2. Explain the second generation of computers.</a:t>
            </a:r>
            <a:endParaRPr lang="en-US" sz="1300" dirty="0"/>
          </a:p>
        </p:txBody>
      </p:sp>
      <p:sp>
        <p:nvSpPr>
          <p:cNvPr id="11" name="Text 9"/>
          <p:cNvSpPr txBox="1"/>
          <p:nvPr/>
        </p:nvSpPr>
        <p:spPr>
          <a:xfrm>
            <a:off x="6519672" y="2002536"/>
            <a:ext cx="4983480" cy="1783080"/>
          </a:xfrm>
          <a:prstGeom prst="rect">
            <a:avLst/>
          </a:prstGeom>
          <a:noFill/>
          <a:ln/>
        </p:spPr>
        <p:txBody>
          <a:bodyPr wrap="square" lIns="0" tIns="0" rIns="0" bIns="0" rtlCol="0" anchor="t"/>
          <a:lstStyle/>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Period: 1955–1964.</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Main component: transistors.</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Examples: IBM 1401, IBM 1620, UNIVAC 1108.</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Smaller, faster and more reliable than first generation.</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Less heat and power consumption.</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Assembly and high-level languages became important.</a:t>
            </a:r>
            <a:endParaRPr lang="en-US" sz="1050" dirty="0"/>
          </a:p>
        </p:txBody>
      </p:sp>
      <p:sp>
        <p:nvSpPr>
          <p:cNvPr id="12" name="Shape 10"/>
          <p:cNvSpPr/>
          <p:nvPr/>
        </p:nvSpPr>
        <p:spPr>
          <a:xfrm>
            <a:off x="548640" y="4069080"/>
            <a:ext cx="5440680" cy="2377440"/>
          </a:xfrm>
          <a:prstGeom prst="roundRect">
            <a:avLst>
              <a:gd name="adj" fmla="val 3077"/>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3" name="Shape 11"/>
          <p:cNvSpPr/>
          <p:nvPr/>
        </p:nvSpPr>
        <p:spPr>
          <a:xfrm>
            <a:off x="548640" y="4142232"/>
            <a:ext cx="54864" cy="2231136"/>
          </a:xfrm>
          <a:prstGeom prst="rect">
            <a:avLst/>
          </a:prstGeom>
          <a:solidFill>
            <a:srgbClr val="4A9E6C"/>
          </a:solidFill>
          <a:ln/>
        </p:spPr>
      </p:sp>
      <p:sp>
        <p:nvSpPr>
          <p:cNvPr id="14" name="Text 12"/>
          <p:cNvSpPr txBox="1"/>
          <p:nvPr/>
        </p:nvSpPr>
        <p:spPr>
          <a:xfrm>
            <a:off x="804672" y="4197096"/>
            <a:ext cx="4983480" cy="41148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Q3. Explain the third generation.</a:t>
            </a:r>
            <a:endParaRPr lang="en-US" sz="1300" dirty="0"/>
          </a:p>
        </p:txBody>
      </p:sp>
      <p:sp>
        <p:nvSpPr>
          <p:cNvPr id="15" name="Text 13"/>
          <p:cNvSpPr txBox="1"/>
          <p:nvPr/>
        </p:nvSpPr>
        <p:spPr>
          <a:xfrm>
            <a:off x="804672" y="4608576"/>
            <a:ext cx="4983480" cy="1783080"/>
          </a:xfrm>
          <a:prstGeom prst="rect">
            <a:avLst/>
          </a:prstGeom>
          <a:noFill/>
          <a:ln/>
        </p:spPr>
        <p:txBody>
          <a:bodyPr wrap="square" lIns="0" tIns="0" rIns="0" bIns="0" rtlCol="0" anchor="t"/>
          <a:lstStyle/>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Period: 1964–1975.</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Main component: integrated circuits (ICs).</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Examples: IBM System/360, Honeywell 6000 series.</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Smaller, faster and more reliable.</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Operating systems, multiprogramming and time-sharing developed.</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High-level languages were widely used.</a:t>
            </a:r>
            <a:endParaRPr lang="en-US" sz="1050" dirty="0"/>
          </a:p>
        </p:txBody>
      </p:sp>
      <p:sp>
        <p:nvSpPr>
          <p:cNvPr id="16" name="Shape 14"/>
          <p:cNvSpPr/>
          <p:nvPr/>
        </p:nvSpPr>
        <p:spPr>
          <a:xfrm>
            <a:off x="6263640" y="4069080"/>
            <a:ext cx="5440680" cy="2377440"/>
          </a:xfrm>
          <a:prstGeom prst="roundRect">
            <a:avLst>
              <a:gd name="adj" fmla="val 3077"/>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7" name="Shape 15"/>
          <p:cNvSpPr/>
          <p:nvPr/>
        </p:nvSpPr>
        <p:spPr>
          <a:xfrm>
            <a:off x="6263640" y="4142232"/>
            <a:ext cx="54864" cy="2231136"/>
          </a:xfrm>
          <a:prstGeom prst="rect">
            <a:avLst/>
          </a:prstGeom>
          <a:solidFill>
            <a:srgbClr val="7C5CA0"/>
          </a:solidFill>
          <a:ln/>
        </p:spPr>
      </p:sp>
      <p:sp>
        <p:nvSpPr>
          <p:cNvPr id="18" name="Text 16"/>
          <p:cNvSpPr txBox="1"/>
          <p:nvPr/>
        </p:nvSpPr>
        <p:spPr>
          <a:xfrm>
            <a:off x="6519672" y="4197096"/>
            <a:ext cx="4983480" cy="41148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Q4. Explain the fourth generation.</a:t>
            </a:r>
            <a:endParaRPr lang="en-US" sz="1300" dirty="0"/>
          </a:p>
        </p:txBody>
      </p:sp>
      <p:sp>
        <p:nvSpPr>
          <p:cNvPr id="19" name="Text 17"/>
          <p:cNvSpPr txBox="1"/>
          <p:nvPr/>
        </p:nvSpPr>
        <p:spPr>
          <a:xfrm>
            <a:off x="6519672" y="4608576"/>
            <a:ext cx="4983480" cy="1783080"/>
          </a:xfrm>
          <a:prstGeom prst="rect">
            <a:avLst/>
          </a:prstGeom>
          <a:noFill/>
          <a:ln/>
        </p:spPr>
        <p:txBody>
          <a:bodyPr wrap="square" lIns="0" tIns="0" rIns="0" bIns="0" rtlCol="0" anchor="t"/>
          <a:lstStyle/>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Period: about 1975–1980 in many school classifications.</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Main component: microprocessor using VLSI.</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Personal/microcomputers became practical.</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Computers became very small, fast and cheaper.</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Portable computers were introduced.</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Languages such as BASIC, C and Pascal were widely used.</a:t>
            </a:r>
            <a:endParaRPr lang="en-US" sz="1050" dirty="0"/>
          </a:p>
        </p:txBody>
      </p:sp>
      <p:sp>
        <p:nvSpPr>
          <p:cNvPr id="20" name="Text 18"/>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Important 8-Mark Questions &amp; Full Answers</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High-value descriptive questions</a:t>
            </a:r>
            <a:endParaRPr lang="en-US" sz="1300" dirty="0"/>
          </a:p>
        </p:txBody>
      </p:sp>
      <p:sp>
        <p:nvSpPr>
          <p:cNvPr id="4" name="Shape 2"/>
          <p:cNvSpPr/>
          <p:nvPr/>
        </p:nvSpPr>
        <p:spPr>
          <a:xfrm>
            <a:off x="548640" y="1463040"/>
            <a:ext cx="11091672" cy="2331720"/>
          </a:xfrm>
          <a:prstGeom prst="roundRect">
            <a:avLst>
              <a:gd name="adj" fmla="val 3137"/>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5" name="Shape 3"/>
          <p:cNvSpPr/>
          <p:nvPr/>
        </p:nvSpPr>
        <p:spPr>
          <a:xfrm>
            <a:off x="548640" y="1536192"/>
            <a:ext cx="54864" cy="2185416"/>
          </a:xfrm>
          <a:prstGeom prst="rect">
            <a:avLst/>
          </a:prstGeom>
          <a:solidFill>
            <a:srgbClr val="3D6EBD"/>
          </a:solidFill>
          <a:ln/>
        </p:spPr>
      </p:sp>
      <p:sp>
        <p:nvSpPr>
          <p:cNvPr id="6" name="Text 4"/>
          <p:cNvSpPr txBox="1"/>
          <p:nvPr/>
        </p:nvSpPr>
        <p:spPr>
          <a:xfrm>
            <a:off x="804672" y="1591056"/>
            <a:ext cx="10634472" cy="36576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Q1. Describe the five generations of computers.</a:t>
            </a:r>
            <a:endParaRPr lang="en-US" sz="1300" dirty="0"/>
          </a:p>
        </p:txBody>
      </p:sp>
      <p:sp>
        <p:nvSpPr>
          <p:cNvPr id="7" name="Text 5"/>
          <p:cNvSpPr txBox="1"/>
          <p:nvPr/>
        </p:nvSpPr>
        <p:spPr>
          <a:xfrm>
            <a:off x="804672" y="1956816"/>
            <a:ext cx="10634472" cy="1783080"/>
          </a:xfrm>
          <a:prstGeom prst="rect">
            <a:avLst/>
          </a:prstGeom>
          <a:noFill/>
          <a:ln/>
        </p:spPr>
        <p:txBody>
          <a:bodyPr wrap="square" lIns="0" tIns="0" rIns="0" bIns="0" rtlCol="0" anchor="t"/>
          <a:lstStyle/>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Introduction: Computer generations are stages based on major technological changes.</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1st: 1942–55 — vacuum tubes — ENIAC/EDVAC/UNIVAC I.</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2nd: 1955–64 — transistors — smaller, faster and more reliable.</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3rd: 1964–75 — ICs — operating systems and multiprogramming grew.</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4th: 1975–80* — microprocessors/VLSI — personal computers became common.</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5th: 1980–present — ULSI/AI — intelligent, connected, high-speed systems.</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Conclusion: Each generation generally improved speed, size, reliability, cost and capability.</a:t>
            </a:r>
            <a:endParaRPr lang="en-US" sz="1050" dirty="0"/>
          </a:p>
        </p:txBody>
      </p:sp>
      <p:sp>
        <p:nvSpPr>
          <p:cNvPr id="8" name="Shape 6"/>
          <p:cNvSpPr/>
          <p:nvPr/>
        </p:nvSpPr>
        <p:spPr>
          <a:xfrm>
            <a:off x="548640" y="3977640"/>
            <a:ext cx="5349240" cy="2377440"/>
          </a:xfrm>
          <a:prstGeom prst="roundRect">
            <a:avLst>
              <a:gd name="adj" fmla="val 3077"/>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9" name="Shape 7"/>
          <p:cNvSpPr/>
          <p:nvPr/>
        </p:nvSpPr>
        <p:spPr>
          <a:xfrm>
            <a:off x="548640" y="4050792"/>
            <a:ext cx="54864" cy="2231136"/>
          </a:xfrm>
          <a:prstGeom prst="rect">
            <a:avLst/>
          </a:prstGeom>
          <a:solidFill>
            <a:srgbClr val="4A9E6C"/>
          </a:solidFill>
          <a:ln/>
        </p:spPr>
      </p:sp>
      <p:sp>
        <p:nvSpPr>
          <p:cNvPr id="10" name="Text 8"/>
          <p:cNvSpPr txBox="1"/>
          <p:nvPr/>
        </p:nvSpPr>
        <p:spPr>
          <a:xfrm>
            <a:off x="804672" y="4105656"/>
            <a:ext cx="4892040" cy="45720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Q2. Compare the first three generations.</a:t>
            </a:r>
            <a:endParaRPr lang="en-US" sz="1300" dirty="0"/>
          </a:p>
        </p:txBody>
      </p:sp>
      <p:sp>
        <p:nvSpPr>
          <p:cNvPr id="11" name="Text 9"/>
          <p:cNvSpPr txBox="1"/>
          <p:nvPr/>
        </p:nvSpPr>
        <p:spPr>
          <a:xfrm>
            <a:off x="804672" y="4562856"/>
            <a:ext cx="4892040" cy="1737360"/>
          </a:xfrm>
          <a:prstGeom prst="rect">
            <a:avLst/>
          </a:prstGeom>
          <a:noFill/>
          <a:ln/>
        </p:spPr>
        <p:txBody>
          <a:bodyPr wrap="square" lIns="0" tIns="0" rIns="0" bIns="0" rtlCol="0" anchor="t"/>
          <a:lstStyle/>
          <a:p>
            <a:pPr marL="342900" indent="-342900">
              <a:lnSpc>
                <a:spcPct val="115000"/>
              </a:lnSpc>
              <a:buSzPct val="100000"/>
              <a:buChar char="•"/>
            </a:pPr>
            <a:r>
              <a:rPr lang="en-US" sz="1000" dirty="0">
                <a:solidFill>
                  <a:srgbClr val="444C5C"/>
                </a:solidFill>
                <a:latin typeface="Arial" pitchFamily="34" charset="0"/>
                <a:ea typeface="Arial" pitchFamily="34" charset="-122"/>
                <a:cs typeface="Arial" pitchFamily="34" charset="-120"/>
              </a:rPr>
              <a:t>First: vacuum tubes; huge; high heat; high power; low reliability.</a:t>
            </a:r>
            <a:endParaRPr lang="en-US" sz="1000" dirty="0"/>
          </a:p>
          <a:p>
            <a:pPr marL="342900" indent="-342900">
              <a:lnSpc>
                <a:spcPct val="115000"/>
              </a:lnSpc>
              <a:buSzPct val="100000"/>
              <a:buChar char="•"/>
            </a:pPr>
            <a:r>
              <a:rPr lang="en-US" sz="1000" dirty="0">
                <a:solidFill>
                  <a:srgbClr val="444C5C"/>
                </a:solidFill>
                <a:latin typeface="Arial" pitchFamily="34" charset="0"/>
                <a:ea typeface="Arial" pitchFamily="34" charset="-122"/>
                <a:cs typeface="Arial" pitchFamily="34" charset="-120"/>
              </a:rPr>
              <a:t>Second: transistors; smaller; faster; less heat; more reliable.</a:t>
            </a:r>
            <a:endParaRPr lang="en-US" sz="1000" dirty="0"/>
          </a:p>
          <a:p>
            <a:pPr marL="342900" indent="-342900">
              <a:lnSpc>
                <a:spcPct val="115000"/>
              </a:lnSpc>
              <a:buSzPct val="100000"/>
              <a:buChar char="•"/>
            </a:pPr>
            <a:r>
              <a:rPr lang="en-US" sz="1000" dirty="0">
                <a:solidFill>
                  <a:srgbClr val="444C5C"/>
                </a:solidFill>
                <a:latin typeface="Arial" pitchFamily="34" charset="0"/>
                <a:ea typeface="Arial" pitchFamily="34" charset="-122"/>
                <a:cs typeface="Arial" pitchFamily="34" charset="-120"/>
              </a:rPr>
              <a:t>Third: ICs; much smaller; faster; lower power; more reliable; operating systems and high-level languages became common.</a:t>
            </a:r>
            <a:endParaRPr lang="en-US" sz="1000" dirty="0"/>
          </a:p>
          <a:p>
            <a:pPr marL="342900" indent="-342900">
              <a:lnSpc>
                <a:spcPct val="115000"/>
              </a:lnSpc>
              <a:buSzPct val="100000"/>
              <a:buChar char="•"/>
            </a:pPr>
            <a:r>
              <a:rPr lang="en-US" sz="1000" dirty="0">
                <a:solidFill>
                  <a:srgbClr val="444C5C"/>
                </a:solidFill>
                <a:latin typeface="Arial" pitchFamily="34" charset="0"/>
                <a:ea typeface="Arial" pitchFamily="34" charset="-122"/>
                <a:cs typeface="Arial" pitchFamily="34" charset="-120"/>
              </a:rPr>
              <a:t>Thus, the technology moved from individual tubes → transistors → many components on ICs.</a:t>
            </a:r>
            <a:endParaRPr lang="en-US" sz="1000" dirty="0"/>
          </a:p>
        </p:txBody>
      </p:sp>
      <p:sp>
        <p:nvSpPr>
          <p:cNvPr id="12" name="Shape 10"/>
          <p:cNvSpPr/>
          <p:nvPr/>
        </p:nvSpPr>
        <p:spPr>
          <a:xfrm>
            <a:off x="6108192" y="3977640"/>
            <a:ext cx="5532120" cy="2377440"/>
          </a:xfrm>
          <a:prstGeom prst="roundRect">
            <a:avLst>
              <a:gd name="adj" fmla="val 3077"/>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3" name="Shape 11"/>
          <p:cNvSpPr/>
          <p:nvPr/>
        </p:nvSpPr>
        <p:spPr>
          <a:xfrm>
            <a:off x="6108192" y="4050792"/>
            <a:ext cx="54864" cy="2231136"/>
          </a:xfrm>
          <a:prstGeom prst="rect">
            <a:avLst/>
          </a:prstGeom>
          <a:solidFill>
            <a:srgbClr val="7C5CA0"/>
          </a:solidFill>
          <a:ln/>
        </p:spPr>
      </p:sp>
      <p:sp>
        <p:nvSpPr>
          <p:cNvPr id="14" name="Text 12"/>
          <p:cNvSpPr txBox="1"/>
          <p:nvPr/>
        </p:nvSpPr>
        <p:spPr>
          <a:xfrm>
            <a:off x="6364224" y="4105656"/>
            <a:ext cx="5074920" cy="54864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Q3. Explain the importance of the microprocessor.</a:t>
            </a:r>
            <a:endParaRPr lang="en-US" sz="1300" dirty="0"/>
          </a:p>
        </p:txBody>
      </p:sp>
      <p:sp>
        <p:nvSpPr>
          <p:cNvPr id="15" name="Text 13"/>
          <p:cNvSpPr txBox="1"/>
          <p:nvPr/>
        </p:nvSpPr>
        <p:spPr>
          <a:xfrm>
            <a:off x="6364224" y="4654296"/>
            <a:ext cx="5074920" cy="1645920"/>
          </a:xfrm>
          <a:prstGeom prst="rect">
            <a:avLst/>
          </a:prstGeom>
          <a:noFill/>
          <a:ln/>
        </p:spPr>
        <p:txBody>
          <a:bodyPr wrap="square" lIns="0" tIns="0" rIns="0" bIns="0" rtlCol="0" anchor="t"/>
          <a:lstStyle/>
          <a:p>
            <a:pPr indent="0" marL="0">
              <a:lnSpc>
                <a:spcPct val="115000"/>
              </a:lnSpc>
              <a:buNone/>
            </a:pPr>
            <a:r>
              <a:rPr lang="en-US" sz="1050" dirty="0">
                <a:solidFill>
                  <a:srgbClr val="444C5C"/>
                </a:solidFill>
                <a:latin typeface="Arial" pitchFamily="34" charset="0"/>
                <a:ea typeface="Arial" pitchFamily="34" charset="-122"/>
                <a:cs typeface="Arial" pitchFamily="34" charset="-120"/>
              </a:rPr>
              <a:t>A microprocessor puts the CPU functions on a single chip. It made computers much smaller, faster and cheaper, enabled mass production of microcomputers and helped create personal computers and portable systems. It also reduced power consumption and made complex software practical.</a:t>
            </a:r>
            <a:endParaRPr lang="en-US" sz="1050" dirty="0"/>
          </a:p>
        </p:txBody>
      </p:sp>
      <p:sp>
        <p:nvSpPr>
          <p:cNvPr id="16" name="Text 14"/>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Important 10-Mark Questions &amp; Model Answers</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For long answers: definition → generation-wise explanation → comparison → conclusion</a:t>
            </a:r>
            <a:endParaRPr lang="en-US" sz="1300" dirty="0"/>
          </a:p>
        </p:txBody>
      </p:sp>
      <p:sp>
        <p:nvSpPr>
          <p:cNvPr id="4" name="Shape 2"/>
          <p:cNvSpPr/>
          <p:nvPr/>
        </p:nvSpPr>
        <p:spPr>
          <a:xfrm>
            <a:off x="548640" y="1463040"/>
            <a:ext cx="11091672" cy="2560320"/>
          </a:xfrm>
          <a:prstGeom prst="roundRect">
            <a:avLst>
              <a:gd name="adj" fmla="val 2857"/>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5" name="Shape 3"/>
          <p:cNvSpPr/>
          <p:nvPr/>
        </p:nvSpPr>
        <p:spPr>
          <a:xfrm>
            <a:off x="548640" y="1536192"/>
            <a:ext cx="54864" cy="2414016"/>
          </a:xfrm>
          <a:prstGeom prst="rect">
            <a:avLst/>
          </a:prstGeom>
          <a:solidFill>
            <a:srgbClr val="3D6EBD"/>
          </a:solidFill>
          <a:ln/>
        </p:spPr>
      </p:sp>
      <p:sp>
        <p:nvSpPr>
          <p:cNvPr id="6" name="Text 4"/>
          <p:cNvSpPr txBox="1"/>
          <p:nvPr/>
        </p:nvSpPr>
        <p:spPr>
          <a:xfrm>
            <a:off x="804672" y="1591056"/>
            <a:ext cx="10634472" cy="36576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Q1. Discuss the evolution of computers from first to fifth generation.</a:t>
            </a:r>
            <a:endParaRPr lang="en-US" sz="1300" dirty="0"/>
          </a:p>
        </p:txBody>
      </p:sp>
      <p:sp>
        <p:nvSpPr>
          <p:cNvPr id="7" name="Text 5"/>
          <p:cNvSpPr txBox="1"/>
          <p:nvPr/>
        </p:nvSpPr>
        <p:spPr>
          <a:xfrm>
            <a:off x="804672" y="1956816"/>
            <a:ext cx="10634472" cy="2011680"/>
          </a:xfrm>
          <a:prstGeom prst="rect">
            <a:avLst/>
          </a:prstGeom>
          <a:noFill/>
          <a:ln/>
        </p:spPr>
        <p:txBody>
          <a:bodyPr wrap="square" lIns="0" tIns="0" rIns="0" bIns="0" rtlCol="0" anchor="t"/>
          <a:lstStyle/>
          <a:p>
            <a:pPr marL="342900" indent="-342900">
              <a:lnSpc>
                <a:spcPct val="115000"/>
              </a:lnSpc>
              <a:buSzPct val="100000"/>
              <a:buChar char="•"/>
            </a:pPr>
            <a:r>
              <a:rPr lang="en-US" sz="1000" dirty="0">
                <a:solidFill>
                  <a:srgbClr val="444C5C"/>
                </a:solidFill>
                <a:latin typeface="Arial" pitchFamily="34" charset="0"/>
                <a:ea typeface="Arial" pitchFamily="34" charset="-122"/>
                <a:cs typeface="Arial" pitchFamily="34" charset="-120"/>
              </a:rPr>
              <a:t>Introduction — generations are stages marked by major technological changes.</a:t>
            </a:r>
            <a:endParaRPr lang="en-US" sz="1000" dirty="0"/>
          </a:p>
          <a:p>
            <a:pPr marL="342900" indent="-342900">
              <a:lnSpc>
                <a:spcPct val="115000"/>
              </a:lnSpc>
              <a:buSzPct val="100000"/>
              <a:buChar char="•"/>
            </a:pPr>
            <a:r>
              <a:rPr lang="en-US" sz="1000" dirty="0">
                <a:solidFill>
                  <a:srgbClr val="444C5C"/>
                </a:solidFill>
                <a:latin typeface="Arial" pitchFamily="34" charset="0"/>
                <a:ea typeface="Arial" pitchFamily="34" charset="-122"/>
                <a:cs typeface="Arial" pitchFamily="34" charset="-120"/>
              </a:rPr>
              <a:t>First — vacuum tubes; ENIAC, EDVAC, UNIVAC I; huge, hot and power-hungry.</a:t>
            </a:r>
            <a:endParaRPr lang="en-US" sz="1000" dirty="0"/>
          </a:p>
          <a:p>
            <a:pPr marL="342900" indent="-342900">
              <a:lnSpc>
                <a:spcPct val="115000"/>
              </a:lnSpc>
              <a:buSzPct val="100000"/>
              <a:buChar char="•"/>
            </a:pPr>
            <a:r>
              <a:rPr lang="en-US" sz="1000" dirty="0">
                <a:solidFill>
                  <a:srgbClr val="444C5C"/>
                </a:solidFill>
                <a:latin typeface="Arial" pitchFamily="34" charset="0"/>
                <a:ea typeface="Arial" pitchFamily="34" charset="-122"/>
                <a:cs typeface="Arial" pitchFamily="34" charset="-120"/>
              </a:rPr>
              <a:t>Second — transistors; smaller, faster, less heat; IBM 1401 etc.</a:t>
            </a:r>
            <a:endParaRPr lang="en-US" sz="1000" dirty="0"/>
          </a:p>
          <a:p>
            <a:pPr marL="342900" indent="-342900">
              <a:lnSpc>
                <a:spcPct val="115000"/>
              </a:lnSpc>
              <a:buSzPct val="100000"/>
              <a:buChar char="•"/>
            </a:pPr>
            <a:r>
              <a:rPr lang="en-US" sz="1000" dirty="0">
                <a:solidFill>
                  <a:srgbClr val="444C5C"/>
                </a:solidFill>
                <a:latin typeface="Arial" pitchFamily="34" charset="0"/>
                <a:ea typeface="Arial" pitchFamily="34" charset="-122"/>
                <a:cs typeface="Arial" pitchFamily="34" charset="-120"/>
              </a:rPr>
              <a:t>Third — ICs; greater reliability, operating systems, multiprogramming and high-level languages.</a:t>
            </a:r>
            <a:endParaRPr lang="en-US" sz="1000" dirty="0"/>
          </a:p>
          <a:p>
            <a:pPr marL="342900" indent="-342900">
              <a:lnSpc>
                <a:spcPct val="115000"/>
              </a:lnSpc>
              <a:buSzPct val="100000"/>
              <a:buChar char="•"/>
            </a:pPr>
            <a:r>
              <a:rPr lang="en-US" sz="1000" dirty="0">
                <a:solidFill>
                  <a:srgbClr val="444C5C"/>
                </a:solidFill>
                <a:latin typeface="Arial" pitchFamily="34" charset="0"/>
                <a:ea typeface="Arial" pitchFamily="34" charset="-122"/>
                <a:cs typeface="Arial" pitchFamily="34" charset="-120"/>
              </a:rPr>
              <a:t>Fourth — microprocessors/VLSI; microcomputers and personal computers; very small and fast.</a:t>
            </a:r>
            <a:endParaRPr lang="en-US" sz="1000" dirty="0"/>
          </a:p>
          <a:p>
            <a:pPr marL="342900" indent="-342900">
              <a:lnSpc>
                <a:spcPct val="115000"/>
              </a:lnSpc>
              <a:buSzPct val="100000"/>
              <a:buChar char="•"/>
            </a:pPr>
            <a:r>
              <a:rPr lang="en-US" sz="1000" dirty="0">
                <a:solidFill>
                  <a:srgbClr val="444C5C"/>
                </a:solidFill>
                <a:latin typeface="Arial" pitchFamily="34" charset="0"/>
                <a:ea typeface="Arial" pitchFamily="34" charset="-122"/>
                <a:cs typeface="Arial" pitchFamily="34" charset="-120"/>
              </a:rPr>
              <a:t>Fifth — ULSI, AI, parallel/distributed computing, robotics and natural-language processing.</a:t>
            </a:r>
            <a:endParaRPr lang="en-US" sz="1000" dirty="0"/>
          </a:p>
          <a:p>
            <a:pPr marL="342900" indent="-342900">
              <a:lnSpc>
                <a:spcPct val="115000"/>
              </a:lnSpc>
              <a:buSzPct val="100000"/>
              <a:buChar char="•"/>
            </a:pPr>
            <a:r>
              <a:rPr lang="en-US" sz="1000" dirty="0">
                <a:solidFill>
                  <a:srgbClr val="444C5C"/>
                </a:solidFill>
                <a:latin typeface="Arial" pitchFamily="34" charset="0"/>
                <a:ea typeface="Arial" pitchFamily="34" charset="-122"/>
                <a:cs typeface="Arial" pitchFamily="34" charset="-120"/>
              </a:rPr>
              <a:t>Overall — size and power use decreased while speed, reliability, storage and intelligence increased.</a:t>
            </a:r>
            <a:endParaRPr lang="en-US" sz="1000" dirty="0"/>
          </a:p>
        </p:txBody>
      </p:sp>
      <p:sp>
        <p:nvSpPr>
          <p:cNvPr id="8" name="Shape 6"/>
          <p:cNvSpPr/>
          <p:nvPr/>
        </p:nvSpPr>
        <p:spPr>
          <a:xfrm>
            <a:off x="548640" y="4206240"/>
            <a:ext cx="5349240" cy="2148840"/>
          </a:xfrm>
          <a:prstGeom prst="roundRect">
            <a:avLst>
              <a:gd name="adj" fmla="val 3404"/>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9" name="Shape 7"/>
          <p:cNvSpPr/>
          <p:nvPr/>
        </p:nvSpPr>
        <p:spPr>
          <a:xfrm>
            <a:off x="548640" y="4279392"/>
            <a:ext cx="54864" cy="2002536"/>
          </a:xfrm>
          <a:prstGeom prst="rect">
            <a:avLst/>
          </a:prstGeom>
          <a:solidFill>
            <a:srgbClr val="E8963C"/>
          </a:solidFill>
          <a:ln/>
        </p:spPr>
      </p:sp>
      <p:sp>
        <p:nvSpPr>
          <p:cNvPr id="10" name="Text 8"/>
          <p:cNvSpPr txBox="1"/>
          <p:nvPr/>
        </p:nvSpPr>
        <p:spPr>
          <a:xfrm>
            <a:off x="804672" y="4334256"/>
            <a:ext cx="4892040" cy="502920"/>
          </a:xfrm>
          <a:prstGeom prst="rect">
            <a:avLst/>
          </a:prstGeom>
          <a:noFill/>
          <a:ln/>
        </p:spPr>
        <p:txBody>
          <a:bodyPr wrap="square" rtlCol="0" anchor="ctr"/>
          <a:lstStyle/>
          <a:p>
            <a:pPr indent="0" marL="0">
              <a:buNone/>
            </a:pPr>
            <a:r>
              <a:rPr lang="en-US" sz="1300" b="1" dirty="0">
                <a:solidFill>
                  <a:srgbClr val="16223D"/>
                </a:solidFill>
                <a:latin typeface="Arial" pitchFamily="34" charset="0"/>
                <a:ea typeface="Arial" pitchFamily="34" charset="-122"/>
                <a:cs typeface="Arial" pitchFamily="34" charset="-120"/>
              </a:rPr>
              <a:t>Q2. Compare all generations on major characteristics.</a:t>
            </a:r>
            <a:endParaRPr lang="en-US" sz="1300" dirty="0"/>
          </a:p>
        </p:txBody>
      </p:sp>
      <p:sp>
        <p:nvSpPr>
          <p:cNvPr id="11" name="Text 9"/>
          <p:cNvSpPr txBox="1"/>
          <p:nvPr/>
        </p:nvSpPr>
        <p:spPr>
          <a:xfrm>
            <a:off x="804672" y="4837176"/>
            <a:ext cx="4892040" cy="1463040"/>
          </a:xfrm>
          <a:prstGeom prst="rect">
            <a:avLst/>
          </a:prstGeom>
          <a:noFill/>
          <a:ln/>
        </p:spPr>
        <p:txBody>
          <a:bodyPr wrap="square" lIns="0" tIns="0" rIns="0" bIns="0" rtlCol="0" anchor="t"/>
          <a:lstStyle/>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Use a table with columns: Generation | Period | Main technology | Size | Speed | Power/heat | Languages | Examples | Key features.</a:t>
            </a:r>
            <a:endParaRPr lang="en-US" sz="1050" dirty="0"/>
          </a:p>
          <a:p>
            <a:pPr marL="342900" indent="-342900">
              <a:lnSpc>
                <a:spcPct val="115000"/>
              </a:lnSpc>
              <a:buSzPct val="100000"/>
              <a:buChar char="•"/>
            </a:pPr>
            <a:r>
              <a:rPr lang="en-US" sz="1050" dirty="0">
                <a:solidFill>
                  <a:srgbClr val="444C5C"/>
                </a:solidFill>
                <a:latin typeface="Arial" pitchFamily="34" charset="0"/>
                <a:ea typeface="Arial" pitchFamily="34" charset="-122"/>
                <a:cs typeface="Arial" pitchFamily="34" charset="-120"/>
              </a:rPr>
              <a:t>Trend: vacuum tube → transistor → IC → microprocessor → ULSI/AI.</a:t>
            </a:r>
            <a:endParaRPr lang="en-US" sz="1050" dirty="0"/>
          </a:p>
        </p:txBody>
      </p:sp>
      <p:sp>
        <p:nvSpPr>
          <p:cNvPr id="12" name="Shape 10"/>
          <p:cNvSpPr/>
          <p:nvPr/>
        </p:nvSpPr>
        <p:spPr>
          <a:xfrm>
            <a:off x="6108192" y="4206240"/>
            <a:ext cx="5532120" cy="2148840"/>
          </a:xfrm>
          <a:prstGeom prst="roundRect">
            <a:avLst>
              <a:gd name="adj" fmla="val 3404"/>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3" name="Shape 11"/>
          <p:cNvSpPr/>
          <p:nvPr/>
        </p:nvSpPr>
        <p:spPr>
          <a:xfrm>
            <a:off x="6108192" y="4279392"/>
            <a:ext cx="54864" cy="2002536"/>
          </a:xfrm>
          <a:prstGeom prst="rect">
            <a:avLst/>
          </a:prstGeom>
          <a:solidFill>
            <a:srgbClr val="7C5CA0"/>
          </a:solidFill>
          <a:ln/>
        </p:spPr>
      </p:sp>
      <p:sp>
        <p:nvSpPr>
          <p:cNvPr id="14" name="Text 12"/>
          <p:cNvSpPr txBox="1"/>
          <p:nvPr/>
        </p:nvSpPr>
        <p:spPr>
          <a:xfrm>
            <a:off x="6364224" y="4334256"/>
            <a:ext cx="5074920" cy="640080"/>
          </a:xfrm>
          <a:prstGeom prst="rect">
            <a:avLst/>
          </a:prstGeom>
          <a:noFill/>
          <a:ln/>
        </p:spPr>
        <p:txBody>
          <a:bodyPr wrap="square" rtlCol="0" anchor="ctr"/>
          <a:lstStyle/>
          <a:p>
            <a:pPr indent="0" marL="0">
              <a:buNone/>
            </a:pPr>
            <a:r>
              <a:rPr lang="en-US" sz="1250" b="1" dirty="0">
                <a:solidFill>
                  <a:srgbClr val="16223D"/>
                </a:solidFill>
                <a:latin typeface="Arial" pitchFamily="34" charset="0"/>
                <a:ea typeface="Arial" pitchFamily="34" charset="-122"/>
                <a:cs typeface="Arial" pitchFamily="34" charset="-120"/>
              </a:rPr>
              <a:t>Q3. Explain characteristics, advantages and limitations of each generation.</a:t>
            </a:r>
            <a:endParaRPr lang="en-US" sz="1250" dirty="0"/>
          </a:p>
        </p:txBody>
      </p:sp>
      <p:sp>
        <p:nvSpPr>
          <p:cNvPr id="15" name="Text 13"/>
          <p:cNvSpPr txBox="1"/>
          <p:nvPr/>
        </p:nvSpPr>
        <p:spPr>
          <a:xfrm>
            <a:off x="6364224" y="4974336"/>
            <a:ext cx="5074920" cy="1325880"/>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For each generation write 3 parts: (A) characteristics — component, size, speed, languages; (B) advantages — what improved; (C) limitations — what problems remained. End with a short comparison and conclusion.</a:t>
            </a:r>
            <a:endParaRPr lang="en-US" sz="1000" dirty="0"/>
          </a:p>
        </p:txBody>
      </p:sp>
      <p:sp>
        <p:nvSpPr>
          <p:cNvPr id="16" name="Text 14"/>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Most Important MCQs</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Quick exam practice</a:t>
            </a:r>
            <a:endParaRPr lang="en-US" sz="1300" dirty="0"/>
          </a:p>
        </p:txBody>
      </p:sp>
      <p:sp>
        <p:nvSpPr>
          <p:cNvPr id="4" name="Shape 2"/>
          <p:cNvSpPr/>
          <p:nvPr/>
        </p:nvSpPr>
        <p:spPr>
          <a:xfrm>
            <a:off x="548640" y="1417320"/>
            <a:ext cx="5440680" cy="932688"/>
          </a:xfrm>
          <a:prstGeom prst="roundRect">
            <a:avLst>
              <a:gd name="adj" fmla="val 7843"/>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5" name="Shape 3"/>
          <p:cNvSpPr/>
          <p:nvPr/>
        </p:nvSpPr>
        <p:spPr>
          <a:xfrm>
            <a:off x="548640" y="1490472"/>
            <a:ext cx="54864" cy="786384"/>
          </a:xfrm>
          <a:prstGeom prst="rect">
            <a:avLst/>
          </a:prstGeom>
          <a:solidFill>
            <a:srgbClr val="D9534F"/>
          </a:solidFill>
          <a:ln/>
        </p:spPr>
      </p:sp>
      <p:sp>
        <p:nvSpPr>
          <p:cNvPr id="6" name="Text 4"/>
          <p:cNvSpPr txBox="1"/>
          <p:nvPr/>
        </p:nvSpPr>
        <p:spPr>
          <a:xfrm>
            <a:off x="804672" y="1545336"/>
            <a:ext cx="4983480" cy="320040"/>
          </a:xfrm>
          <a:prstGeom prst="rect">
            <a:avLst/>
          </a:prstGeom>
          <a:noFill/>
          <a:ln/>
        </p:spPr>
        <p:txBody>
          <a:bodyPr wrap="square" rtlCol="0" anchor="ctr"/>
          <a:lstStyle/>
          <a:p>
            <a:pPr indent="0" marL="0">
              <a:buNone/>
            </a:pPr>
            <a:r>
              <a:rPr lang="en-US" sz="1150" b="1" dirty="0">
                <a:solidFill>
                  <a:srgbClr val="16223D"/>
                </a:solidFill>
                <a:latin typeface="Arial" pitchFamily="34" charset="0"/>
                <a:ea typeface="Arial" pitchFamily="34" charset="-122"/>
                <a:cs typeface="Arial" pitchFamily="34" charset="-120"/>
              </a:rPr>
              <a:t>1. First generation used:</a:t>
            </a:r>
            <a:endParaRPr lang="en-US" sz="1150" dirty="0"/>
          </a:p>
        </p:txBody>
      </p:sp>
      <p:sp>
        <p:nvSpPr>
          <p:cNvPr id="7" name="Text 5"/>
          <p:cNvSpPr txBox="1"/>
          <p:nvPr/>
        </p:nvSpPr>
        <p:spPr>
          <a:xfrm>
            <a:off x="804672" y="1865376"/>
            <a:ext cx="4983480" cy="429768"/>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A) IC   B) Transistor   C) Vacuum tube   D) Microprocessor   Answer: C</a:t>
            </a:r>
            <a:endParaRPr lang="en-US" sz="1000" dirty="0"/>
          </a:p>
        </p:txBody>
      </p:sp>
      <p:sp>
        <p:nvSpPr>
          <p:cNvPr id="8" name="Shape 6"/>
          <p:cNvSpPr/>
          <p:nvPr/>
        </p:nvSpPr>
        <p:spPr>
          <a:xfrm>
            <a:off x="6263640" y="1417320"/>
            <a:ext cx="5440680" cy="932688"/>
          </a:xfrm>
          <a:prstGeom prst="roundRect">
            <a:avLst>
              <a:gd name="adj" fmla="val 7843"/>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9" name="Shape 7"/>
          <p:cNvSpPr/>
          <p:nvPr/>
        </p:nvSpPr>
        <p:spPr>
          <a:xfrm>
            <a:off x="6263640" y="1490472"/>
            <a:ext cx="54864" cy="786384"/>
          </a:xfrm>
          <a:prstGeom prst="rect">
            <a:avLst/>
          </a:prstGeom>
          <a:solidFill>
            <a:srgbClr val="D9534F"/>
          </a:solidFill>
          <a:ln/>
        </p:spPr>
      </p:sp>
      <p:sp>
        <p:nvSpPr>
          <p:cNvPr id="10" name="Text 8"/>
          <p:cNvSpPr txBox="1"/>
          <p:nvPr/>
        </p:nvSpPr>
        <p:spPr>
          <a:xfrm>
            <a:off x="6519672" y="1545336"/>
            <a:ext cx="4983480" cy="320040"/>
          </a:xfrm>
          <a:prstGeom prst="rect">
            <a:avLst/>
          </a:prstGeom>
          <a:noFill/>
          <a:ln/>
        </p:spPr>
        <p:txBody>
          <a:bodyPr wrap="square" rtlCol="0" anchor="ctr"/>
          <a:lstStyle/>
          <a:p>
            <a:pPr indent="0" marL="0">
              <a:buNone/>
            </a:pPr>
            <a:r>
              <a:rPr lang="en-US" sz="1150" b="1" dirty="0">
                <a:solidFill>
                  <a:srgbClr val="16223D"/>
                </a:solidFill>
                <a:latin typeface="Arial" pitchFamily="34" charset="0"/>
                <a:ea typeface="Arial" pitchFamily="34" charset="-122"/>
                <a:cs typeface="Arial" pitchFamily="34" charset="-120"/>
              </a:rPr>
              <a:t>2. Transistor belongs mainly to:</a:t>
            </a:r>
            <a:endParaRPr lang="en-US" sz="1150" dirty="0"/>
          </a:p>
        </p:txBody>
      </p:sp>
      <p:sp>
        <p:nvSpPr>
          <p:cNvPr id="11" name="Text 9"/>
          <p:cNvSpPr txBox="1"/>
          <p:nvPr/>
        </p:nvSpPr>
        <p:spPr>
          <a:xfrm>
            <a:off x="6519672" y="1865376"/>
            <a:ext cx="4983480" cy="429768"/>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A) 1st   B) 2nd   C) 3rd   D) 4th   Answer: B</a:t>
            </a:r>
            <a:endParaRPr lang="en-US" sz="1000" dirty="0"/>
          </a:p>
        </p:txBody>
      </p:sp>
      <p:sp>
        <p:nvSpPr>
          <p:cNvPr id="12" name="Shape 10"/>
          <p:cNvSpPr/>
          <p:nvPr/>
        </p:nvSpPr>
        <p:spPr>
          <a:xfrm>
            <a:off x="548640" y="2496312"/>
            <a:ext cx="5440680" cy="932688"/>
          </a:xfrm>
          <a:prstGeom prst="roundRect">
            <a:avLst>
              <a:gd name="adj" fmla="val 7843"/>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3" name="Shape 11"/>
          <p:cNvSpPr/>
          <p:nvPr/>
        </p:nvSpPr>
        <p:spPr>
          <a:xfrm>
            <a:off x="548640" y="2569464"/>
            <a:ext cx="54864" cy="786384"/>
          </a:xfrm>
          <a:prstGeom prst="rect">
            <a:avLst/>
          </a:prstGeom>
          <a:solidFill>
            <a:srgbClr val="E8963C"/>
          </a:solidFill>
          <a:ln/>
        </p:spPr>
      </p:sp>
      <p:sp>
        <p:nvSpPr>
          <p:cNvPr id="14" name="Text 12"/>
          <p:cNvSpPr txBox="1"/>
          <p:nvPr/>
        </p:nvSpPr>
        <p:spPr>
          <a:xfrm>
            <a:off x="804672" y="2624328"/>
            <a:ext cx="4983480" cy="320040"/>
          </a:xfrm>
          <a:prstGeom prst="rect">
            <a:avLst/>
          </a:prstGeom>
          <a:noFill/>
          <a:ln/>
        </p:spPr>
        <p:txBody>
          <a:bodyPr wrap="square" rtlCol="0" anchor="ctr"/>
          <a:lstStyle/>
          <a:p>
            <a:pPr indent="0" marL="0">
              <a:buNone/>
            </a:pPr>
            <a:r>
              <a:rPr lang="en-US" sz="1150" b="1" dirty="0">
                <a:solidFill>
                  <a:srgbClr val="16223D"/>
                </a:solidFill>
                <a:latin typeface="Arial" pitchFamily="34" charset="0"/>
                <a:ea typeface="Arial" pitchFamily="34" charset="-122"/>
                <a:cs typeface="Arial" pitchFamily="34" charset="-120"/>
              </a:rPr>
              <a:t>3. IC was the main technology of:</a:t>
            </a:r>
            <a:endParaRPr lang="en-US" sz="1150" dirty="0"/>
          </a:p>
        </p:txBody>
      </p:sp>
      <p:sp>
        <p:nvSpPr>
          <p:cNvPr id="15" name="Text 13"/>
          <p:cNvSpPr txBox="1"/>
          <p:nvPr/>
        </p:nvSpPr>
        <p:spPr>
          <a:xfrm>
            <a:off x="804672" y="2944368"/>
            <a:ext cx="4983480" cy="429768"/>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A) 1st   B) 2nd   C) 3rd   D) 5th   Answer: C</a:t>
            </a:r>
            <a:endParaRPr lang="en-US" sz="1000" dirty="0"/>
          </a:p>
        </p:txBody>
      </p:sp>
      <p:sp>
        <p:nvSpPr>
          <p:cNvPr id="16" name="Shape 14"/>
          <p:cNvSpPr/>
          <p:nvPr/>
        </p:nvSpPr>
        <p:spPr>
          <a:xfrm>
            <a:off x="6263640" y="2496312"/>
            <a:ext cx="5440680" cy="932688"/>
          </a:xfrm>
          <a:prstGeom prst="roundRect">
            <a:avLst>
              <a:gd name="adj" fmla="val 7843"/>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17" name="Shape 15"/>
          <p:cNvSpPr/>
          <p:nvPr/>
        </p:nvSpPr>
        <p:spPr>
          <a:xfrm>
            <a:off x="6263640" y="2569464"/>
            <a:ext cx="54864" cy="786384"/>
          </a:xfrm>
          <a:prstGeom prst="rect">
            <a:avLst/>
          </a:prstGeom>
          <a:solidFill>
            <a:srgbClr val="E8963C"/>
          </a:solidFill>
          <a:ln/>
        </p:spPr>
      </p:sp>
      <p:sp>
        <p:nvSpPr>
          <p:cNvPr id="18" name="Text 16"/>
          <p:cNvSpPr txBox="1"/>
          <p:nvPr/>
        </p:nvSpPr>
        <p:spPr>
          <a:xfrm>
            <a:off x="6519672" y="2624328"/>
            <a:ext cx="4983480" cy="320040"/>
          </a:xfrm>
          <a:prstGeom prst="rect">
            <a:avLst/>
          </a:prstGeom>
          <a:noFill/>
          <a:ln/>
        </p:spPr>
        <p:txBody>
          <a:bodyPr wrap="square" rtlCol="0" anchor="ctr"/>
          <a:lstStyle/>
          <a:p>
            <a:pPr indent="0" marL="0">
              <a:buNone/>
            </a:pPr>
            <a:r>
              <a:rPr lang="en-US" sz="1150" b="1" dirty="0">
                <a:solidFill>
                  <a:srgbClr val="16223D"/>
                </a:solidFill>
                <a:latin typeface="Arial" pitchFamily="34" charset="0"/>
                <a:ea typeface="Arial" pitchFamily="34" charset="-122"/>
                <a:cs typeface="Arial" pitchFamily="34" charset="-120"/>
              </a:rPr>
              <a:t>4. Microprocessor was introduced in:</a:t>
            </a:r>
            <a:endParaRPr lang="en-US" sz="1150" dirty="0"/>
          </a:p>
        </p:txBody>
      </p:sp>
      <p:sp>
        <p:nvSpPr>
          <p:cNvPr id="19" name="Text 17"/>
          <p:cNvSpPr txBox="1"/>
          <p:nvPr/>
        </p:nvSpPr>
        <p:spPr>
          <a:xfrm>
            <a:off x="6519672" y="2944368"/>
            <a:ext cx="4983480" cy="429768"/>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A) 1st   B) 2nd   C) 3rd   D) 4th   Answer: D</a:t>
            </a:r>
            <a:endParaRPr lang="en-US" sz="1000" dirty="0"/>
          </a:p>
        </p:txBody>
      </p:sp>
      <p:sp>
        <p:nvSpPr>
          <p:cNvPr id="20" name="Shape 18"/>
          <p:cNvSpPr/>
          <p:nvPr/>
        </p:nvSpPr>
        <p:spPr>
          <a:xfrm>
            <a:off x="548640" y="3575304"/>
            <a:ext cx="5440680" cy="932688"/>
          </a:xfrm>
          <a:prstGeom prst="roundRect">
            <a:avLst>
              <a:gd name="adj" fmla="val 7843"/>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1" name="Shape 19"/>
          <p:cNvSpPr/>
          <p:nvPr/>
        </p:nvSpPr>
        <p:spPr>
          <a:xfrm>
            <a:off x="548640" y="3648456"/>
            <a:ext cx="54864" cy="786384"/>
          </a:xfrm>
          <a:prstGeom prst="rect">
            <a:avLst/>
          </a:prstGeom>
          <a:solidFill>
            <a:srgbClr val="4A9E6C"/>
          </a:solidFill>
          <a:ln/>
        </p:spPr>
      </p:sp>
      <p:sp>
        <p:nvSpPr>
          <p:cNvPr id="22" name="Text 20"/>
          <p:cNvSpPr txBox="1"/>
          <p:nvPr/>
        </p:nvSpPr>
        <p:spPr>
          <a:xfrm>
            <a:off x="804672" y="3703320"/>
            <a:ext cx="4983480" cy="320040"/>
          </a:xfrm>
          <a:prstGeom prst="rect">
            <a:avLst/>
          </a:prstGeom>
          <a:noFill/>
          <a:ln/>
        </p:spPr>
        <p:txBody>
          <a:bodyPr wrap="square" rtlCol="0" anchor="ctr"/>
          <a:lstStyle/>
          <a:p>
            <a:pPr indent="0" marL="0">
              <a:buNone/>
            </a:pPr>
            <a:r>
              <a:rPr lang="en-US" sz="1150" b="1" dirty="0">
                <a:solidFill>
                  <a:srgbClr val="16223D"/>
                </a:solidFill>
                <a:latin typeface="Arial" pitchFamily="34" charset="0"/>
                <a:ea typeface="Arial" pitchFamily="34" charset="-122"/>
                <a:cs typeface="Arial" pitchFamily="34" charset="-120"/>
              </a:rPr>
              <a:t>5. AI is strongly associated with:</a:t>
            </a:r>
            <a:endParaRPr lang="en-US" sz="1150" dirty="0"/>
          </a:p>
        </p:txBody>
      </p:sp>
      <p:sp>
        <p:nvSpPr>
          <p:cNvPr id="23" name="Text 21"/>
          <p:cNvSpPr txBox="1"/>
          <p:nvPr/>
        </p:nvSpPr>
        <p:spPr>
          <a:xfrm>
            <a:off x="804672" y="4023360"/>
            <a:ext cx="4983480" cy="429768"/>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A) 1st   B) 2nd   C) 4th   D) 5th   Answer: D</a:t>
            </a:r>
            <a:endParaRPr lang="en-US" sz="1000" dirty="0"/>
          </a:p>
        </p:txBody>
      </p:sp>
      <p:sp>
        <p:nvSpPr>
          <p:cNvPr id="24" name="Shape 22"/>
          <p:cNvSpPr/>
          <p:nvPr/>
        </p:nvSpPr>
        <p:spPr>
          <a:xfrm>
            <a:off x="6263640" y="3575304"/>
            <a:ext cx="5440680" cy="932688"/>
          </a:xfrm>
          <a:prstGeom prst="roundRect">
            <a:avLst>
              <a:gd name="adj" fmla="val 7843"/>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5" name="Shape 23"/>
          <p:cNvSpPr/>
          <p:nvPr/>
        </p:nvSpPr>
        <p:spPr>
          <a:xfrm>
            <a:off x="6263640" y="3648456"/>
            <a:ext cx="54864" cy="786384"/>
          </a:xfrm>
          <a:prstGeom prst="rect">
            <a:avLst/>
          </a:prstGeom>
          <a:solidFill>
            <a:srgbClr val="4A9E6C"/>
          </a:solidFill>
          <a:ln/>
        </p:spPr>
      </p:sp>
      <p:sp>
        <p:nvSpPr>
          <p:cNvPr id="26" name="Text 24"/>
          <p:cNvSpPr txBox="1"/>
          <p:nvPr/>
        </p:nvSpPr>
        <p:spPr>
          <a:xfrm>
            <a:off x="6519672" y="3703320"/>
            <a:ext cx="4983480" cy="320040"/>
          </a:xfrm>
          <a:prstGeom prst="rect">
            <a:avLst/>
          </a:prstGeom>
          <a:noFill/>
          <a:ln/>
        </p:spPr>
        <p:txBody>
          <a:bodyPr wrap="square" rtlCol="0" anchor="ctr"/>
          <a:lstStyle/>
          <a:p>
            <a:pPr indent="0" marL="0">
              <a:buNone/>
            </a:pPr>
            <a:r>
              <a:rPr lang="en-US" sz="1150" b="1" dirty="0">
                <a:solidFill>
                  <a:srgbClr val="16223D"/>
                </a:solidFill>
                <a:latin typeface="Arial" pitchFamily="34" charset="0"/>
                <a:ea typeface="Arial" pitchFamily="34" charset="-122"/>
                <a:cs typeface="Arial" pitchFamily="34" charset="-120"/>
              </a:rPr>
              <a:t>6. ENIAC belongs to:</a:t>
            </a:r>
            <a:endParaRPr lang="en-US" sz="1150" dirty="0"/>
          </a:p>
        </p:txBody>
      </p:sp>
      <p:sp>
        <p:nvSpPr>
          <p:cNvPr id="27" name="Text 25"/>
          <p:cNvSpPr txBox="1"/>
          <p:nvPr/>
        </p:nvSpPr>
        <p:spPr>
          <a:xfrm>
            <a:off x="6519672" y="4023360"/>
            <a:ext cx="4983480" cy="429768"/>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A) 1st   B) 2nd   C) 3rd   D) 4th   Answer: A</a:t>
            </a:r>
            <a:endParaRPr lang="en-US" sz="1000" dirty="0"/>
          </a:p>
        </p:txBody>
      </p:sp>
      <p:sp>
        <p:nvSpPr>
          <p:cNvPr id="28" name="Shape 26"/>
          <p:cNvSpPr/>
          <p:nvPr/>
        </p:nvSpPr>
        <p:spPr>
          <a:xfrm>
            <a:off x="548640" y="4654296"/>
            <a:ext cx="5440680" cy="932688"/>
          </a:xfrm>
          <a:prstGeom prst="roundRect">
            <a:avLst>
              <a:gd name="adj" fmla="val 7843"/>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29" name="Shape 27"/>
          <p:cNvSpPr/>
          <p:nvPr/>
        </p:nvSpPr>
        <p:spPr>
          <a:xfrm>
            <a:off x="548640" y="4727448"/>
            <a:ext cx="54864" cy="786384"/>
          </a:xfrm>
          <a:prstGeom prst="rect">
            <a:avLst/>
          </a:prstGeom>
          <a:solidFill>
            <a:srgbClr val="3D6EBD"/>
          </a:solidFill>
          <a:ln/>
        </p:spPr>
      </p:sp>
      <p:sp>
        <p:nvSpPr>
          <p:cNvPr id="30" name="Text 28"/>
          <p:cNvSpPr txBox="1"/>
          <p:nvPr/>
        </p:nvSpPr>
        <p:spPr>
          <a:xfrm>
            <a:off x="804672" y="4782312"/>
            <a:ext cx="4983480" cy="320040"/>
          </a:xfrm>
          <a:prstGeom prst="rect">
            <a:avLst/>
          </a:prstGeom>
          <a:noFill/>
          <a:ln/>
        </p:spPr>
        <p:txBody>
          <a:bodyPr wrap="square" rtlCol="0" anchor="ctr"/>
          <a:lstStyle/>
          <a:p>
            <a:pPr indent="0" marL="0">
              <a:buNone/>
            </a:pPr>
            <a:r>
              <a:rPr lang="en-US" sz="1150" b="1" dirty="0">
                <a:solidFill>
                  <a:srgbClr val="16223D"/>
                </a:solidFill>
                <a:latin typeface="Arial" pitchFamily="34" charset="0"/>
                <a:ea typeface="Arial" pitchFamily="34" charset="-122"/>
                <a:cs typeface="Arial" pitchFamily="34" charset="-120"/>
              </a:rPr>
              <a:t>7. VLSI is closely related to:</a:t>
            </a:r>
            <a:endParaRPr lang="en-US" sz="1150" dirty="0"/>
          </a:p>
        </p:txBody>
      </p:sp>
      <p:sp>
        <p:nvSpPr>
          <p:cNvPr id="31" name="Text 29"/>
          <p:cNvSpPr txBox="1"/>
          <p:nvPr/>
        </p:nvSpPr>
        <p:spPr>
          <a:xfrm>
            <a:off x="804672" y="5102352"/>
            <a:ext cx="4983480" cy="429768"/>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A) 1st   B) 2nd   C) 4th   D) 6th   Answer: C</a:t>
            </a:r>
            <a:endParaRPr lang="en-US" sz="1000" dirty="0"/>
          </a:p>
        </p:txBody>
      </p:sp>
      <p:sp>
        <p:nvSpPr>
          <p:cNvPr id="32" name="Shape 30"/>
          <p:cNvSpPr/>
          <p:nvPr/>
        </p:nvSpPr>
        <p:spPr>
          <a:xfrm>
            <a:off x="6263640" y="4654296"/>
            <a:ext cx="5440680" cy="932688"/>
          </a:xfrm>
          <a:prstGeom prst="roundRect">
            <a:avLst>
              <a:gd name="adj" fmla="val 7843"/>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33" name="Shape 31"/>
          <p:cNvSpPr/>
          <p:nvPr/>
        </p:nvSpPr>
        <p:spPr>
          <a:xfrm>
            <a:off x="6263640" y="4727448"/>
            <a:ext cx="54864" cy="786384"/>
          </a:xfrm>
          <a:prstGeom prst="rect">
            <a:avLst/>
          </a:prstGeom>
          <a:solidFill>
            <a:srgbClr val="3D6EBD"/>
          </a:solidFill>
          <a:ln/>
        </p:spPr>
      </p:sp>
      <p:sp>
        <p:nvSpPr>
          <p:cNvPr id="34" name="Text 32"/>
          <p:cNvSpPr txBox="1"/>
          <p:nvPr/>
        </p:nvSpPr>
        <p:spPr>
          <a:xfrm>
            <a:off x="6519672" y="4782312"/>
            <a:ext cx="4983480" cy="320040"/>
          </a:xfrm>
          <a:prstGeom prst="rect">
            <a:avLst/>
          </a:prstGeom>
          <a:noFill/>
          <a:ln/>
        </p:spPr>
        <p:txBody>
          <a:bodyPr wrap="square" rtlCol="0" anchor="ctr"/>
          <a:lstStyle/>
          <a:p>
            <a:pPr indent="0" marL="0">
              <a:buNone/>
            </a:pPr>
            <a:r>
              <a:rPr lang="en-US" sz="1150" b="1" dirty="0">
                <a:solidFill>
                  <a:srgbClr val="16223D"/>
                </a:solidFill>
                <a:latin typeface="Arial" pitchFamily="34" charset="0"/>
                <a:ea typeface="Arial" pitchFamily="34" charset="-122"/>
                <a:cs typeface="Arial" pitchFamily="34" charset="-120"/>
              </a:rPr>
              <a:t>8. A major first-generation problem was:</a:t>
            </a:r>
            <a:endParaRPr lang="en-US" sz="1150" dirty="0"/>
          </a:p>
        </p:txBody>
      </p:sp>
      <p:sp>
        <p:nvSpPr>
          <p:cNvPr id="35" name="Text 33"/>
          <p:cNvSpPr txBox="1"/>
          <p:nvPr/>
        </p:nvSpPr>
        <p:spPr>
          <a:xfrm>
            <a:off x="6519672" y="5102352"/>
            <a:ext cx="4983480" cy="429768"/>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A) low heat   B) high heat   C) tiny size   D) AI   Answer: B</a:t>
            </a:r>
            <a:endParaRPr lang="en-US" sz="1000" dirty="0"/>
          </a:p>
        </p:txBody>
      </p:sp>
      <p:sp>
        <p:nvSpPr>
          <p:cNvPr id="36" name="Shape 34"/>
          <p:cNvSpPr/>
          <p:nvPr/>
        </p:nvSpPr>
        <p:spPr>
          <a:xfrm>
            <a:off x="548640" y="5733288"/>
            <a:ext cx="5440680" cy="932688"/>
          </a:xfrm>
          <a:prstGeom prst="roundRect">
            <a:avLst>
              <a:gd name="adj" fmla="val 7843"/>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37" name="Shape 35"/>
          <p:cNvSpPr/>
          <p:nvPr/>
        </p:nvSpPr>
        <p:spPr>
          <a:xfrm>
            <a:off x="548640" y="5806440"/>
            <a:ext cx="54864" cy="786384"/>
          </a:xfrm>
          <a:prstGeom prst="rect">
            <a:avLst/>
          </a:prstGeom>
          <a:solidFill>
            <a:srgbClr val="7C5CA0"/>
          </a:solidFill>
          <a:ln/>
        </p:spPr>
      </p:sp>
      <p:sp>
        <p:nvSpPr>
          <p:cNvPr id="38" name="Text 36"/>
          <p:cNvSpPr txBox="1"/>
          <p:nvPr/>
        </p:nvSpPr>
        <p:spPr>
          <a:xfrm>
            <a:off x="804672" y="5861304"/>
            <a:ext cx="4983480" cy="320040"/>
          </a:xfrm>
          <a:prstGeom prst="rect">
            <a:avLst/>
          </a:prstGeom>
          <a:noFill/>
          <a:ln/>
        </p:spPr>
        <p:txBody>
          <a:bodyPr wrap="square" rtlCol="0" anchor="ctr"/>
          <a:lstStyle/>
          <a:p>
            <a:pPr indent="0" marL="0">
              <a:buNone/>
            </a:pPr>
            <a:r>
              <a:rPr lang="en-US" sz="1150" b="1" dirty="0">
                <a:solidFill>
                  <a:srgbClr val="16223D"/>
                </a:solidFill>
                <a:latin typeface="Arial" pitchFamily="34" charset="0"/>
                <a:ea typeface="Arial" pitchFamily="34" charset="-122"/>
                <a:cs typeface="Arial" pitchFamily="34" charset="-120"/>
              </a:rPr>
              <a:t>9. NLP means:</a:t>
            </a:r>
            <a:endParaRPr lang="en-US" sz="1150" dirty="0"/>
          </a:p>
        </p:txBody>
      </p:sp>
      <p:sp>
        <p:nvSpPr>
          <p:cNvPr id="39" name="Text 37"/>
          <p:cNvSpPr txBox="1"/>
          <p:nvPr/>
        </p:nvSpPr>
        <p:spPr>
          <a:xfrm>
            <a:off x="804672" y="6181344"/>
            <a:ext cx="4983480" cy="429768"/>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A) Natural Language Processing   B) New Logic Program   C) Network Language Protocol   D) None   Answer: A</a:t>
            </a:r>
            <a:endParaRPr lang="en-US" sz="1000" dirty="0"/>
          </a:p>
        </p:txBody>
      </p:sp>
      <p:sp>
        <p:nvSpPr>
          <p:cNvPr id="40" name="Shape 38"/>
          <p:cNvSpPr/>
          <p:nvPr/>
        </p:nvSpPr>
        <p:spPr>
          <a:xfrm>
            <a:off x="6263640" y="5733288"/>
            <a:ext cx="5440680" cy="932688"/>
          </a:xfrm>
          <a:prstGeom prst="roundRect">
            <a:avLst>
              <a:gd name="adj" fmla="val 7843"/>
            </a:avLst>
          </a:prstGeom>
          <a:solidFill>
            <a:srgbClr val="FFFFFF"/>
          </a:solidFill>
          <a:ln w="9525">
            <a:solidFill>
              <a:srgbClr val="E3E7F0"/>
            </a:solidFill>
            <a:prstDash val="solid"/>
          </a:ln>
          <a:effectLst>
            <a:outerShdw sx="100000" sy="100000" kx="0" ky="0" algn="bl" rotWithShape="0" blurRad="76200" dist="25400" dir="5400000">
              <a:srgbClr val="1B2B4A">
                <a:alpha val="18000"/>
              </a:srgbClr>
            </a:outerShdw>
          </a:effectLst>
        </p:spPr>
      </p:sp>
      <p:sp>
        <p:nvSpPr>
          <p:cNvPr id="41" name="Shape 39"/>
          <p:cNvSpPr/>
          <p:nvPr/>
        </p:nvSpPr>
        <p:spPr>
          <a:xfrm>
            <a:off x="6263640" y="5806440"/>
            <a:ext cx="54864" cy="786384"/>
          </a:xfrm>
          <a:prstGeom prst="rect">
            <a:avLst/>
          </a:prstGeom>
          <a:solidFill>
            <a:srgbClr val="7C5CA0"/>
          </a:solidFill>
          <a:ln/>
        </p:spPr>
      </p:sp>
      <p:sp>
        <p:nvSpPr>
          <p:cNvPr id="42" name="Text 40"/>
          <p:cNvSpPr txBox="1"/>
          <p:nvPr/>
        </p:nvSpPr>
        <p:spPr>
          <a:xfrm>
            <a:off x="6519672" y="5861304"/>
            <a:ext cx="4983480" cy="320040"/>
          </a:xfrm>
          <a:prstGeom prst="rect">
            <a:avLst/>
          </a:prstGeom>
          <a:noFill/>
          <a:ln/>
        </p:spPr>
        <p:txBody>
          <a:bodyPr wrap="square" rtlCol="0" anchor="ctr"/>
          <a:lstStyle/>
          <a:p>
            <a:pPr indent="0" marL="0">
              <a:buNone/>
            </a:pPr>
            <a:r>
              <a:rPr lang="en-US" sz="1150" b="1" dirty="0">
                <a:solidFill>
                  <a:srgbClr val="16223D"/>
                </a:solidFill>
                <a:latin typeface="Arial" pitchFamily="34" charset="0"/>
                <a:ea typeface="Arial" pitchFamily="34" charset="-122"/>
                <a:cs typeface="Arial" pitchFamily="34" charset="-120"/>
              </a:rPr>
              <a:t>10. Which generally increased across generations?</a:t>
            </a:r>
            <a:endParaRPr lang="en-US" sz="1150" dirty="0"/>
          </a:p>
        </p:txBody>
      </p:sp>
      <p:sp>
        <p:nvSpPr>
          <p:cNvPr id="43" name="Text 41"/>
          <p:cNvSpPr txBox="1"/>
          <p:nvPr/>
        </p:nvSpPr>
        <p:spPr>
          <a:xfrm>
            <a:off x="6519672" y="6181344"/>
            <a:ext cx="4983480" cy="429768"/>
          </a:xfrm>
          <a:prstGeom prst="rect">
            <a:avLst/>
          </a:prstGeom>
          <a:noFill/>
          <a:ln/>
        </p:spPr>
        <p:txBody>
          <a:bodyPr wrap="square" lIns="0" tIns="0" rIns="0" bIns="0" rtlCol="0" anchor="t"/>
          <a:lstStyle/>
          <a:p>
            <a:pPr indent="0" marL="0">
              <a:lnSpc>
                <a:spcPct val="115000"/>
              </a:lnSpc>
              <a:buNone/>
            </a:pPr>
            <a:r>
              <a:rPr lang="en-US" sz="1000" dirty="0">
                <a:solidFill>
                  <a:srgbClr val="444C5C"/>
                </a:solidFill>
                <a:latin typeface="Arial" pitchFamily="34" charset="0"/>
                <a:ea typeface="Arial" pitchFamily="34" charset="-122"/>
                <a:cs typeface="Arial" pitchFamily="34" charset="-120"/>
              </a:rPr>
              <a:t>A) Heat   B) Physical size   C) Processing capability   D) Vacuum tubes   Answer: C</a:t>
            </a:r>
            <a:endParaRPr lang="en-US" sz="1000" dirty="0"/>
          </a:p>
        </p:txBody>
      </p:sp>
      <p:sp>
        <p:nvSpPr>
          <p:cNvPr id="44" name="Text 42"/>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3FA"/>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16223D"/>
                </a:solidFill>
                <a:latin typeface="Arial" pitchFamily="34" charset="0"/>
                <a:ea typeface="Arial" pitchFamily="34" charset="-122"/>
                <a:cs typeface="Arial" pitchFamily="34" charset="-120"/>
              </a:rPr>
              <a:t>★ Most Important Questions to Prepare</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6B7280"/>
                </a:solidFill>
                <a:latin typeface="Arial" pitchFamily="34" charset="0"/>
                <a:ea typeface="Arial" pitchFamily="34" charset="-122"/>
                <a:cs typeface="Arial" pitchFamily="34" charset="-120"/>
              </a:rPr>
              <a:t>If exam time is short, prepare these first</a:t>
            </a:r>
            <a:endParaRPr lang="en-US" sz="1300" dirty="0"/>
          </a:p>
        </p:txBody>
      </p:sp>
      <p:sp>
        <p:nvSpPr>
          <p:cNvPr id="4" name="Shape 2"/>
          <p:cNvSpPr/>
          <p:nvPr/>
        </p:nvSpPr>
        <p:spPr>
          <a:xfrm>
            <a:off x="548640" y="1417320"/>
            <a:ext cx="5440680" cy="868680"/>
          </a:xfrm>
          <a:prstGeom prst="roundRect">
            <a:avLst>
              <a:gd name="adj" fmla="val 8421"/>
            </a:avLst>
          </a:prstGeom>
          <a:solidFill>
            <a:srgbClr val="FFFFFF"/>
          </a:solidFill>
          <a:ln w="9525">
            <a:solidFill>
              <a:srgbClr val="E3E7F0"/>
            </a:solidFill>
            <a:prstDash val="solid"/>
          </a:ln>
          <a:effectLst>
            <a:outerShdw sx="100000" sy="100000" kx="0" ky="0" algn="bl" rotWithShape="0" blurRad="63500" dist="25400" dir="5400000">
              <a:srgbClr val="1B2B4A">
                <a:alpha val="15000"/>
              </a:srgbClr>
            </a:outerShdw>
          </a:effectLst>
        </p:spPr>
      </p:sp>
      <p:sp>
        <p:nvSpPr>
          <p:cNvPr id="5" name="Text 3"/>
          <p:cNvSpPr txBox="1"/>
          <p:nvPr/>
        </p:nvSpPr>
        <p:spPr>
          <a:xfrm>
            <a:off x="749808" y="1554480"/>
            <a:ext cx="1005840" cy="594360"/>
          </a:xfrm>
          <a:prstGeom prst="rect">
            <a:avLst/>
          </a:prstGeom>
          <a:noFill/>
          <a:ln/>
        </p:spPr>
        <p:txBody>
          <a:bodyPr wrap="square" rtlCol="0" anchor="ctr"/>
          <a:lstStyle/>
          <a:p>
            <a:pPr indent="0" marL="0">
              <a:buNone/>
            </a:pPr>
            <a:r>
              <a:rPr lang="en-US" sz="1300" b="1" dirty="0">
                <a:solidFill>
                  <a:srgbClr val="E3B34A"/>
                </a:solidFill>
                <a:latin typeface="Arial" pitchFamily="34" charset="0"/>
                <a:ea typeface="Arial" pitchFamily="34" charset="-122"/>
                <a:cs typeface="Arial" pitchFamily="34" charset="-120"/>
              </a:rPr>
              <a:t>★★★★★</a:t>
            </a:r>
            <a:endParaRPr lang="en-US" sz="1300" dirty="0"/>
          </a:p>
        </p:txBody>
      </p:sp>
      <p:sp>
        <p:nvSpPr>
          <p:cNvPr id="6" name="Text 4"/>
          <p:cNvSpPr txBox="1"/>
          <p:nvPr/>
        </p:nvSpPr>
        <p:spPr>
          <a:xfrm>
            <a:off x="1783080" y="1508760"/>
            <a:ext cx="3977640" cy="685800"/>
          </a:xfrm>
          <a:prstGeom prst="rect">
            <a:avLst/>
          </a:prstGeom>
          <a:noFill/>
          <a:ln/>
        </p:spPr>
        <p:txBody>
          <a:bodyPr wrap="square" rtlCol="0" anchor="ctr"/>
          <a:lstStyle/>
          <a:p>
            <a:pPr indent="0" marL="0">
              <a:lnSpc>
                <a:spcPct val="110000"/>
              </a:lnSpc>
              <a:buNone/>
            </a:pPr>
            <a:r>
              <a:rPr lang="en-US" sz="1050" dirty="0">
                <a:solidFill>
                  <a:srgbClr val="2B3348"/>
                </a:solidFill>
                <a:latin typeface="Arial" pitchFamily="34" charset="0"/>
                <a:ea typeface="Arial" pitchFamily="34" charset="-122"/>
                <a:cs typeface="Arial" pitchFamily="34" charset="-120"/>
              </a:rPr>
              <a:t>Explain the five generations of computers with their technologies, examples and features.</a:t>
            </a:r>
            <a:endParaRPr lang="en-US" sz="1050" dirty="0"/>
          </a:p>
        </p:txBody>
      </p:sp>
      <p:sp>
        <p:nvSpPr>
          <p:cNvPr id="7" name="Shape 5"/>
          <p:cNvSpPr/>
          <p:nvPr/>
        </p:nvSpPr>
        <p:spPr>
          <a:xfrm>
            <a:off x="6263640" y="1417320"/>
            <a:ext cx="5440680" cy="868680"/>
          </a:xfrm>
          <a:prstGeom prst="roundRect">
            <a:avLst>
              <a:gd name="adj" fmla="val 8421"/>
            </a:avLst>
          </a:prstGeom>
          <a:solidFill>
            <a:srgbClr val="FFFFFF"/>
          </a:solidFill>
          <a:ln w="9525">
            <a:solidFill>
              <a:srgbClr val="E3E7F0"/>
            </a:solidFill>
            <a:prstDash val="solid"/>
          </a:ln>
          <a:effectLst>
            <a:outerShdw sx="100000" sy="100000" kx="0" ky="0" algn="bl" rotWithShape="0" blurRad="63500" dist="25400" dir="5400000">
              <a:srgbClr val="1B2B4A">
                <a:alpha val="15000"/>
              </a:srgbClr>
            </a:outerShdw>
          </a:effectLst>
        </p:spPr>
      </p:sp>
      <p:sp>
        <p:nvSpPr>
          <p:cNvPr id="8" name="Text 6"/>
          <p:cNvSpPr txBox="1"/>
          <p:nvPr/>
        </p:nvSpPr>
        <p:spPr>
          <a:xfrm>
            <a:off x="6464808" y="1554480"/>
            <a:ext cx="1005840" cy="594360"/>
          </a:xfrm>
          <a:prstGeom prst="rect">
            <a:avLst/>
          </a:prstGeom>
          <a:noFill/>
          <a:ln/>
        </p:spPr>
        <p:txBody>
          <a:bodyPr wrap="square" rtlCol="0" anchor="ctr"/>
          <a:lstStyle/>
          <a:p>
            <a:pPr indent="0" marL="0">
              <a:buNone/>
            </a:pPr>
            <a:r>
              <a:rPr lang="en-US" sz="1300" b="1" dirty="0">
                <a:solidFill>
                  <a:srgbClr val="E3B34A"/>
                </a:solidFill>
                <a:latin typeface="Arial" pitchFamily="34" charset="0"/>
                <a:ea typeface="Arial" pitchFamily="34" charset="-122"/>
                <a:cs typeface="Arial" pitchFamily="34" charset="-120"/>
              </a:rPr>
              <a:t>★★★★★</a:t>
            </a:r>
            <a:endParaRPr lang="en-US" sz="1300" dirty="0"/>
          </a:p>
        </p:txBody>
      </p:sp>
      <p:sp>
        <p:nvSpPr>
          <p:cNvPr id="9" name="Text 7"/>
          <p:cNvSpPr txBox="1"/>
          <p:nvPr/>
        </p:nvSpPr>
        <p:spPr>
          <a:xfrm>
            <a:off x="7498080" y="1508760"/>
            <a:ext cx="3977640" cy="685800"/>
          </a:xfrm>
          <a:prstGeom prst="rect">
            <a:avLst/>
          </a:prstGeom>
          <a:noFill/>
          <a:ln/>
        </p:spPr>
        <p:txBody>
          <a:bodyPr wrap="square" rtlCol="0" anchor="ctr"/>
          <a:lstStyle/>
          <a:p>
            <a:pPr indent="0" marL="0">
              <a:lnSpc>
                <a:spcPct val="110000"/>
              </a:lnSpc>
              <a:buNone/>
            </a:pPr>
            <a:r>
              <a:rPr lang="en-US" sz="1050" dirty="0">
                <a:solidFill>
                  <a:srgbClr val="2B3348"/>
                </a:solidFill>
                <a:latin typeface="Arial" pitchFamily="34" charset="0"/>
                <a:ea typeface="Arial" pitchFamily="34" charset="-122"/>
                <a:cs typeface="Arial" pitchFamily="34" charset="-120"/>
              </a:rPr>
              <a:t>Compare the generations of computers in a table.</a:t>
            </a:r>
            <a:endParaRPr lang="en-US" sz="1050" dirty="0"/>
          </a:p>
        </p:txBody>
      </p:sp>
      <p:sp>
        <p:nvSpPr>
          <p:cNvPr id="10" name="Shape 8"/>
          <p:cNvSpPr/>
          <p:nvPr/>
        </p:nvSpPr>
        <p:spPr>
          <a:xfrm>
            <a:off x="548640" y="2450592"/>
            <a:ext cx="5440680" cy="868680"/>
          </a:xfrm>
          <a:prstGeom prst="roundRect">
            <a:avLst>
              <a:gd name="adj" fmla="val 8421"/>
            </a:avLst>
          </a:prstGeom>
          <a:solidFill>
            <a:srgbClr val="FFFFFF"/>
          </a:solidFill>
          <a:ln w="9525">
            <a:solidFill>
              <a:srgbClr val="E3E7F0"/>
            </a:solidFill>
            <a:prstDash val="solid"/>
          </a:ln>
          <a:effectLst>
            <a:outerShdw sx="100000" sy="100000" kx="0" ky="0" algn="bl" rotWithShape="0" blurRad="63500" dist="25400" dir="5400000">
              <a:srgbClr val="1B2B4A">
                <a:alpha val="15000"/>
              </a:srgbClr>
            </a:outerShdw>
          </a:effectLst>
        </p:spPr>
      </p:sp>
      <p:sp>
        <p:nvSpPr>
          <p:cNvPr id="11" name="Text 9"/>
          <p:cNvSpPr txBox="1"/>
          <p:nvPr/>
        </p:nvSpPr>
        <p:spPr>
          <a:xfrm>
            <a:off x="749808" y="2587752"/>
            <a:ext cx="1005840" cy="594360"/>
          </a:xfrm>
          <a:prstGeom prst="rect">
            <a:avLst/>
          </a:prstGeom>
          <a:noFill/>
          <a:ln/>
        </p:spPr>
        <p:txBody>
          <a:bodyPr wrap="square" rtlCol="0" anchor="ctr"/>
          <a:lstStyle/>
          <a:p>
            <a:pPr indent="0" marL="0">
              <a:buNone/>
            </a:pPr>
            <a:r>
              <a:rPr lang="en-US" sz="1300" b="1" dirty="0">
                <a:solidFill>
                  <a:srgbClr val="E3B34A"/>
                </a:solidFill>
                <a:latin typeface="Arial" pitchFamily="34" charset="0"/>
                <a:ea typeface="Arial" pitchFamily="34" charset="-122"/>
                <a:cs typeface="Arial" pitchFamily="34" charset="-120"/>
              </a:rPr>
              <a:t>★★★★★</a:t>
            </a:r>
            <a:endParaRPr lang="en-US" sz="1300" dirty="0"/>
          </a:p>
        </p:txBody>
      </p:sp>
      <p:sp>
        <p:nvSpPr>
          <p:cNvPr id="12" name="Text 10"/>
          <p:cNvSpPr txBox="1"/>
          <p:nvPr/>
        </p:nvSpPr>
        <p:spPr>
          <a:xfrm>
            <a:off x="1783080" y="2542032"/>
            <a:ext cx="3977640" cy="685800"/>
          </a:xfrm>
          <a:prstGeom prst="rect">
            <a:avLst/>
          </a:prstGeom>
          <a:noFill/>
          <a:ln/>
        </p:spPr>
        <p:txBody>
          <a:bodyPr wrap="square" rtlCol="0" anchor="ctr"/>
          <a:lstStyle/>
          <a:p>
            <a:pPr indent="0" marL="0">
              <a:lnSpc>
                <a:spcPct val="110000"/>
              </a:lnSpc>
              <a:buNone/>
            </a:pPr>
            <a:r>
              <a:rPr lang="en-US" sz="1050" dirty="0">
                <a:solidFill>
                  <a:srgbClr val="2B3348"/>
                </a:solidFill>
                <a:latin typeface="Arial" pitchFamily="34" charset="0"/>
                <a:ea typeface="Arial" pitchFamily="34" charset="-122"/>
                <a:cs typeface="Arial" pitchFamily="34" charset="-120"/>
              </a:rPr>
              <a:t>Explain first, second and third generations with advantages and limitations.</a:t>
            </a:r>
            <a:endParaRPr lang="en-US" sz="1050" dirty="0"/>
          </a:p>
        </p:txBody>
      </p:sp>
      <p:sp>
        <p:nvSpPr>
          <p:cNvPr id="13" name="Shape 11"/>
          <p:cNvSpPr/>
          <p:nvPr/>
        </p:nvSpPr>
        <p:spPr>
          <a:xfrm>
            <a:off x="6263640" y="2450592"/>
            <a:ext cx="5440680" cy="868680"/>
          </a:xfrm>
          <a:prstGeom prst="roundRect">
            <a:avLst>
              <a:gd name="adj" fmla="val 8421"/>
            </a:avLst>
          </a:prstGeom>
          <a:solidFill>
            <a:srgbClr val="FFFFFF"/>
          </a:solidFill>
          <a:ln w="9525">
            <a:solidFill>
              <a:srgbClr val="E3E7F0"/>
            </a:solidFill>
            <a:prstDash val="solid"/>
          </a:ln>
          <a:effectLst>
            <a:outerShdw sx="100000" sy="100000" kx="0" ky="0" algn="bl" rotWithShape="0" blurRad="63500" dist="25400" dir="5400000">
              <a:srgbClr val="1B2B4A">
                <a:alpha val="15000"/>
              </a:srgbClr>
            </a:outerShdw>
          </a:effectLst>
        </p:spPr>
      </p:sp>
      <p:sp>
        <p:nvSpPr>
          <p:cNvPr id="14" name="Text 12"/>
          <p:cNvSpPr txBox="1"/>
          <p:nvPr/>
        </p:nvSpPr>
        <p:spPr>
          <a:xfrm>
            <a:off x="6464808" y="2587752"/>
            <a:ext cx="1005840" cy="594360"/>
          </a:xfrm>
          <a:prstGeom prst="rect">
            <a:avLst/>
          </a:prstGeom>
          <a:noFill/>
          <a:ln/>
        </p:spPr>
        <p:txBody>
          <a:bodyPr wrap="square" rtlCol="0" anchor="ctr"/>
          <a:lstStyle/>
          <a:p>
            <a:pPr indent="0" marL="0">
              <a:buNone/>
            </a:pPr>
            <a:r>
              <a:rPr lang="en-US" sz="1300" b="1" dirty="0">
                <a:solidFill>
                  <a:srgbClr val="E3B34A"/>
                </a:solidFill>
                <a:latin typeface="Arial" pitchFamily="34" charset="0"/>
                <a:ea typeface="Arial" pitchFamily="34" charset="-122"/>
                <a:cs typeface="Arial" pitchFamily="34" charset="-120"/>
              </a:rPr>
              <a:t>★★★★★</a:t>
            </a:r>
            <a:endParaRPr lang="en-US" sz="1300" dirty="0"/>
          </a:p>
        </p:txBody>
      </p:sp>
      <p:sp>
        <p:nvSpPr>
          <p:cNvPr id="15" name="Text 13"/>
          <p:cNvSpPr txBox="1"/>
          <p:nvPr/>
        </p:nvSpPr>
        <p:spPr>
          <a:xfrm>
            <a:off x="7498080" y="2542032"/>
            <a:ext cx="3977640" cy="685800"/>
          </a:xfrm>
          <a:prstGeom prst="rect">
            <a:avLst/>
          </a:prstGeom>
          <a:noFill/>
          <a:ln/>
        </p:spPr>
        <p:txBody>
          <a:bodyPr wrap="square" rtlCol="0" anchor="ctr"/>
          <a:lstStyle/>
          <a:p>
            <a:pPr indent="0" marL="0">
              <a:lnSpc>
                <a:spcPct val="110000"/>
              </a:lnSpc>
              <a:buNone/>
            </a:pPr>
            <a:r>
              <a:rPr lang="en-US" sz="1050" dirty="0">
                <a:solidFill>
                  <a:srgbClr val="2B3348"/>
                </a:solidFill>
                <a:latin typeface="Arial" pitchFamily="34" charset="0"/>
                <a:ea typeface="Arial" pitchFamily="34" charset="-122"/>
                <a:cs typeface="Arial" pitchFamily="34" charset="-120"/>
              </a:rPr>
              <a:t>Explain the fourth generation and the role of microprocessor/VLSI.</a:t>
            </a:r>
            <a:endParaRPr lang="en-US" sz="1050" dirty="0"/>
          </a:p>
        </p:txBody>
      </p:sp>
      <p:sp>
        <p:nvSpPr>
          <p:cNvPr id="16" name="Shape 14"/>
          <p:cNvSpPr/>
          <p:nvPr/>
        </p:nvSpPr>
        <p:spPr>
          <a:xfrm>
            <a:off x="548640" y="3483864"/>
            <a:ext cx="5440680" cy="868680"/>
          </a:xfrm>
          <a:prstGeom prst="roundRect">
            <a:avLst>
              <a:gd name="adj" fmla="val 8421"/>
            </a:avLst>
          </a:prstGeom>
          <a:solidFill>
            <a:srgbClr val="FFFFFF"/>
          </a:solidFill>
          <a:ln w="9525">
            <a:solidFill>
              <a:srgbClr val="E3E7F0"/>
            </a:solidFill>
            <a:prstDash val="solid"/>
          </a:ln>
          <a:effectLst>
            <a:outerShdw sx="100000" sy="100000" kx="0" ky="0" algn="bl" rotWithShape="0" blurRad="63500" dist="25400" dir="5400000">
              <a:srgbClr val="1B2B4A">
                <a:alpha val="15000"/>
              </a:srgbClr>
            </a:outerShdw>
          </a:effectLst>
        </p:spPr>
      </p:sp>
      <p:sp>
        <p:nvSpPr>
          <p:cNvPr id="17" name="Text 15"/>
          <p:cNvSpPr txBox="1"/>
          <p:nvPr/>
        </p:nvSpPr>
        <p:spPr>
          <a:xfrm>
            <a:off x="749808" y="3621024"/>
            <a:ext cx="1005840" cy="594360"/>
          </a:xfrm>
          <a:prstGeom prst="rect">
            <a:avLst/>
          </a:prstGeom>
          <a:noFill/>
          <a:ln/>
        </p:spPr>
        <p:txBody>
          <a:bodyPr wrap="square" rtlCol="0" anchor="ctr"/>
          <a:lstStyle/>
          <a:p>
            <a:pPr indent="0" marL="0">
              <a:buNone/>
            </a:pPr>
            <a:r>
              <a:rPr lang="en-US" sz="1300" b="1" dirty="0">
                <a:solidFill>
                  <a:srgbClr val="E3B34A"/>
                </a:solidFill>
                <a:latin typeface="Arial" pitchFamily="34" charset="0"/>
                <a:ea typeface="Arial" pitchFamily="34" charset="-122"/>
                <a:cs typeface="Arial" pitchFamily="34" charset="-120"/>
              </a:rPr>
              <a:t>★★★★</a:t>
            </a:r>
            <a:endParaRPr lang="en-US" sz="1300" dirty="0"/>
          </a:p>
        </p:txBody>
      </p:sp>
      <p:sp>
        <p:nvSpPr>
          <p:cNvPr id="18" name="Text 16"/>
          <p:cNvSpPr txBox="1"/>
          <p:nvPr/>
        </p:nvSpPr>
        <p:spPr>
          <a:xfrm>
            <a:off x="1783080" y="3575304"/>
            <a:ext cx="3977640" cy="685800"/>
          </a:xfrm>
          <a:prstGeom prst="rect">
            <a:avLst/>
          </a:prstGeom>
          <a:noFill/>
          <a:ln/>
        </p:spPr>
        <p:txBody>
          <a:bodyPr wrap="square" rtlCol="0" anchor="ctr"/>
          <a:lstStyle/>
          <a:p>
            <a:pPr indent="0" marL="0">
              <a:lnSpc>
                <a:spcPct val="110000"/>
              </a:lnSpc>
              <a:buNone/>
            </a:pPr>
            <a:r>
              <a:rPr lang="en-US" sz="1050" dirty="0">
                <a:solidFill>
                  <a:srgbClr val="2B3348"/>
                </a:solidFill>
                <a:latin typeface="Arial" pitchFamily="34" charset="0"/>
                <a:ea typeface="Arial" pitchFamily="34" charset="-122"/>
                <a:cs typeface="Arial" pitchFamily="34" charset="-120"/>
              </a:rPr>
              <a:t>Explain the fifth generation and artificial intelligence.</a:t>
            </a:r>
            <a:endParaRPr lang="en-US" sz="1050" dirty="0"/>
          </a:p>
        </p:txBody>
      </p:sp>
      <p:sp>
        <p:nvSpPr>
          <p:cNvPr id="19" name="Shape 17"/>
          <p:cNvSpPr/>
          <p:nvPr/>
        </p:nvSpPr>
        <p:spPr>
          <a:xfrm>
            <a:off x="6263640" y="3483864"/>
            <a:ext cx="5440680" cy="868680"/>
          </a:xfrm>
          <a:prstGeom prst="roundRect">
            <a:avLst>
              <a:gd name="adj" fmla="val 8421"/>
            </a:avLst>
          </a:prstGeom>
          <a:solidFill>
            <a:srgbClr val="FFFFFF"/>
          </a:solidFill>
          <a:ln w="9525">
            <a:solidFill>
              <a:srgbClr val="E3E7F0"/>
            </a:solidFill>
            <a:prstDash val="solid"/>
          </a:ln>
          <a:effectLst>
            <a:outerShdw sx="100000" sy="100000" kx="0" ky="0" algn="bl" rotWithShape="0" blurRad="63500" dist="25400" dir="5400000">
              <a:srgbClr val="1B2B4A">
                <a:alpha val="15000"/>
              </a:srgbClr>
            </a:outerShdw>
          </a:effectLst>
        </p:spPr>
      </p:sp>
      <p:sp>
        <p:nvSpPr>
          <p:cNvPr id="20" name="Text 18"/>
          <p:cNvSpPr txBox="1"/>
          <p:nvPr/>
        </p:nvSpPr>
        <p:spPr>
          <a:xfrm>
            <a:off x="6464808" y="3621024"/>
            <a:ext cx="1005840" cy="594360"/>
          </a:xfrm>
          <a:prstGeom prst="rect">
            <a:avLst/>
          </a:prstGeom>
          <a:noFill/>
          <a:ln/>
        </p:spPr>
        <p:txBody>
          <a:bodyPr wrap="square" rtlCol="0" anchor="ctr"/>
          <a:lstStyle/>
          <a:p>
            <a:pPr indent="0" marL="0">
              <a:buNone/>
            </a:pPr>
            <a:r>
              <a:rPr lang="en-US" sz="1300" b="1" dirty="0">
                <a:solidFill>
                  <a:srgbClr val="E3B34A"/>
                </a:solidFill>
                <a:latin typeface="Arial" pitchFamily="34" charset="0"/>
                <a:ea typeface="Arial" pitchFamily="34" charset="-122"/>
                <a:cs typeface="Arial" pitchFamily="34" charset="-120"/>
              </a:rPr>
              <a:t>★★★★</a:t>
            </a:r>
            <a:endParaRPr lang="en-US" sz="1300" dirty="0"/>
          </a:p>
        </p:txBody>
      </p:sp>
      <p:sp>
        <p:nvSpPr>
          <p:cNvPr id="21" name="Text 19"/>
          <p:cNvSpPr txBox="1"/>
          <p:nvPr/>
        </p:nvSpPr>
        <p:spPr>
          <a:xfrm>
            <a:off x="7498080" y="3575304"/>
            <a:ext cx="3977640" cy="685800"/>
          </a:xfrm>
          <a:prstGeom prst="rect">
            <a:avLst/>
          </a:prstGeom>
          <a:noFill/>
          <a:ln/>
        </p:spPr>
        <p:txBody>
          <a:bodyPr wrap="square" rtlCol="0" anchor="ctr"/>
          <a:lstStyle/>
          <a:p>
            <a:pPr indent="0" marL="0">
              <a:lnSpc>
                <a:spcPct val="110000"/>
              </a:lnSpc>
              <a:buNone/>
            </a:pPr>
            <a:r>
              <a:rPr lang="en-US" sz="1050" dirty="0">
                <a:solidFill>
                  <a:srgbClr val="2B3348"/>
                </a:solidFill>
                <a:latin typeface="Arial" pitchFamily="34" charset="0"/>
                <a:ea typeface="Arial" pitchFamily="34" charset="-122"/>
                <a:cs typeface="Arial" pitchFamily="34" charset="-120"/>
              </a:rPr>
              <a:t>Write the differences between first and second generation.</a:t>
            </a:r>
            <a:endParaRPr lang="en-US" sz="1050" dirty="0"/>
          </a:p>
        </p:txBody>
      </p:sp>
      <p:sp>
        <p:nvSpPr>
          <p:cNvPr id="22" name="Shape 20"/>
          <p:cNvSpPr/>
          <p:nvPr/>
        </p:nvSpPr>
        <p:spPr>
          <a:xfrm>
            <a:off x="548640" y="4517136"/>
            <a:ext cx="5440680" cy="868680"/>
          </a:xfrm>
          <a:prstGeom prst="roundRect">
            <a:avLst>
              <a:gd name="adj" fmla="val 8421"/>
            </a:avLst>
          </a:prstGeom>
          <a:solidFill>
            <a:srgbClr val="FFFFFF"/>
          </a:solidFill>
          <a:ln w="9525">
            <a:solidFill>
              <a:srgbClr val="E3E7F0"/>
            </a:solidFill>
            <a:prstDash val="solid"/>
          </a:ln>
          <a:effectLst>
            <a:outerShdw sx="100000" sy="100000" kx="0" ky="0" algn="bl" rotWithShape="0" blurRad="63500" dist="25400" dir="5400000">
              <a:srgbClr val="1B2B4A">
                <a:alpha val="15000"/>
              </a:srgbClr>
            </a:outerShdw>
          </a:effectLst>
        </p:spPr>
      </p:sp>
      <p:sp>
        <p:nvSpPr>
          <p:cNvPr id="23" name="Text 21"/>
          <p:cNvSpPr txBox="1"/>
          <p:nvPr/>
        </p:nvSpPr>
        <p:spPr>
          <a:xfrm>
            <a:off x="749808" y="4654296"/>
            <a:ext cx="1005840" cy="594360"/>
          </a:xfrm>
          <a:prstGeom prst="rect">
            <a:avLst/>
          </a:prstGeom>
          <a:noFill/>
          <a:ln/>
        </p:spPr>
        <p:txBody>
          <a:bodyPr wrap="square" rtlCol="0" anchor="ctr"/>
          <a:lstStyle/>
          <a:p>
            <a:pPr indent="0" marL="0">
              <a:buNone/>
            </a:pPr>
            <a:r>
              <a:rPr lang="en-US" sz="1300" b="1" dirty="0">
                <a:solidFill>
                  <a:srgbClr val="E3B34A"/>
                </a:solidFill>
                <a:latin typeface="Arial" pitchFamily="34" charset="0"/>
                <a:ea typeface="Arial" pitchFamily="34" charset="-122"/>
                <a:cs typeface="Arial" pitchFamily="34" charset="-120"/>
              </a:rPr>
              <a:t>★★★★</a:t>
            </a:r>
            <a:endParaRPr lang="en-US" sz="1300" dirty="0"/>
          </a:p>
        </p:txBody>
      </p:sp>
      <p:sp>
        <p:nvSpPr>
          <p:cNvPr id="24" name="Text 22"/>
          <p:cNvSpPr txBox="1"/>
          <p:nvPr/>
        </p:nvSpPr>
        <p:spPr>
          <a:xfrm>
            <a:off x="1783080" y="4608576"/>
            <a:ext cx="3977640" cy="685800"/>
          </a:xfrm>
          <a:prstGeom prst="rect">
            <a:avLst/>
          </a:prstGeom>
          <a:noFill/>
          <a:ln/>
        </p:spPr>
        <p:txBody>
          <a:bodyPr wrap="square" rtlCol="0" anchor="ctr"/>
          <a:lstStyle/>
          <a:p>
            <a:pPr indent="0" marL="0">
              <a:lnSpc>
                <a:spcPct val="110000"/>
              </a:lnSpc>
              <a:buNone/>
            </a:pPr>
            <a:r>
              <a:rPr lang="en-US" sz="1050" dirty="0">
                <a:solidFill>
                  <a:srgbClr val="2B3348"/>
                </a:solidFill>
                <a:latin typeface="Arial" pitchFamily="34" charset="0"/>
                <a:ea typeface="Arial" pitchFamily="34" charset="-122"/>
                <a:cs typeface="Arial" pitchFamily="34" charset="-120"/>
              </a:rPr>
              <a:t>Write short notes on vacuum tube, transistor, IC and microprocessor.</a:t>
            </a:r>
            <a:endParaRPr lang="en-US" sz="1050" dirty="0"/>
          </a:p>
        </p:txBody>
      </p:sp>
      <p:sp>
        <p:nvSpPr>
          <p:cNvPr id="25" name="Shape 23"/>
          <p:cNvSpPr/>
          <p:nvPr/>
        </p:nvSpPr>
        <p:spPr>
          <a:xfrm>
            <a:off x="6263640" y="4517136"/>
            <a:ext cx="5440680" cy="868680"/>
          </a:xfrm>
          <a:prstGeom prst="roundRect">
            <a:avLst>
              <a:gd name="adj" fmla="val 8421"/>
            </a:avLst>
          </a:prstGeom>
          <a:solidFill>
            <a:srgbClr val="FFFFFF"/>
          </a:solidFill>
          <a:ln w="9525">
            <a:solidFill>
              <a:srgbClr val="E3E7F0"/>
            </a:solidFill>
            <a:prstDash val="solid"/>
          </a:ln>
          <a:effectLst>
            <a:outerShdw sx="100000" sy="100000" kx="0" ky="0" algn="bl" rotWithShape="0" blurRad="63500" dist="25400" dir="5400000">
              <a:srgbClr val="1B2B4A">
                <a:alpha val="15000"/>
              </a:srgbClr>
            </a:outerShdw>
          </a:effectLst>
        </p:spPr>
      </p:sp>
      <p:sp>
        <p:nvSpPr>
          <p:cNvPr id="26" name="Text 24"/>
          <p:cNvSpPr txBox="1"/>
          <p:nvPr/>
        </p:nvSpPr>
        <p:spPr>
          <a:xfrm>
            <a:off x="6464808" y="4654296"/>
            <a:ext cx="1005840" cy="594360"/>
          </a:xfrm>
          <a:prstGeom prst="rect">
            <a:avLst/>
          </a:prstGeom>
          <a:noFill/>
          <a:ln/>
        </p:spPr>
        <p:txBody>
          <a:bodyPr wrap="square" rtlCol="0" anchor="ctr"/>
          <a:lstStyle/>
          <a:p>
            <a:pPr indent="0" marL="0">
              <a:buNone/>
            </a:pPr>
            <a:r>
              <a:rPr lang="en-US" sz="1300" b="1" dirty="0">
                <a:solidFill>
                  <a:srgbClr val="E3B34A"/>
                </a:solidFill>
                <a:latin typeface="Arial" pitchFamily="34" charset="0"/>
                <a:ea typeface="Arial" pitchFamily="34" charset="-122"/>
                <a:cs typeface="Arial" pitchFamily="34" charset="-120"/>
              </a:rPr>
              <a:t>★★★★</a:t>
            </a:r>
            <a:endParaRPr lang="en-US" sz="1300" dirty="0"/>
          </a:p>
        </p:txBody>
      </p:sp>
      <p:sp>
        <p:nvSpPr>
          <p:cNvPr id="27" name="Text 25"/>
          <p:cNvSpPr txBox="1"/>
          <p:nvPr/>
        </p:nvSpPr>
        <p:spPr>
          <a:xfrm>
            <a:off x="7498080" y="4608576"/>
            <a:ext cx="3977640" cy="685800"/>
          </a:xfrm>
          <a:prstGeom prst="rect">
            <a:avLst/>
          </a:prstGeom>
          <a:noFill/>
          <a:ln/>
        </p:spPr>
        <p:txBody>
          <a:bodyPr wrap="square" rtlCol="0" anchor="ctr"/>
          <a:lstStyle/>
          <a:p>
            <a:pPr indent="0" marL="0">
              <a:lnSpc>
                <a:spcPct val="110000"/>
              </a:lnSpc>
              <a:buNone/>
            </a:pPr>
            <a:r>
              <a:rPr lang="en-US" sz="1050" dirty="0">
                <a:solidFill>
                  <a:srgbClr val="2B3348"/>
                </a:solidFill>
                <a:latin typeface="Arial" pitchFamily="34" charset="0"/>
                <a:ea typeface="Arial" pitchFamily="34" charset="-122"/>
                <a:cs typeface="Arial" pitchFamily="34" charset="-120"/>
              </a:rPr>
              <a:t>What are the major improvements from one generation to the next?</a:t>
            </a:r>
            <a:endParaRPr lang="en-US" sz="1050" dirty="0"/>
          </a:p>
        </p:txBody>
      </p:sp>
      <p:sp>
        <p:nvSpPr>
          <p:cNvPr id="28" name="Shape 26"/>
          <p:cNvSpPr/>
          <p:nvPr/>
        </p:nvSpPr>
        <p:spPr>
          <a:xfrm>
            <a:off x="548640" y="5550408"/>
            <a:ext cx="5440680" cy="868680"/>
          </a:xfrm>
          <a:prstGeom prst="roundRect">
            <a:avLst>
              <a:gd name="adj" fmla="val 8421"/>
            </a:avLst>
          </a:prstGeom>
          <a:solidFill>
            <a:srgbClr val="FFFFFF"/>
          </a:solidFill>
          <a:ln w="9525">
            <a:solidFill>
              <a:srgbClr val="E3E7F0"/>
            </a:solidFill>
            <a:prstDash val="solid"/>
          </a:ln>
          <a:effectLst>
            <a:outerShdw sx="100000" sy="100000" kx="0" ky="0" algn="bl" rotWithShape="0" blurRad="63500" dist="25400" dir="5400000">
              <a:srgbClr val="1B2B4A">
                <a:alpha val="15000"/>
              </a:srgbClr>
            </a:outerShdw>
          </a:effectLst>
        </p:spPr>
      </p:sp>
      <p:sp>
        <p:nvSpPr>
          <p:cNvPr id="29" name="Text 27"/>
          <p:cNvSpPr txBox="1"/>
          <p:nvPr/>
        </p:nvSpPr>
        <p:spPr>
          <a:xfrm>
            <a:off x="749808" y="5687568"/>
            <a:ext cx="1005840" cy="594360"/>
          </a:xfrm>
          <a:prstGeom prst="rect">
            <a:avLst/>
          </a:prstGeom>
          <a:noFill/>
          <a:ln/>
        </p:spPr>
        <p:txBody>
          <a:bodyPr wrap="square" rtlCol="0" anchor="ctr"/>
          <a:lstStyle/>
          <a:p>
            <a:pPr indent="0" marL="0">
              <a:buNone/>
            </a:pPr>
            <a:r>
              <a:rPr lang="en-US" sz="1300" b="1" dirty="0">
                <a:solidFill>
                  <a:srgbClr val="E3B34A"/>
                </a:solidFill>
                <a:latin typeface="Arial" pitchFamily="34" charset="0"/>
                <a:ea typeface="Arial" pitchFamily="34" charset="-122"/>
                <a:cs typeface="Arial" pitchFamily="34" charset="-120"/>
              </a:rPr>
              <a:t>★★★</a:t>
            </a:r>
            <a:endParaRPr lang="en-US" sz="1300" dirty="0"/>
          </a:p>
        </p:txBody>
      </p:sp>
      <p:sp>
        <p:nvSpPr>
          <p:cNvPr id="30" name="Text 28"/>
          <p:cNvSpPr txBox="1"/>
          <p:nvPr/>
        </p:nvSpPr>
        <p:spPr>
          <a:xfrm>
            <a:off x="1783080" y="5641848"/>
            <a:ext cx="3977640" cy="685800"/>
          </a:xfrm>
          <a:prstGeom prst="rect">
            <a:avLst/>
          </a:prstGeom>
          <a:noFill/>
          <a:ln/>
        </p:spPr>
        <p:txBody>
          <a:bodyPr wrap="square" rtlCol="0" anchor="ctr"/>
          <a:lstStyle/>
          <a:p>
            <a:pPr indent="0" marL="0">
              <a:lnSpc>
                <a:spcPct val="110000"/>
              </a:lnSpc>
              <a:buNone/>
            </a:pPr>
            <a:r>
              <a:rPr lang="en-US" sz="1050" dirty="0">
                <a:solidFill>
                  <a:srgbClr val="2B3348"/>
                </a:solidFill>
                <a:latin typeface="Arial" pitchFamily="34" charset="0"/>
                <a:ea typeface="Arial" pitchFamily="34" charset="-122"/>
                <a:cs typeface="Arial" pitchFamily="34" charset="-120"/>
              </a:rPr>
              <a:t>Write examples of computers from different generations.</a:t>
            </a:r>
            <a:endParaRPr lang="en-US" sz="1050" dirty="0"/>
          </a:p>
        </p:txBody>
      </p:sp>
      <p:sp>
        <p:nvSpPr>
          <p:cNvPr id="31" name="Shape 29"/>
          <p:cNvSpPr/>
          <p:nvPr/>
        </p:nvSpPr>
        <p:spPr>
          <a:xfrm>
            <a:off x="6263640" y="5550408"/>
            <a:ext cx="5440680" cy="868680"/>
          </a:xfrm>
          <a:prstGeom prst="roundRect">
            <a:avLst>
              <a:gd name="adj" fmla="val 8421"/>
            </a:avLst>
          </a:prstGeom>
          <a:solidFill>
            <a:srgbClr val="FFFFFF"/>
          </a:solidFill>
          <a:ln w="9525">
            <a:solidFill>
              <a:srgbClr val="E3E7F0"/>
            </a:solidFill>
            <a:prstDash val="solid"/>
          </a:ln>
          <a:effectLst>
            <a:outerShdw sx="100000" sy="100000" kx="0" ky="0" algn="bl" rotWithShape="0" blurRad="63500" dist="25400" dir="5400000">
              <a:srgbClr val="1B2B4A">
                <a:alpha val="15000"/>
              </a:srgbClr>
            </a:outerShdw>
          </a:effectLst>
        </p:spPr>
      </p:sp>
      <p:sp>
        <p:nvSpPr>
          <p:cNvPr id="32" name="Text 30"/>
          <p:cNvSpPr txBox="1"/>
          <p:nvPr/>
        </p:nvSpPr>
        <p:spPr>
          <a:xfrm>
            <a:off x="6464808" y="5687568"/>
            <a:ext cx="1005840" cy="594360"/>
          </a:xfrm>
          <a:prstGeom prst="rect">
            <a:avLst/>
          </a:prstGeom>
          <a:noFill/>
          <a:ln/>
        </p:spPr>
        <p:txBody>
          <a:bodyPr wrap="square" rtlCol="0" anchor="ctr"/>
          <a:lstStyle/>
          <a:p>
            <a:pPr indent="0" marL="0">
              <a:buNone/>
            </a:pPr>
            <a:r>
              <a:rPr lang="en-US" sz="1300" b="1" dirty="0">
                <a:solidFill>
                  <a:srgbClr val="E3B34A"/>
                </a:solidFill>
                <a:latin typeface="Arial" pitchFamily="34" charset="0"/>
                <a:ea typeface="Arial" pitchFamily="34" charset="-122"/>
                <a:cs typeface="Arial" pitchFamily="34" charset="-120"/>
              </a:rPr>
              <a:t>★★★</a:t>
            </a:r>
            <a:endParaRPr lang="en-US" sz="1300" dirty="0"/>
          </a:p>
        </p:txBody>
      </p:sp>
      <p:sp>
        <p:nvSpPr>
          <p:cNvPr id="33" name="Text 31"/>
          <p:cNvSpPr txBox="1"/>
          <p:nvPr/>
        </p:nvSpPr>
        <p:spPr>
          <a:xfrm>
            <a:off x="7498080" y="5641848"/>
            <a:ext cx="3977640" cy="685800"/>
          </a:xfrm>
          <a:prstGeom prst="rect">
            <a:avLst/>
          </a:prstGeom>
          <a:noFill/>
          <a:ln/>
        </p:spPr>
        <p:txBody>
          <a:bodyPr wrap="square" rtlCol="0" anchor="ctr"/>
          <a:lstStyle/>
          <a:p>
            <a:pPr indent="0" marL="0">
              <a:lnSpc>
                <a:spcPct val="110000"/>
              </a:lnSpc>
              <a:buNone/>
            </a:pPr>
            <a:r>
              <a:rPr lang="en-US" sz="1050" dirty="0">
                <a:solidFill>
                  <a:srgbClr val="2B3348"/>
                </a:solidFill>
                <a:latin typeface="Arial" pitchFamily="34" charset="0"/>
                <a:ea typeface="Arial" pitchFamily="34" charset="-122"/>
                <a:cs typeface="Arial" pitchFamily="34" charset="-120"/>
              </a:rPr>
              <a:t>What are the characteristics of modern/AI-based computers?</a:t>
            </a:r>
            <a:endParaRPr lang="en-US" sz="1050" dirty="0"/>
          </a:p>
        </p:txBody>
      </p:sp>
      <p:sp>
        <p:nvSpPr>
          <p:cNvPr id="34" name="Text 32"/>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9AA5B8"/>
                </a:solidFill>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D6EBD"/>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Final Revision Checklist</a:t>
            </a:r>
            <a:endParaRPr lang="en-US" sz="2800" dirty="0"/>
          </a:p>
        </p:txBody>
      </p:sp>
      <p:sp>
        <p:nvSpPr>
          <p:cNvPr id="3" name="Text 1"/>
          <p:cNvSpPr txBox="1"/>
          <p:nvPr/>
        </p:nvSpPr>
        <p:spPr>
          <a:xfrm>
            <a:off x="548640" y="914400"/>
            <a:ext cx="11091672" cy="365760"/>
          </a:xfrm>
          <a:prstGeom prst="rect">
            <a:avLst/>
          </a:prstGeom>
          <a:noFill/>
          <a:ln/>
        </p:spPr>
        <p:txBody>
          <a:bodyPr wrap="square" rtlCol="0" anchor="ctr"/>
          <a:lstStyle/>
          <a:p>
            <a:pPr indent="0" marL="0">
              <a:buNone/>
            </a:pPr>
            <a:r>
              <a:rPr lang="en-US" sz="1300" dirty="0">
                <a:solidFill>
                  <a:srgbClr val="A9B6D0"/>
                </a:solidFill>
                <a:latin typeface="Arial" pitchFamily="34" charset="0"/>
                <a:ea typeface="Arial" pitchFamily="34" charset="-122"/>
                <a:cs typeface="Arial" pitchFamily="34" charset="-120"/>
              </a:rPr>
              <a:t>Before the exam, make sure you can answer all of these</a:t>
            </a:r>
            <a:endParaRPr lang="en-US" sz="1300" dirty="0"/>
          </a:p>
        </p:txBody>
      </p:sp>
      <p:sp>
        <p:nvSpPr>
          <p:cNvPr id="4" name="Text 2"/>
          <p:cNvSpPr txBox="1"/>
          <p:nvPr/>
        </p:nvSpPr>
        <p:spPr>
          <a:xfrm>
            <a:off x="822960" y="1737360"/>
            <a:ext cx="36576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5" name="Text 3"/>
          <p:cNvSpPr txBox="1"/>
          <p:nvPr/>
        </p:nvSpPr>
        <p:spPr>
          <a:xfrm>
            <a:off x="1280160" y="1737360"/>
            <a:ext cx="10058400" cy="41148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Define computer generation.</a:t>
            </a:r>
            <a:endParaRPr lang="en-US" sz="1500" dirty="0"/>
          </a:p>
        </p:txBody>
      </p:sp>
      <p:sp>
        <p:nvSpPr>
          <p:cNvPr id="6" name="Text 4"/>
          <p:cNvSpPr txBox="1"/>
          <p:nvPr/>
        </p:nvSpPr>
        <p:spPr>
          <a:xfrm>
            <a:off x="822960" y="2359152"/>
            <a:ext cx="36576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7" name="Text 5"/>
          <p:cNvSpPr txBox="1"/>
          <p:nvPr/>
        </p:nvSpPr>
        <p:spPr>
          <a:xfrm>
            <a:off x="1280160" y="2359152"/>
            <a:ext cx="10058400" cy="41148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Write the period and main component of every generation.</a:t>
            </a:r>
            <a:endParaRPr lang="en-US" sz="1500" dirty="0"/>
          </a:p>
        </p:txBody>
      </p:sp>
      <p:sp>
        <p:nvSpPr>
          <p:cNvPr id="8" name="Text 6"/>
          <p:cNvSpPr txBox="1"/>
          <p:nvPr/>
        </p:nvSpPr>
        <p:spPr>
          <a:xfrm>
            <a:off x="822960" y="2980944"/>
            <a:ext cx="36576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9" name="Text 7"/>
          <p:cNvSpPr txBox="1"/>
          <p:nvPr/>
        </p:nvSpPr>
        <p:spPr>
          <a:xfrm>
            <a:off x="1280160" y="2980944"/>
            <a:ext cx="10058400" cy="41148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Give at least 2 examples for major generations.</a:t>
            </a:r>
            <a:endParaRPr lang="en-US" sz="1500" dirty="0"/>
          </a:p>
        </p:txBody>
      </p:sp>
      <p:sp>
        <p:nvSpPr>
          <p:cNvPr id="10" name="Text 8"/>
          <p:cNvSpPr txBox="1"/>
          <p:nvPr/>
        </p:nvSpPr>
        <p:spPr>
          <a:xfrm>
            <a:off x="822960" y="3602736"/>
            <a:ext cx="36576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1" name="Text 9"/>
          <p:cNvSpPr txBox="1"/>
          <p:nvPr/>
        </p:nvSpPr>
        <p:spPr>
          <a:xfrm>
            <a:off x="1280160" y="3602736"/>
            <a:ext cx="10058400" cy="41148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Explain 4–5 features of each generation.</a:t>
            </a:r>
            <a:endParaRPr lang="en-US" sz="1500" dirty="0"/>
          </a:p>
        </p:txBody>
      </p:sp>
      <p:sp>
        <p:nvSpPr>
          <p:cNvPr id="12" name="Text 10"/>
          <p:cNvSpPr txBox="1"/>
          <p:nvPr/>
        </p:nvSpPr>
        <p:spPr>
          <a:xfrm>
            <a:off x="822960" y="4224528"/>
            <a:ext cx="36576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3" name="Text 11"/>
          <p:cNvSpPr txBox="1"/>
          <p:nvPr/>
        </p:nvSpPr>
        <p:spPr>
          <a:xfrm>
            <a:off x="1280160" y="4224528"/>
            <a:ext cx="10058400" cy="41148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State advantages and limitations.</a:t>
            </a:r>
            <a:endParaRPr lang="en-US" sz="1500" dirty="0"/>
          </a:p>
        </p:txBody>
      </p:sp>
      <p:sp>
        <p:nvSpPr>
          <p:cNvPr id="14" name="Text 12"/>
          <p:cNvSpPr txBox="1"/>
          <p:nvPr/>
        </p:nvSpPr>
        <p:spPr>
          <a:xfrm>
            <a:off x="822960" y="4846320"/>
            <a:ext cx="36576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5" name="Text 13"/>
          <p:cNvSpPr txBox="1"/>
          <p:nvPr/>
        </p:nvSpPr>
        <p:spPr>
          <a:xfrm>
            <a:off x="1280160" y="4846320"/>
            <a:ext cx="10058400" cy="41148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Remember: TUBE → TRANSISTOR → IC → MICROPROCESSOR → AI.</a:t>
            </a:r>
            <a:endParaRPr lang="en-US" sz="1500" dirty="0"/>
          </a:p>
        </p:txBody>
      </p:sp>
      <p:sp>
        <p:nvSpPr>
          <p:cNvPr id="16" name="Text 14"/>
          <p:cNvSpPr txBox="1"/>
          <p:nvPr/>
        </p:nvSpPr>
        <p:spPr>
          <a:xfrm>
            <a:off x="822960" y="5468112"/>
            <a:ext cx="36576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7" name="Text 15"/>
          <p:cNvSpPr txBox="1"/>
          <p:nvPr/>
        </p:nvSpPr>
        <p:spPr>
          <a:xfrm>
            <a:off x="1280160" y="5468112"/>
            <a:ext cx="10058400" cy="41148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Practice one 1-mark, one 5-mark, one 8-mark and one 10-mark answer.</a:t>
            </a:r>
            <a:endParaRPr lang="en-US" sz="1500" dirty="0"/>
          </a:p>
        </p:txBody>
      </p:sp>
      <p:sp>
        <p:nvSpPr>
          <p:cNvPr id="18" name="Text 16"/>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8FA0C0"/>
                </a:solidFill>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B33"/>
        </a:solidFill>
      </p:bgPr>
    </p:bg>
    <p:spTree>
      <p:nvGrpSpPr>
        <p:cNvPr id="1" name=""/>
        <p:cNvGrpSpPr/>
        <p:nvPr/>
      </p:nvGrpSpPr>
      <p:grpSpPr>
        <a:xfrm>
          <a:off x="0" y="0"/>
          <a:ext cx="0" cy="0"/>
          <a:chOff x="0" y="0"/>
          <a:chExt cx="0" cy="0"/>
        </a:xfrm>
      </p:grpSpPr>
      <p:sp>
        <p:nvSpPr>
          <p:cNvPr id="2" name="Text 0"/>
          <p:cNvSpPr txBox="1"/>
          <p:nvPr/>
        </p:nvSpPr>
        <p:spPr>
          <a:xfrm>
            <a:off x="0" y="2834640"/>
            <a:ext cx="12188952" cy="822960"/>
          </a:xfrm>
          <a:prstGeom prst="rect">
            <a:avLst/>
          </a:prstGeom>
          <a:noFill/>
          <a:ln/>
        </p:spPr>
        <p:txBody>
          <a:bodyPr wrap="square"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THANK YOU</a:t>
            </a:r>
            <a:endParaRPr lang="en-US" sz="3600" dirty="0"/>
          </a:p>
        </p:txBody>
      </p:sp>
      <p:sp>
        <p:nvSpPr>
          <p:cNvPr id="3" name="Text 1"/>
          <p:cNvSpPr txBox="1"/>
          <p:nvPr/>
        </p:nvSpPr>
        <p:spPr>
          <a:xfrm>
            <a:off x="0" y="3566160"/>
            <a:ext cx="12188952" cy="457200"/>
          </a:xfrm>
          <a:prstGeom prst="rect">
            <a:avLst/>
          </a:prstGeom>
          <a:noFill/>
          <a:ln/>
        </p:spPr>
        <p:txBody>
          <a:bodyPr wrap="square" rtlCol="0" anchor="ctr"/>
          <a:lstStyle/>
          <a:p>
            <a:pPr algn="ctr" indent="0" marL="0">
              <a:buNone/>
            </a:pPr>
            <a:r>
              <a:rPr lang="en-US" sz="1600" dirty="0">
                <a:solidFill>
                  <a:srgbClr val="9FC0DE"/>
                </a:solidFill>
                <a:latin typeface="Arial" pitchFamily="34" charset="0"/>
                <a:ea typeface="Arial" pitchFamily="34" charset="-122"/>
                <a:cs typeface="Arial" pitchFamily="34" charset="-120"/>
              </a:rPr>
              <a:t>Any Questions?</a:t>
            </a:r>
            <a:endParaRPr lang="en-US" sz="1600" dirty="0"/>
          </a:p>
        </p:txBody>
      </p:sp>
      <p:sp>
        <p:nvSpPr>
          <p:cNvPr id="4" name="Text 2"/>
          <p:cNvSpPr txBox="1"/>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8FA0C0"/>
                </a:solidFill>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2026-08-26T10:18:41Z</dcterms:created>
  <dcterms:modified xsi:type="dcterms:W3CDTF">2026-08-26T10:18:41Z</dcterms:modified>
</cp:coreProperties>
</file>